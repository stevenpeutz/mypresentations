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72" r:id="rId3"/>
    <p:sldId id="257" r:id="rId4"/>
    <p:sldId id="275" r:id="rId5"/>
    <p:sldId id="279" r:id="rId6"/>
    <p:sldId id="267" r:id="rId7"/>
    <p:sldId id="281" r:id="rId8"/>
    <p:sldId id="280" r:id="rId9"/>
    <p:sldId id="273" r:id="rId10"/>
    <p:sldId id="282" r:id="rId11"/>
    <p:sldId id="274" r:id="rId12"/>
    <p:sldId id="276" r:id="rId13"/>
    <p:sldId id="258" r:id="rId14"/>
    <p:sldId id="260" r:id="rId15"/>
    <p:sldId id="277" r:id="rId16"/>
    <p:sldId id="259" r:id="rId17"/>
    <p:sldId id="261" r:id="rId18"/>
    <p:sldId id="268" r:id="rId19"/>
    <p:sldId id="283" r:id="rId20"/>
    <p:sldId id="263" r:id="rId21"/>
    <p:sldId id="264" r:id="rId22"/>
    <p:sldId id="262" r:id="rId23"/>
    <p:sldId id="265" r:id="rId24"/>
    <p:sldId id="266" r:id="rId25"/>
    <p:sldId id="284" r:id="rId26"/>
    <p:sldId id="269" r:id="rId27"/>
    <p:sldId id="270" r:id="rId28"/>
    <p:sldId id="271" r:id="rId29"/>
    <p:sldId id="285" r:id="rId30"/>
  </p:sldIdLst>
  <p:sldSz cx="9144000" cy="6858000" type="screen4x3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ijl, licht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47" autoAdjust="0"/>
    <p:restoredTop sz="86627" autoAdjust="0"/>
  </p:normalViewPr>
  <p:slideViewPr>
    <p:cSldViewPr>
      <p:cViewPr varScale="1">
        <p:scale>
          <a:sx n="101" d="100"/>
          <a:sy n="101" d="100"/>
        </p:scale>
        <p:origin x="-191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Relationship Id="rId1" Type="http://schemas.openxmlformats.org/officeDocument/2006/relationships/themeOverride" Target="../theme/themeOverride1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Relationship Id="rId1" Type="http://schemas.openxmlformats.org/officeDocument/2006/relationships/themeOverride" Target="../theme/themeOverride2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oleObject" Target="file:///\\prod.ka.uwv.nl\dfs\afddata\AMSD2\UWV\KMO\0.9%20VFO\09.01%20Integrale%20Content\Webanalyse%20en%20Webmonitoring\Kennis%20en%20onderzoek\Presentaties\data-visualisatie.xlsx" TargetMode="External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mhe133\AppData\Local\Microsoft\Windows\Temporary%20Internet%20Files\Content.Outlook\3TWUNDWF\MCM%20dashboard%20WW%20201601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l-NL" sz="1200" dirty="0">
                <a:latin typeface="Verdana" pitchFamily="34" charset="0"/>
              </a:rPr>
              <a:t>Fig. 7.</a:t>
            </a:r>
            <a:r>
              <a:rPr lang="nl-NL" sz="1200" baseline="0" dirty="0">
                <a:latin typeface="Verdana" pitchFamily="34" charset="0"/>
              </a:rPr>
              <a:t> </a:t>
            </a:r>
            <a:r>
              <a:rPr lang="nl-NL" sz="1200" dirty="0">
                <a:latin typeface="Verdana" pitchFamily="34" charset="0"/>
              </a:rPr>
              <a:t>Gebruik type apparaat</a:t>
            </a:r>
          </a:p>
          <a:p>
            <a:pPr>
              <a:defRPr/>
            </a:pPr>
            <a:r>
              <a:rPr lang="nl-NL" sz="1200" baseline="0" dirty="0">
                <a:latin typeface="Verdana" pitchFamily="34" charset="0"/>
              </a:rPr>
              <a:t>uwv.nl - januari</a:t>
            </a:r>
          </a:p>
        </c:rich>
      </c:tx>
      <c:layout>
        <c:manualLayout>
          <c:xMode val="edge"/>
          <c:yMode val="edge"/>
          <c:x val="0.15367704453009401"/>
          <c:y val="6.196645750785640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1597584615648535"/>
          <c:y val="0.21229383115319728"/>
          <c:w val="0.63189875495811598"/>
          <c:h val="0.78770635558956725"/>
        </c:manualLayout>
      </c:layout>
      <c:pieChart>
        <c:varyColors val="1"/>
        <c:ser>
          <c:idx val="0"/>
          <c:order val="0"/>
          <c:tx>
            <c:strRef>
              <c:f>'3.5'!$E$89</c:f>
              <c:strCache>
                <c:ptCount val="1"/>
                <c:pt idx="0">
                  <c:v>1-1-2016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dPt>
            <c:idx val="0"/>
            <c:bubble3D val="0"/>
            <c:spPr>
              <a:solidFill>
                <a:srgbClr val="92D050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bubble3D val="0"/>
            <c:spPr>
              <a:solidFill>
                <a:srgbClr val="00B0F0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bubble3D val="0"/>
            <c:spPr>
              <a:solidFill>
                <a:srgbClr val="7030A0"/>
              </a:solidFill>
              <a:ln>
                <a:solidFill>
                  <a:schemeClr val="accent2"/>
                </a:solidFill>
              </a:ln>
            </c:spPr>
          </c:dPt>
          <c:dLbls>
            <c:dLbl>
              <c:idx val="0"/>
              <c:layout>
                <c:manualLayout>
                  <c:x val="4.7547507557143744E-2"/>
                  <c:y val="7.523952975944266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1"/>
              <c:layout>
                <c:manualLayout>
                  <c:x val="1.1764702249590165E-2"/>
                  <c:y val="6.9619996810312265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2"/>
              <c:layout>
                <c:manualLayout>
                  <c:x val="-1.327279616887537E-2"/>
                  <c:y val="-3.959642645774032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numFmt formatCode="0.0%" sourceLinked="0"/>
            <c:txPr>
              <a:bodyPr/>
              <a:lstStyle/>
              <a:p>
                <a:pPr>
                  <a:defRPr sz="1100">
                    <a:latin typeface="Verdana" pitchFamily="34" charset="0"/>
                  </a:defRPr>
                </a:pPr>
                <a:endParaRPr lang="nl-NL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</c:dLbls>
          <c:cat>
            <c:strRef>
              <c:f>'3.5'!$F$75:$H$75</c:f>
              <c:strCache>
                <c:ptCount val="3"/>
                <c:pt idx="0">
                  <c:v>Mobiele telefoon</c:v>
                </c:pt>
                <c:pt idx="1">
                  <c:v>Tablet</c:v>
                </c:pt>
                <c:pt idx="2">
                  <c:v>PC</c:v>
                </c:pt>
              </c:strCache>
            </c:strRef>
          </c:cat>
          <c:val>
            <c:numRef>
              <c:f>'3.5'!$F$89:$H$89</c:f>
              <c:numCache>
                <c:formatCode>0.0%</c:formatCode>
                <c:ptCount val="3"/>
                <c:pt idx="0">
                  <c:v>0.19729095439654215</c:v>
                </c:pt>
                <c:pt idx="1">
                  <c:v>0.10291191450180917</c:v>
                </c:pt>
                <c:pt idx="2">
                  <c:v>0.69979713110164865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800" b="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 b="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19. Herkomst bezoeken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36815152929461459"/>
          <c:y val="0.12082192011529305"/>
          <c:w val="0.59299637425046714"/>
          <c:h val="0.7926040342141911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0070C0">
                <a:alpha val="70000"/>
              </a:srgbClr>
            </a:solidFill>
            <a:ln>
              <a:solidFill>
                <a:srgbClr val="FFFFFF"/>
              </a:solidFill>
            </a:ln>
          </c:spPr>
          <c:invertIfNegative val="0"/>
          <c:dLbls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'5.1'!$N$25:$N$29</c:f>
              <c:strCache>
                <c:ptCount val="5"/>
                <c:pt idx="0">
                  <c:v>Direct verkeer</c:v>
                </c:pt>
                <c:pt idx="1">
                  <c:v>Verwijzende sites</c:v>
                </c:pt>
                <c:pt idx="2">
                  <c:v>Organisch zoekverkeer</c:v>
                </c:pt>
                <c:pt idx="3">
                  <c:v>Betaald zoekverkeer</c:v>
                </c:pt>
                <c:pt idx="4">
                  <c:v>Andere campagnes &amp; Social Media</c:v>
                </c:pt>
              </c:strCache>
            </c:strRef>
          </c:cat>
          <c:val>
            <c:numRef>
              <c:f>'5.1'!$O$25:$O$29</c:f>
              <c:numCache>
                <c:formatCode>0%</c:formatCode>
                <c:ptCount val="5"/>
                <c:pt idx="0">
                  <c:v>0.42727559862142972</c:v>
                </c:pt>
                <c:pt idx="1">
                  <c:v>0.27198792926518955</c:v>
                </c:pt>
                <c:pt idx="2">
                  <c:v>0.21475405053320024</c:v>
                </c:pt>
                <c:pt idx="3">
                  <c:v>5.7416749434157879E-2</c:v>
                </c:pt>
                <c:pt idx="4">
                  <c:v>2.8565672146022573E-2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77584384"/>
        <c:axId val="177582848"/>
      </c:barChart>
      <c:valAx>
        <c:axId val="17758284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77584384"/>
        <c:crosses val="autoZero"/>
        <c:crossBetween val="between"/>
      </c:valAx>
      <c:catAx>
        <c:axId val="177584384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pPr>
            <a:endParaRPr lang="nl-NL"/>
          </a:p>
        </c:txPr>
        <c:crossAx val="177582848"/>
        <c:crosses val="autoZero"/>
        <c:auto val="1"/>
        <c:lblAlgn val="ctr"/>
        <c:lblOffset val="100"/>
        <c:noMultiLvlLbl val="0"/>
      </c:catAx>
      <c:spPr>
        <a:noFill/>
      </c:spPr>
    </c:plotArea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8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19. Herkomst bezoeken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spPr>
            <a:ln w="25400">
              <a:solidFill>
                <a:sysClr val="windowText" lastClr="000000"/>
              </a:solidFill>
            </a:ln>
            <a:scene3d>
              <a:camera prst="orthographicFront"/>
              <a:lightRig rig="threePt" dir="t"/>
            </a:scene3d>
            <a:sp3d>
              <a:bevelT prst="relaxedInset"/>
            </a:sp3d>
          </c:spPr>
          <c:dPt>
            <c:idx val="0"/>
            <c:bubble3D val="0"/>
            <c:spPr>
              <a:solidFill>
                <a:srgbClr val="0070C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</c:dPt>
          <c:dPt>
            <c:idx val="1"/>
            <c:bubble3D val="0"/>
            <c:spPr>
              <a:solidFill>
                <a:srgbClr val="C0000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</c:dPt>
          <c:dPt>
            <c:idx val="2"/>
            <c:bubble3D val="0"/>
            <c:spPr>
              <a:solidFill>
                <a:srgbClr val="00B05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</c:dPt>
          <c:dPt>
            <c:idx val="3"/>
            <c:bubble3D val="0"/>
            <c:spPr>
              <a:solidFill>
                <a:srgbClr val="7030A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</c:dPt>
          <c:dPt>
            <c:idx val="4"/>
            <c:bubble3D val="0"/>
            <c:spPr>
              <a:solidFill>
                <a:srgbClr val="002060"/>
              </a:solidFill>
              <a:ln w="25400">
                <a:solidFill>
                  <a:sysClr val="windowText" lastClr="000000"/>
                </a:solidFill>
              </a:ln>
              <a:scene3d>
                <a:camera prst="orthographicFront"/>
                <a:lightRig rig="threePt" dir="t"/>
              </a:scene3d>
              <a:sp3d>
                <a:bevelT prst="relaxedInset"/>
              </a:sp3d>
            </c:spPr>
          </c:dPt>
          <c:dLbls>
            <c:dLbl>
              <c:idx val="0"/>
              <c:layout>
                <c:manualLayout>
                  <c:x val="0.1994804215660064"/>
                  <c:y val="2.6815642458100558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1"/>
              <c:layout>
                <c:manualLayout>
                  <c:x val="-0.16207784252238019"/>
                  <c:y val="0.1430167597765363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2"/>
              <c:layout>
                <c:manualLayout>
                  <c:x val="-0.15792200040642174"/>
                  <c:y val="-0.1162011173184357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3"/>
              <c:layout>
                <c:manualLayout>
                  <c:x val="7.8960672971548185E-2"/>
                  <c:y val="-0.16089379812825474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4"/>
              <c:layout>
                <c:manualLayout>
                  <c:x val="0.1994804215660064"/>
                  <c:y val="-8.9385443404585971E-2"/>
                </c:manualLayout>
              </c:layout>
              <c:showLegendKey val="0"/>
              <c:showVal val="1"/>
              <c:showCatName val="1"/>
              <c:showSerName val="0"/>
              <c:showPercent val="0"/>
              <c:showBubbleSize val="0"/>
              <c:separator>
</c:separator>
            </c:dLbl>
            <c:spPr>
              <a:scene3d>
                <a:camera prst="orthographicFront"/>
                <a:lightRig rig="threePt" dir="t"/>
              </a:scene3d>
              <a:sp3d>
                <a:bevelT w="12700"/>
              </a:sp3d>
            </c:spPr>
            <c:txPr>
              <a:bodyPr rot="0"/>
              <a:lstStyle/>
              <a:p>
                <a:pPr>
                  <a:defRPr sz="6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nl-NL"/>
              </a:p>
            </c:txPr>
            <c:showLegendKey val="0"/>
            <c:showVal val="1"/>
            <c:showCatName val="1"/>
            <c:showSerName val="0"/>
            <c:showPercent val="0"/>
            <c:showBubbleSize val="0"/>
            <c:separator>
</c:separator>
            <c:showLeaderLines val="1"/>
          </c:dLbls>
          <c:cat>
            <c:strRef>
              <c:f>'5.1'!$N$25:$N$29</c:f>
              <c:strCache>
                <c:ptCount val="5"/>
                <c:pt idx="0">
                  <c:v>Direct verkeer</c:v>
                </c:pt>
                <c:pt idx="1">
                  <c:v>Verwijzende sites</c:v>
                </c:pt>
                <c:pt idx="2">
                  <c:v>Organisch zoekverkeer</c:v>
                </c:pt>
                <c:pt idx="3">
                  <c:v>Betaald zoekverkeer</c:v>
                </c:pt>
                <c:pt idx="4">
                  <c:v>Andere campagnes &amp; Social Media</c:v>
                </c:pt>
              </c:strCache>
            </c:strRef>
          </c:cat>
          <c:val>
            <c:numRef>
              <c:f>'5.1'!$O$25:$O$29</c:f>
              <c:numCache>
                <c:formatCode>0%</c:formatCode>
                <c:ptCount val="5"/>
                <c:pt idx="0">
                  <c:v>0.42727559862142972</c:v>
                </c:pt>
                <c:pt idx="1">
                  <c:v>0.27198792926518955</c:v>
                </c:pt>
                <c:pt idx="2">
                  <c:v>0.21475405053320024</c:v>
                </c:pt>
                <c:pt idx="3">
                  <c:v>5.7416749434157879E-2</c:v>
                </c:pt>
                <c:pt idx="4">
                  <c:v>2.8565672146022573E-2</c:v>
                </c:pt>
              </c:numCache>
            </c:numRef>
          </c:val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1"/>
        </c:dLbls>
        <c:firstSliceAng val="49"/>
        <c:holeSize val="50"/>
      </c:doughnutChart>
    </c:plotArea>
    <c:plotVisOnly val="1"/>
    <c:dispBlanksAs val="gap"/>
    <c:showDLblsOverMax val="0"/>
  </c:chart>
  <c:spPr>
    <a:noFill/>
    <a:ln>
      <a:noFill/>
    </a:ln>
  </c:sp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en-US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en-US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20. Feedback Particulier</a:t>
            </a:r>
          </a:p>
        </c:rich>
      </c:tx>
      <c:layout>
        <c:manualLayout>
          <c:xMode val="edge"/>
          <c:yMode val="edge"/>
          <c:x val="2.7256023067950617E-3"/>
          <c:y val="0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942270059837403"/>
          <c:y val="0.26359781573091207"/>
          <c:w val="0.49525835312144484"/>
          <c:h val="0.72253167156511244"/>
        </c:manualLayout>
      </c:layout>
      <c:doughnutChart>
        <c:varyColors val="1"/>
        <c:ser>
          <c:idx val="0"/>
          <c:order val="1"/>
          <c:tx>
            <c:strRef>
              <c:f>visual!$I$537</c:f>
              <c:strCache>
                <c:ptCount val="1"/>
              </c:strCache>
            </c:strRef>
          </c:tx>
          <c:cat>
            <c:strRef>
              <c:f>'6.1 - 6.2'!$C$23:$C$30</c:f>
              <c:strCache>
                <c:ptCount val="8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  <c:pt idx="7">
                  <c:v>totaal</c:v>
                </c:pt>
              </c:strCache>
            </c:strRef>
          </c:cat>
          <c:val>
            <c:numRef>
              <c:f>visual!$I$538:$I$545</c:f>
              <c:numCache>
                <c:formatCode>General</c:formatCode>
                <c:ptCount val="8"/>
              </c:numCache>
            </c:numRef>
          </c:val>
        </c:ser>
        <c:ser>
          <c:idx val="1"/>
          <c:order val="0"/>
          <c:tx>
            <c:strRef>
              <c:f>'6.1 - 6.2'!$E$22</c:f>
              <c:strCache>
                <c:ptCount val="1"/>
                <c:pt idx="0">
                  <c:v>percentage</c:v>
                </c:pt>
              </c:strCache>
            </c:strRef>
          </c:tx>
          <c:dPt>
            <c:idx val="0"/>
            <c:bubble3D val="0"/>
          </c:dPt>
          <c:dPt>
            <c:idx val="5"/>
            <c:bubble3D val="0"/>
            <c:spPr>
              <a:solidFill>
                <a:schemeClr val="bg1">
                  <a:lumMod val="60000"/>
                  <a:lumOff val="40000"/>
                </a:schemeClr>
              </a:solidFill>
            </c:spPr>
          </c:dPt>
          <c:dLbls>
            <c:dLbl>
              <c:idx val="0"/>
              <c:layout>
                <c:manualLayout>
                  <c:x val="0.19732776924353251"/>
                  <c:y val="0.11377818151556919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1"/>
              <c:layout>
                <c:manualLayout>
                  <c:x val="-0.27027507991613331"/>
                  <c:y val="3.019810033612295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2"/>
              <c:layout>
                <c:manualLayout>
                  <c:x val="-0.27571806101322932"/>
                  <c:y val="-3.931121793582056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3"/>
              <c:layout>
                <c:manualLayout>
                  <c:x val="-0.26736296825525269"/>
                  <c:y val="-0.11793365380746171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4"/>
              <c:layout>
                <c:manualLayout>
                  <c:x val="-0.14203657688560298"/>
                  <c:y val="-0.1747165241592025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5"/>
              <c:layout>
                <c:manualLayout>
                  <c:x val="4.1775463789883234E-2"/>
                  <c:y val="-0.1659806979512424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6"/>
              <c:layout>
                <c:manualLayout>
                  <c:x val="0.21257395408383117"/>
                  <c:y val="-0.1527356033412127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txPr>
              <a:bodyPr/>
              <a:lstStyle/>
              <a:p>
                <a:pPr>
                  <a:defRPr sz="7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nl-NL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</c:dLbls>
          <c:cat>
            <c:strRef>
              <c:f>'6.1 - 6.2'!$C$23:$C$30</c:f>
              <c:strCache>
                <c:ptCount val="8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  <c:pt idx="7">
                  <c:v>totaal</c:v>
                </c:pt>
              </c:strCache>
            </c:strRef>
          </c:cat>
          <c:val>
            <c:numRef>
              <c:f>'6.1 - 6.2'!$E$23:$E$29</c:f>
              <c:numCache>
                <c:formatCode>0.0%</c:formatCode>
                <c:ptCount val="7"/>
                <c:pt idx="0">
                  <c:v>0.85803637296725155</c:v>
                </c:pt>
                <c:pt idx="1">
                  <c:v>4.3653975687205311E-2</c:v>
                </c:pt>
                <c:pt idx="2">
                  <c:v>3.7206915354267567E-2</c:v>
                </c:pt>
                <c:pt idx="3">
                  <c:v>2.1650575744940181E-2</c:v>
                </c:pt>
                <c:pt idx="4">
                  <c:v>2.0527953298906245E-2</c:v>
                </c:pt>
                <c:pt idx="5">
                  <c:v>1.5652564390416013E-2</c:v>
                </c:pt>
                <c:pt idx="6">
                  <c:v>3.2716425570131829E-3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10"/>
      </c:doughnut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 algn="ctr" rtl="0">
              <a:defRPr lang="nl-NL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r>
              <a:rPr lang="nl-NL" sz="800" b="1" i="0" u="none" strike="noStrike" kern="1200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21. Feedback werkgevers</a:t>
            </a:r>
          </a:p>
        </c:rich>
      </c:tx>
      <c:layout>
        <c:manualLayout>
          <c:xMode val="edge"/>
          <c:yMode val="edge"/>
          <c:x val="9.6342637403721954E-2"/>
          <c:y val="1.6994161100632864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35788512160780322"/>
          <c:y val="0.28382140546475226"/>
          <c:w val="0.49189687540386667"/>
          <c:h val="0.70891020278792549"/>
        </c:manualLayout>
      </c:layout>
      <c:doughnutChart>
        <c:varyColors val="1"/>
        <c:ser>
          <c:idx val="1"/>
          <c:order val="0"/>
          <c:tx>
            <c:strRef>
              <c:f>'6.1 - 6.2'!$J$22</c:f>
              <c:strCache>
                <c:ptCount val="1"/>
                <c:pt idx="0">
                  <c:v>percentage</c:v>
                </c:pt>
              </c:strCache>
            </c:strRef>
          </c:tx>
          <c:dPt>
            <c:idx val="5"/>
            <c:bubble3D val="0"/>
            <c:spPr>
              <a:solidFill>
                <a:schemeClr val="bg1">
                  <a:lumMod val="60000"/>
                  <a:lumOff val="40000"/>
                </a:schemeClr>
              </a:solidFill>
            </c:spPr>
          </c:dPt>
          <c:dLbls>
            <c:dLbl>
              <c:idx val="0"/>
              <c:layout>
                <c:manualLayout>
                  <c:x val="6.2820967738278513E-2"/>
                  <c:y val="0.21053461380108093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1"/>
              <c:layout>
                <c:manualLayout>
                  <c:x val="-0.19730644581322665"/>
                  <c:y val="7.222485014695927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2"/>
              <c:layout>
                <c:manualLayout>
                  <c:x val="-0.19461003365120044"/>
                  <c:y val="-4.248540275158212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3"/>
              <c:layout>
                <c:manualLayout>
                  <c:x val="-0.1740740233088296"/>
                  <c:y val="-0.1189591277044300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4"/>
              <c:layout>
                <c:manualLayout>
                  <c:x val="-0.10370367346057933"/>
                  <c:y val="-0.15294744990569578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5"/>
              <c:layout>
                <c:manualLayout>
                  <c:x val="-3.703702623592119E-3"/>
                  <c:y val="-0.16569307073117046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dLbl>
              <c:idx val="6"/>
              <c:layout>
                <c:manualLayout>
                  <c:x val="0.17037032068523747"/>
                  <c:y val="-0.13595328880506294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 </c:separator>
            </c:dLbl>
            <c:txPr>
              <a:bodyPr/>
              <a:lstStyle/>
              <a:p>
                <a:pPr>
                  <a:defRPr sz="70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defRPr>
                </a:pPr>
                <a:endParaRPr lang="nl-NL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 </c:separator>
            <c:showLeaderLines val="1"/>
          </c:dLbls>
          <c:cat>
            <c:strRef>
              <c:f>'6.1 - 6.2'!$H$23:$H$29</c:f>
              <c:strCache>
                <c:ptCount val="7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  <c:pt idx="6">
                  <c:v>niet ingevuld</c:v>
                </c:pt>
              </c:strCache>
            </c:strRef>
          </c:cat>
          <c:val>
            <c:numRef>
              <c:f>'6.1 - 6.2'!$J$23:$J$29</c:f>
              <c:numCache>
                <c:formatCode>0.0%</c:formatCode>
                <c:ptCount val="7"/>
                <c:pt idx="0">
                  <c:v>0.61366181410974241</c:v>
                </c:pt>
                <c:pt idx="1">
                  <c:v>0.18701007838745801</c:v>
                </c:pt>
                <c:pt idx="2">
                  <c:v>0.10078387458006718</c:v>
                </c:pt>
                <c:pt idx="3">
                  <c:v>3.5834266517357223E-2</c:v>
                </c:pt>
                <c:pt idx="4">
                  <c:v>3.2474804031354984E-2</c:v>
                </c:pt>
                <c:pt idx="5">
                  <c:v>2.9115341545352745E-2</c:v>
                </c:pt>
                <c:pt idx="6">
                  <c:v>1.1198208286674132E-3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4"/>
      </c:doughnutChart>
      <c:spPr>
        <a:ln>
          <a:noFill/>
        </a:ln>
      </c:spPr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400" b="0">
                <a:solidFill>
                  <a:schemeClr val="accent3">
                    <a:lumMod val="50000"/>
                  </a:schemeClr>
                </a:solidFill>
              </a:defRPr>
            </a:pPr>
            <a:r>
              <a:rPr lang="nl-NL" sz="1400" b="0">
                <a:solidFill>
                  <a:schemeClr val="accent3">
                    <a:lumMod val="50000"/>
                  </a:schemeClr>
                </a:solidFill>
              </a:rPr>
              <a:t>feedback particulieren/werkgevers</a:t>
            </a:r>
          </a:p>
        </c:rich>
      </c:tx>
      <c:layout>
        <c:manualLayout>
          <c:xMode val="edge"/>
          <c:yMode val="edge"/>
          <c:x val="0.25215473134563998"/>
          <c:y val="3.0807247264982678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4925903700758395"/>
          <c:y val="0.19050326541687598"/>
          <c:w val="0.69892764108081562"/>
          <c:h val="0.78175805375791119"/>
        </c:manualLayout>
      </c:layout>
      <c:barChart>
        <c:barDir val="bar"/>
        <c:grouping val="clustered"/>
        <c:varyColors val="0"/>
        <c:ser>
          <c:idx val="1"/>
          <c:order val="0"/>
          <c:tx>
            <c:strRef>
              <c:f>visual!$R$559</c:f>
              <c:strCache>
                <c:ptCount val="1"/>
                <c:pt idx="0">
                  <c:v>werkgevers</c:v>
                </c:pt>
              </c:strCache>
            </c:strRef>
          </c:tx>
          <c:spPr>
            <a:solidFill>
              <a:srgbClr val="C00000">
                <a:alpha val="50000"/>
              </a:srgb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92D050">
                  <a:alpha val="50000"/>
                </a:srgbClr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nl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nl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0">
                    <a:solidFill>
                      <a:sysClr val="windowText" lastClr="000000"/>
                    </a:solidFill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visual!$O$560:$O$565</c:f>
              <c:strCache>
                <c:ptCount val="6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</c:strCache>
            </c:strRef>
          </c:cat>
          <c:val>
            <c:numRef>
              <c:f>visual!$R$560:$R$565</c:f>
              <c:numCache>
                <c:formatCode>0%</c:formatCode>
                <c:ptCount val="6"/>
                <c:pt idx="0">
                  <c:v>0.61366181410974241</c:v>
                </c:pt>
                <c:pt idx="1">
                  <c:v>0.18701007838745801</c:v>
                </c:pt>
                <c:pt idx="2">
                  <c:v>0.10078387458006718</c:v>
                </c:pt>
                <c:pt idx="3">
                  <c:v>3.5834266517357223E-2</c:v>
                </c:pt>
                <c:pt idx="4">
                  <c:v>3.2474804031354984E-2</c:v>
                </c:pt>
                <c:pt idx="5">
                  <c:v>2.9115341545352745E-2</c:v>
                </c:pt>
              </c:numCache>
            </c:numRef>
          </c:val>
        </c:ser>
        <c:ser>
          <c:idx val="0"/>
          <c:order val="1"/>
          <c:tx>
            <c:strRef>
              <c:f>visual!$V$559</c:f>
              <c:strCache>
                <c:ptCount val="1"/>
                <c:pt idx="0">
                  <c:v>particulieren</c:v>
                </c:pt>
              </c:strCache>
            </c:strRef>
          </c:tx>
          <c:spPr>
            <a:solidFill>
              <a:srgbClr val="7030A0">
                <a:alpha val="50000"/>
              </a:srgbClr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00B050">
                  <a:alpha val="50000"/>
                </a:srgbClr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>
                      <a:solidFill>
                        <a:sysClr val="windowText" lastClr="000000"/>
                      </a:solidFill>
                    </a:defRPr>
                  </a:pPr>
                  <a:endParaRPr lang="nl-NL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b="0">
                    <a:solidFill>
                      <a:sysClr val="windowText" lastClr="000000"/>
                    </a:solidFill>
                  </a:defRPr>
                </a:pPr>
                <a:endParaRPr lang="nl-N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visual!$O$560:$O$565</c:f>
              <c:strCache>
                <c:ptCount val="6"/>
                <c:pt idx="0">
                  <c:v>Ja</c:v>
                </c:pt>
                <c:pt idx="1">
                  <c:v>onvolledig</c:v>
                </c:pt>
                <c:pt idx="2">
                  <c:v>niet wat ik zocht</c:v>
                </c:pt>
                <c:pt idx="3">
                  <c:v>andere reden</c:v>
                </c:pt>
                <c:pt idx="4">
                  <c:v>onduidelijk</c:v>
                </c:pt>
                <c:pt idx="5">
                  <c:v>niet van toepassing</c:v>
                </c:pt>
              </c:strCache>
            </c:strRef>
          </c:cat>
          <c:val>
            <c:numRef>
              <c:f>visual!$V$560:$V$565</c:f>
              <c:numCache>
                <c:formatCode>0%</c:formatCode>
                <c:ptCount val="6"/>
                <c:pt idx="0">
                  <c:v>0.85803637296725155</c:v>
                </c:pt>
                <c:pt idx="1">
                  <c:v>4.3653975687205311E-2</c:v>
                </c:pt>
                <c:pt idx="2">
                  <c:v>3.7206915354267567E-2</c:v>
                </c:pt>
                <c:pt idx="3">
                  <c:v>2.1650575744940181E-2</c:v>
                </c:pt>
                <c:pt idx="4">
                  <c:v>2.0527953298906245E-2</c:v>
                </c:pt>
                <c:pt idx="5">
                  <c:v>1.5652564390416013E-2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181152384"/>
        <c:axId val="181162368"/>
      </c:barChart>
      <c:catAx>
        <c:axId val="181152384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accent3">
                    <a:lumMod val="50000"/>
                  </a:schemeClr>
                </a:solidFill>
              </a:defRPr>
            </a:pPr>
            <a:endParaRPr lang="nl-NL"/>
          </a:p>
        </c:txPr>
        <c:crossAx val="181162368"/>
        <c:crosses val="autoZero"/>
        <c:auto val="1"/>
        <c:lblAlgn val="ctr"/>
        <c:lblOffset val="100"/>
        <c:noMultiLvlLbl val="0"/>
      </c:catAx>
      <c:valAx>
        <c:axId val="181162368"/>
        <c:scaling>
          <c:orientation val="minMax"/>
        </c:scaling>
        <c:delete val="1"/>
        <c:axPos val="b"/>
        <c:numFmt formatCode="0%" sourceLinked="1"/>
        <c:majorTickMark val="out"/>
        <c:minorTickMark val="none"/>
        <c:tickLblPos val="nextTo"/>
        <c:crossAx val="181152384"/>
        <c:crosses val="autoZero"/>
        <c:crossBetween val="between"/>
      </c:valAx>
      <c:spPr>
        <a:noFill/>
        <a:ln>
          <a:noFill/>
        </a:ln>
      </c:spPr>
    </c:plotArea>
    <c:legend>
      <c:legendPos val="r"/>
      <c:layout>
        <c:manualLayout>
          <c:xMode val="edge"/>
          <c:yMode val="edge"/>
          <c:x val="0.56452462884240928"/>
          <c:y val="0.5876348401883934"/>
          <c:w val="0.3295918509054549"/>
          <c:h val="0.22499644437637101"/>
        </c:manualLayout>
      </c:layout>
      <c:overlay val="0"/>
      <c:txPr>
        <a:bodyPr/>
        <a:lstStyle/>
        <a:p>
          <a:pPr rtl="0">
            <a:defRPr>
              <a:solidFill>
                <a:schemeClr val="accent3">
                  <a:lumMod val="50000"/>
                </a:schemeClr>
              </a:solidFill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[data-visualisatie.xlsx]3.5!Draaitabel8</c:name>
    <c:fmtId val="7"/>
  </c:pivotSource>
  <c:chart>
    <c:title>
      <c:tx>
        <c:rich>
          <a:bodyPr/>
          <a:lstStyle/>
          <a:p>
            <a:pPr>
              <a:defRPr sz="800"/>
            </a:pPr>
            <a:r>
              <a:rPr lang="nl-NL" sz="800" b="1" i="0" baseline="0"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6. Percentage mobiele telefoons en tablets</a:t>
            </a:r>
            <a:endParaRPr lang="nl-NL" sz="800"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12473629916360235"/>
          <c:y val="6.2308646656297796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marker>
          <c:symbol val="none"/>
        </c:marker>
      </c:pivotFmt>
      <c:pivotFmt>
        <c:idx val="8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9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0"/>
        <c:marker>
          <c:symbol val="none"/>
        </c:marker>
      </c:pivotFmt>
      <c:pivotFmt>
        <c:idx val="11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2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3"/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4921319160774441"/>
          <c:y val="0.16261750294167876"/>
          <c:w val="0.80237408621916628"/>
          <c:h val="0.59415229920110202"/>
        </c:manualLayout>
      </c:layout>
      <c:lineChart>
        <c:grouping val="standard"/>
        <c:varyColors val="0"/>
        <c:ser>
          <c:idx val="0"/>
          <c:order val="0"/>
          <c:tx>
            <c:strRef>
              <c:f>'3.5'!$L$75:$L$76</c:f>
              <c:strCache>
                <c:ptCount val="1"/>
                <c:pt idx="0">
                  <c:v>Tablet </c:v>
                </c:pt>
              </c:strCache>
            </c:strRef>
          </c:tx>
          <c:spPr>
            <a:ln>
              <a:solidFill>
                <a:srgbClr val="00B0F0"/>
              </a:solidFill>
            </a:ln>
          </c:spPr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'3.5'!$L$77:$L$90</c:f>
              <c:numCache>
                <c:formatCode>General</c:formatCode>
                <c:ptCount val="13"/>
                <c:pt idx="0">
                  <c:v>9.9603435672030408E-2</c:v>
                </c:pt>
                <c:pt idx="1">
                  <c:v>9.4903505196397703E-2</c:v>
                </c:pt>
                <c:pt idx="2">
                  <c:v>9.6481781002303438E-2</c:v>
                </c:pt>
                <c:pt idx="3">
                  <c:v>9.5697707663197434E-2</c:v>
                </c:pt>
                <c:pt idx="4">
                  <c:v>9.9122666778323792E-2</c:v>
                </c:pt>
                <c:pt idx="5">
                  <c:v>9.6722852754308697E-2</c:v>
                </c:pt>
                <c:pt idx="6">
                  <c:v>9.6847438034676103E-2</c:v>
                </c:pt>
                <c:pt idx="7">
                  <c:v>9.5518564237018017E-2</c:v>
                </c:pt>
                <c:pt idx="8">
                  <c:v>9.552298580917222E-2</c:v>
                </c:pt>
                <c:pt idx="9">
                  <c:v>9.9982877604238823E-2</c:v>
                </c:pt>
                <c:pt idx="10">
                  <c:v>9.9318316262510351E-2</c:v>
                </c:pt>
                <c:pt idx="11">
                  <c:v>0.10250271233287588</c:v>
                </c:pt>
                <c:pt idx="12">
                  <c:v>0.10291191450180917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'3.5'!$M$75:$M$76</c:f>
              <c:strCache>
                <c:ptCount val="1"/>
                <c:pt idx="0">
                  <c:v>Mobiele telefoon </c:v>
                </c:pt>
              </c:strCache>
            </c:strRef>
          </c:tx>
          <c:spPr>
            <a:ln>
              <a:solidFill>
                <a:srgbClr val="92D050"/>
              </a:solidFill>
            </a:ln>
          </c:spPr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'3.5'!$M$77:$M$90</c:f>
              <c:numCache>
                <c:formatCode>General</c:formatCode>
                <c:ptCount val="13"/>
                <c:pt idx="0">
                  <c:v>0.13234364033176063</c:v>
                </c:pt>
                <c:pt idx="1">
                  <c:v>0.12454363632392482</c:v>
                </c:pt>
                <c:pt idx="2">
                  <c:v>0.12409824085122451</c:v>
                </c:pt>
                <c:pt idx="3">
                  <c:v>0.13436671105945175</c:v>
                </c:pt>
                <c:pt idx="4">
                  <c:v>0.14103564527036885</c:v>
                </c:pt>
                <c:pt idx="5">
                  <c:v>0.13202485525295279</c:v>
                </c:pt>
                <c:pt idx="6">
                  <c:v>0.13564193942850941</c:v>
                </c:pt>
                <c:pt idx="7">
                  <c:v>0.13952207778380374</c:v>
                </c:pt>
                <c:pt idx="8">
                  <c:v>0.14138158010978757</c:v>
                </c:pt>
                <c:pt idx="9">
                  <c:v>0.17972281667289131</c:v>
                </c:pt>
                <c:pt idx="10">
                  <c:v>0.18171903378977741</c:v>
                </c:pt>
                <c:pt idx="11">
                  <c:v>0.2014232435673719</c:v>
                </c:pt>
                <c:pt idx="12">
                  <c:v>0.19729095439654215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'3.5'!$N$75:$N$76</c:f>
              <c:strCache>
                <c:ptCount val="1"/>
                <c:pt idx="0">
                  <c:v>Som van PC</c:v>
                </c:pt>
              </c:strCache>
            </c:strRef>
          </c:tx>
          <c:marker>
            <c:symbol val="none"/>
          </c:marker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'3.5'!$N$77:$N$90</c:f>
              <c:numCache>
                <c:formatCode>General</c:formatCode>
                <c:ptCount val="13"/>
                <c:pt idx="0">
                  <c:v>0.76805292399620895</c:v>
                </c:pt>
                <c:pt idx="1">
                  <c:v>0.78055285847967748</c:v>
                </c:pt>
                <c:pt idx="2">
                  <c:v>0.77941997814647201</c:v>
                </c:pt>
                <c:pt idx="3">
                  <c:v>0.76993558127735084</c:v>
                </c:pt>
                <c:pt idx="4">
                  <c:v>0.75984168795130735</c:v>
                </c:pt>
                <c:pt idx="5">
                  <c:v>0.77125229199273848</c:v>
                </c:pt>
                <c:pt idx="6">
                  <c:v>0.76751062253681446</c:v>
                </c:pt>
                <c:pt idx="7">
                  <c:v>0.76495935797917824</c:v>
                </c:pt>
                <c:pt idx="8">
                  <c:v>0.76309543408104019</c:v>
                </c:pt>
                <c:pt idx="9">
                  <c:v>0.7202943057228699</c:v>
                </c:pt>
                <c:pt idx="10">
                  <c:v>0.7189626499477122</c:v>
                </c:pt>
                <c:pt idx="11">
                  <c:v>0.69607404409975226</c:v>
                </c:pt>
                <c:pt idx="12">
                  <c:v>0.69979713110164865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282752"/>
        <c:axId val="186284288"/>
      </c:lineChart>
      <c:catAx>
        <c:axId val="186282752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rot="0" vert="horz"/>
          <a:lstStyle/>
          <a:p>
            <a:pPr>
              <a:defRPr sz="7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nl-NL"/>
          </a:p>
        </c:txPr>
        <c:crossAx val="186284288"/>
        <c:crosses val="autoZero"/>
        <c:auto val="1"/>
        <c:lblAlgn val="ctr"/>
        <c:lblOffset val="100"/>
        <c:noMultiLvlLbl val="0"/>
      </c:catAx>
      <c:valAx>
        <c:axId val="186284288"/>
        <c:scaling>
          <c:orientation val="minMax"/>
        </c:scaling>
        <c:delete val="0"/>
        <c:axPos val="l"/>
        <c:majorGridlines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nl-NL"/>
          </a:p>
        </c:txPr>
        <c:crossAx val="186282752"/>
        <c:crosses val="autoZero"/>
        <c:crossBetween val="between"/>
      </c:valAx>
      <c:spPr>
        <a:noFill/>
      </c:spPr>
    </c:plotArea>
    <c:legend>
      <c:legendPos val="b"/>
      <c:layout/>
      <c:overlay val="0"/>
      <c:txPr>
        <a:bodyPr/>
        <a:lstStyle/>
        <a:p>
          <a:pPr>
            <a:defRPr sz="70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nl-NL" sz="800">
                <a:latin typeface="Verdana" pitchFamily="34" charset="0"/>
              </a:rPr>
              <a:t>Fig. 7.</a:t>
            </a:r>
            <a:r>
              <a:rPr lang="nl-NL" sz="800" baseline="0">
                <a:latin typeface="Verdana" pitchFamily="34" charset="0"/>
              </a:rPr>
              <a:t> </a:t>
            </a:r>
            <a:r>
              <a:rPr lang="nl-NL" sz="800">
                <a:latin typeface="Verdana" pitchFamily="34" charset="0"/>
              </a:rPr>
              <a:t>Gebruik type apparaat</a:t>
            </a:r>
          </a:p>
          <a:p>
            <a:pPr>
              <a:defRPr/>
            </a:pPr>
            <a:r>
              <a:rPr lang="nl-NL" sz="800" baseline="0">
                <a:latin typeface="Verdana" pitchFamily="34" charset="0"/>
              </a:rPr>
              <a:t>uwv.nl - januari</a:t>
            </a:r>
          </a:p>
        </c:rich>
      </c:tx>
      <c:layout>
        <c:manualLayout>
          <c:xMode val="edge"/>
          <c:yMode val="edge"/>
          <c:x val="0.15367704453009401"/>
          <c:y val="6.1966457507856405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21597584615648535"/>
          <c:y val="0.21229383115319728"/>
          <c:w val="0.63189875495811598"/>
          <c:h val="0.78770635558956725"/>
        </c:manualLayout>
      </c:layout>
      <c:pieChart>
        <c:varyColors val="1"/>
        <c:ser>
          <c:idx val="0"/>
          <c:order val="0"/>
          <c:tx>
            <c:strRef>
              <c:f>'3.5'!$E$89</c:f>
              <c:strCache>
                <c:ptCount val="1"/>
                <c:pt idx="0">
                  <c:v>1-1-2016</c:v>
                </c:pt>
              </c:strCache>
            </c:strRef>
          </c:tx>
          <c:spPr>
            <a:ln>
              <a:solidFill>
                <a:schemeClr val="accent2"/>
              </a:solidFill>
            </a:ln>
          </c:spPr>
          <c:dPt>
            <c:idx val="0"/>
            <c:bubble3D val="0"/>
            <c:spPr>
              <a:solidFill>
                <a:srgbClr val="92D050"/>
              </a:solidFill>
              <a:ln>
                <a:solidFill>
                  <a:schemeClr val="accent2"/>
                </a:solidFill>
              </a:ln>
            </c:spPr>
          </c:dPt>
          <c:dPt>
            <c:idx val="1"/>
            <c:bubble3D val="0"/>
            <c:spPr>
              <a:solidFill>
                <a:srgbClr val="00B0F0"/>
              </a:solidFill>
              <a:ln>
                <a:solidFill>
                  <a:schemeClr val="accent2"/>
                </a:solidFill>
              </a:ln>
            </c:spPr>
          </c:dPt>
          <c:dPt>
            <c:idx val="2"/>
            <c:bubble3D val="0"/>
            <c:spPr>
              <a:solidFill>
                <a:srgbClr val="7030A0"/>
              </a:solidFill>
              <a:ln>
                <a:solidFill>
                  <a:schemeClr val="accent2"/>
                </a:solidFill>
              </a:ln>
            </c:spPr>
          </c:dPt>
          <c:dLbls>
            <c:dLbl>
              <c:idx val="0"/>
              <c:layout>
                <c:manualLayout>
                  <c:x val="4.7547507557143744E-2"/>
                  <c:y val="7.5239529759442661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1"/>
              <c:layout>
                <c:manualLayout>
                  <c:x val="1.1764702249590165E-2"/>
                  <c:y val="6.9619996810312265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dLbl>
              <c:idx val="2"/>
              <c:layout>
                <c:manualLayout>
                  <c:x val="-1.327279616887537E-2"/>
                  <c:y val="-3.9596426457740329E-2"/>
                </c:manualLayout>
              </c:layout>
              <c:showLegendKey val="1"/>
              <c:showVal val="1"/>
              <c:showCatName val="1"/>
              <c:showSerName val="0"/>
              <c:showPercent val="0"/>
              <c:showBubbleSize val="0"/>
              <c:separator>
</c:separator>
            </c:dLbl>
            <c:numFmt formatCode="0.0%" sourceLinked="0"/>
            <c:txPr>
              <a:bodyPr/>
              <a:lstStyle/>
              <a:p>
                <a:pPr>
                  <a:defRPr sz="800">
                    <a:latin typeface="Verdana" pitchFamily="34" charset="0"/>
                  </a:defRPr>
                </a:pPr>
                <a:endParaRPr lang="nl-NL"/>
              </a:p>
            </c:txPr>
            <c:showLegendKey val="1"/>
            <c:showVal val="1"/>
            <c:showCatName val="1"/>
            <c:showSerName val="0"/>
            <c:showPercent val="0"/>
            <c:showBubbleSize val="0"/>
            <c:separator>
</c:separator>
            <c:showLeaderLines val="0"/>
          </c:dLbls>
          <c:cat>
            <c:strRef>
              <c:f>'3.5'!$F$75:$H$75</c:f>
              <c:strCache>
                <c:ptCount val="3"/>
                <c:pt idx="0">
                  <c:v>Mobiele telefoon</c:v>
                </c:pt>
                <c:pt idx="1">
                  <c:v>Tablet</c:v>
                </c:pt>
                <c:pt idx="2">
                  <c:v>PC</c:v>
                </c:pt>
              </c:strCache>
            </c:strRef>
          </c:cat>
          <c:val>
            <c:numRef>
              <c:f>'3.5'!$F$89:$H$89</c:f>
              <c:numCache>
                <c:formatCode>0.0%</c:formatCode>
                <c:ptCount val="3"/>
                <c:pt idx="0">
                  <c:v>0.19729095439654215</c:v>
                </c:pt>
                <c:pt idx="1">
                  <c:v>0.10291191450180917</c:v>
                </c:pt>
                <c:pt idx="2">
                  <c:v>0.69979713110164865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[data-visualisatie.xlsx]3.5!Draaitabel8</c:name>
    <c:fmtId val="10"/>
  </c:pivotSource>
  <c:chart>
    <c:title>
      <c:tx>
        <c:rich>
          <a:bodyPr/>
          <a:lstStyle/>
          <a:p>
            <a:pPr>
              <a:defRPr sz="800" b="0">
                <a:solidFill>
                  <a:sysClr val="windowText" lastClr="000000"/>
                </a:solidFill>
              </a:defRPr>
            </a:pPr>
            <a:r>
              <a:rPr lang="nl-NL" sz="800" b="0" i="0" baseline="0">
                <a:solidFill>
                  <a:sysClr val="windowText" lastClr="00000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Fig. 6. Percentage mobiele telefoons en tablets</a:t>
            </a:r>
            <a:endParaRPr lang="nl-NL" sz="800" b="0">
              <a:solidFill>
                <a:sysClr val="windowText" lastClr="000000"/>
              </a:solidFill>
              <a:effectLst/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c:rich>
      </c:tx>
      <c:layout>
        <c:manualLayout>
          <c:xMode val="edge"/>
          <c:yMode val="edge"/>
          <c:x val="0.10682788187029156"/>
          <c:y val="7.1642952770533008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6"/>
        <c:marker>
          <c:symbol val="none"/>
        </c:marker>
      </c:pivotFmt>
      <c:pivotFmt>
        <c:idx val="7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8"/>
        <c:spPr>
          <a:ln>
            <a:solidFill>
              <a:srgbClr val="92D050"/>
            </a:solidFill>
          </a:ln>
        </c:spPr>
        <c:marker>
          <c:symbol val="none"/>
        </c:marker>
      </c:pivotFmt>
      <c:pivotFmt>
        <c:idx val="9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0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1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  <c:pivotFmt>
        <c:idx val="12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3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4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  <c:pivotFmt>
        <c:idx val="15"/>
        <c:spPr>
          <a:solidFill>
            <a:srgbClr val="92D050">
              <a:alpha val="50000"/>
            </a:srgbClr>
          </a:solidFill>
          <a:ln>
            <a:solidFill>
              <a:srgbClr val="00B0F0"/>
            </a:solidFill>
          </a:ln>
        </c:spPr>
        <c:marker>
          <c:symbol val="none"/>
        </c:marker>
      </c:pivotFmt>
      <c:pivotFmt>
        <c:idx val="16"/>
        <c:spPr>
          <a:solidFill>
            <a:srgbClr val="0070C0">
              <a:alpha val="50000"/>
            </a:srgbClr>
          </a:solidFill>
          <a:ln>
            <a:solidFill>
              <a:srgbClr val="92D050"/>
            </a:solidFill>
          </a:ln>
        </c:spPr>
        <c:marker>
          <c:symbol val="none"/>
        </c:marker>
      </c:pivotFmt>
      <c:pivotFmt>
        <c:idx val="17"/>
        <c:spPr>
          <a:solidFill>
            <a:srgbClr val="7030A0">
              <a:alpha val="50000"/>
            </a:srgbClr>
          </a:solidFill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1090431650393909"/>
          <c:y val="0.23888530651552822"/>
          <c:w val="0.66822216634786447"/>
          <c:h val="0.57508551167786814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'3.5'!$L$75:$L$76</c:f>
              <c:strCache>
                <c:ptCount val="1"/>
                <c:pt idx="0">
                  <c:v>Tablet </c:v>
                </c:pt>
              </c:strCache>
            </c:strRef>
          </c:tx>
          <c:spPr>
            <a:solidFill>
              <a:srgbClr val="92D050">
                <a:alpha val="50000"/>
              </a:srgbClr>
            </a:solidFill>
            <a:ln>
              <a:noFill/>
            </a:ln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'3.5'!$L$77:$L$90</c:f>
              <c:numCache>
                <c:formatCode>General</c:formatCode>
                <c:ptCount val="13"/>
                <c:pt idx="0">
                  <c:v>9.9603435672030408E-2</c:v>
                </c:pt>
                <c:pt idx="1">
                  <c:v>9.4903505196397703E-2</c:v>
                </c:pt>
                <c:pt idx="2">
                  <c:v>9.6481781002303438E-2</c:v>
                </c:pt>
                <c:pt idx="3">
                  <c:v>9.5697707663197434E-2</c:v>
                </c:pt>
                <c:pt idx="4">
                  <c:v>9.9122666778323792E-2</c:v>
                </c:pt>
                <c:pt idx="5">
                  <c:v>9.6722852754308697E-2</c:v>
                </c:pt>
                <c:pt idx="6">
                  <c:v>9.6847438034676103E-2</c:v>
                </c:pt>
                <c:pt idx="7">
                  <c:v>9.5518564237018017E-2</c:v>
                </c:pt>
                <c:pt idx="8">
                  <c:v>9.552298580917222E-2</c:v>
                </c:pt>
                <c:pt idx="9">
                  <c:v>9.9982877604238823E-2</c:v>
                </c:pt>
                <c:pt idx="10">
                  <c:v>9.9318316262510351E-2</c:v>
                </c:pt>
                <c:pt idx="11">
                  <c:v>0.10250271233287588</c:v>
                </c:pt>
                <c:pt idx="12">
                  <c:v>0.10291191450180917</c:v>
                </c:pt>
              </c:numCache>
            </c:numRef>
          </c:val>
        </c:ser>
        <c:ser>
          <c:idx val="1"/>
          <c:order val="1"/>
          <c:tx>
            <c:strRef>
              <c:f>'3.5'!$M$75:$M$76</c:f>
              <c:strCache>
                <c:ptCount val="1"/>
                <c:pt idx="0">
                  <c:v>Mobiele telefoon </c:v>
                </c:pt>
              </c:strCache>
            </c:strRef>
          </c:tx>
          <c:spPr>
            <a:solidFill>
              <a:srgbClr val="0070C0">
                <a:alpha val="50000"/>
              </a:srgbClr>
            </a:solidFill>
            <a:ln>
              <a:noFill/>
            </a:ln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'3.5'!$M$77:$M$90</c:f>
              <c:numCache>
                <c:formatCode>General</c:formatCode>
                <c:ptCount val="13"/>
                <c:pt idx="0">
                  <c:v>0.13234364033176063</c:v>
                </c:pt>
                <c:pt idx="1">
                  <c:v>0.12454363632392482</c:v>
                </c:pt>
                <c:pt idx="2">
                  <c:v>0.12409824085122451</c:v>
                </c:pt>
                <c:pt idx="3">
                  <c:v>0.13436671105945175</c:v>
                </c:pt>
                <c:pt idx="4">
                  <c:v>0.14103564527036885</c:v>
                </c:pt>
                <c:pt idx="5">
                  <c:v>0.13202485525295279</c:v>
                </c:pt>
                <c:pt idx="6">
                  <c:v>0.13564193942850941</c:v>
                </c:pt>
                <c:pt idx="7">
                  <c:v>0.13952207778380374</c:v>
                </c:pt>
                <c:pt idx="8">
                  <c:v>0.14138158010978757</c:v>
                </c:pt>
                <c:pt idx="9">
                  <c:v>0.17972281667289131</c:v>
                </c:pt>
                <c:pt idx="10">
                  <c:v>0.18171903378977741</c:v>
                </c:pt>
                <c:pt idx="11">
                  <c:v>0.2014232435673719</c:v>
                </c:pt>
                <c:pt idx="12">
                  <c:v>0.19729095439654215</c:v>
                </c:pt>
              </c:numCache>
            </c:numRef>
          </c:val>
        </c:ser>
        <c:ser>
          <c:idx val="2"/>
          <c:order val="2"/>
          <c:tx>
            <c:strRef>
              <c:f>'3.5'!$N$75:$N$76</c:f>
              <c:strCache>
                <c:ptCount val="1"/>
                <c:pt idx="0">
                  <c:v>Som van PC</c:v>
                </c:pt>
              </c:strCache>
            </c:strRef>
          </c:tx>
          <c:spPr>
            <a:solidFill>
              <a:schemeClr val="tx1">
                <a:lumMod val="50000"/>
                <a:lumOff val="50000"/>
                <a:alpha val="50000"/>
              </a:schemeClr>
            </a:solidFill>
          </c:spPr>
          <c:invertIfNegative val="0"/>
          <c:cat>
            <c:multiLvlStrRef>
              <c:f>'3.5'!$J$77:$K$90</c:f>
              <c:multiLvlStrCache>
                <c:ptCount val="13"/>
                <c:lvl>
                  <c:pt idx="0">
                    <c:v>jan</c:v>
                  </c:pt>
                  <c:pt idx="1">
                    <c:v>feb</c:v>
                  </c:pt>
                  <c:pt idx="2">
                    <c:v>mrt</c:v>
                  </c:pt>
                  <c:pt idx="3">
                    <c:v>apr</c:v>
                  </c:pt>
                  <c:pt idx="4">
                    <c:v>mei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okt</c:v>
                  </c:pt>
                  <c:pt idx="10">
                    <c:v>nov</c:v>
                  </c:pt>
                  <c:pt idx="11">
                    <c:v>dec</c:v>
                  </c:pt>
                  <c:pt idx="12">
                    <c:v>jan</c:v>
                  </c:pt>
                </c:lvl>
                <c:lvl>
                  <c:pt idx="0">
                    <c:v>2015</c:v>
                  </c:pt>
                  <c:pt idx="12">
                    <c:v>2016</c:v>
                  </c:pt>
                </c:lvl>
              </c:multiLvlStrCache>
            </c:multiLvlStrRef>
          </c:cat>
          <c:val>
            <c:numRef>
              <c:f>'3.5'!$N$77:$N$90</c:f>
              <c:numCache>
                <c:formatCode>General</c:formatCode>
                <c:ptCount val="13"/>
                <c:pt idx="0">
                  <c:v>0.76805292399620895</c:v>
                </c:pt>
                <c:pt idx="1">
                  <c:v>0.78055285847967748</c:v>
                </c:pt>
                <c:pt idx="2">
                  <c:v>0.77941997814647201</c:v>
                </c:pt>
                <c:pt idx="3">
                  <c:v>0.76993558127735084</c:v>
                </c:pt>
                <c:pt idx="4">
                  <c:v>0.75984168795130735</c:v>
                </c:pt>
                <c:pt idx="5">
                  <c:v>0.77125229199273848</c:v>
                </c:pt>
                <c:pt idx="6">
                  <c:v>0.76751062253681446</c:v>
                </c:pt>
                <c:pt idx="7">
                  <c:v>0.76495935797917824</c:v>
                </c:pt>
                <c:pt idx="8">
                  <c:v>0.76309543408104019</c:v>
                </c:pt>
                <c:pt idx="9">
                  <c:v>0.7202943057228699</c:v>
                </c:pt>
                <c:pt idx="10">
                  <c:v>0.7189626499477122</c:v>
                </c:pt>
                <c:pt idx="11">
                  <c:v>0.69607404409975226</c:v>
                </c:pt>
                <c:pt idx="12">
                  <c:v>0.69979713110164865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86237696"/>
        <c:axId val="186239232"/>
      </c:barChart>
      <c:catAx>
        <c:axId val="18623769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chemeClr val="bg1">
                <a:lumMod val="50000"/>
              </a:schemeClr>
            </a:solidFill>
          </a:ln>
        </c:spPr>
        <c:txPr>
          <a:bodyPr rot="0" vert="horz"/>
          <a:lstStyle/>
          <a:p>
            <a:pPr>
              <a:defRPr sz="70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nl-NL"/>
          </a:p>
        </c:txPr>
        <c:crossAx val="186239232"/>
        <c:crosses val="autoZero"/>
        <c:auto val="1"/>
        <c:lblAlgn val="ctr"/>
        <c:lblOffset val="100"/>
        <c:noMultiLvlLbl val="0"/>
      </c:catAx>
      <c:valAx>
        <c:axId val="186239232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accent3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pPr>
            <a:endParaRPr lang="nl-NL"/>
          </a:p>
        </c:txPr>
        <c:crossAx val="186237696"/>
        <c:crosses val="autoZero"/>
        <c:crossBetween val="between"/>
      </c:valAx>
      <c:spPr>
        <a:noFill/>
      </c:spPr>
    </c:plotArea>
    <c:legend>
      <c:legendPos val="r"/>
      <c:layout>
        <c:manualLayout>
          <c:xMode val="edge"/>
          <c:yMode val="edge"/>
          <c:x val="0.79067845969248607"/>
          <c:y val="0.60139633731564102"/>
          <c:w val="0.19854274017044507"/>
          <c:h val="0.20197021886951655"/>
        </c:manualLayout>
      </c:layout>
      <c:overlay val="0"/>
      <c:txPr>
        <a:bodyPr/>
        <a:lstStyle/>
        <a:p>
          <a:pPr>
            <a:defRPr sz="700">
              <a:solidFill>
                <a:schemeClr val="accent3">
                  <a:lumMod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[data-visualisatie.xlsx]3.2!Totaaloverzicht onderdelen UWV.nll</c:name>
    <c:fmtId val="15"/>
  </c:pivotSource>
  <c:chart>
    <c:title>
      <c:tx>
        <c:rich>
          <a:bodyPr/>
          <a:lstStyle/>
          <a:p>
            <a:pPr>
              <a:defRPr/>
            </a:pPr>
            <a:r>
              <a:rPr lang="en-US" sz="800" baseline="0">
                <a:latin typeface="Verdana" pitchFamily="34" charset="0"/>
              </a:rPr>
              <a:t>Fig. 1. Bezoeken</a:t>
            </a:r>
            <a:r>
              <a:rPr lang="en-US" sz="800">
                <a:latin typeface="Verdana" pitchFamily="34" charset="0"/>
              </a:rPr>
              <a:t> uwv.nl </a:t>
            </a:r>
            <a:r>
              <a:rPr lang="en-US" sz="800" baseline="0">
                <a:latin typeface="Verdana" pitchFamily="34" charset="0"/>
              </a:rPr>
              <a:t>en werk.nl</a:t>
            </a:r>
          </a:p>
        </c:rich>
      </c:tx>
      <c:layout>
        <c:manualLayout>
          <c:xMode val="edge"/>
          <c:yMode val="edge"/>
          <c:x val="0.10509917941061468"/>
          <c:y val="1.2317591932802142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6"/>
        <c:spPr>
          <a:ln>
            <a:solidFill>
              <a:srgbClr val="00B050"/>
            </a:solidFill>
          </a:ln>
        </c:spPr>
        <c:marker>
          <c:symbol val="none"/>
        </c:marker>
      </c:pivotFmt>
      <c:pivotFmt>
        <c:idx val="7"/>
        <c:spPr>
          <a:ln>
            <a:solidFill>
              <a:schemeClr val="tx1"/>
            </a:solidFill>
          </a:ln>
        </c:spPr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circle"/>
          <c:size val="5"/>
        </c:marker>
        <c:dLbl>
          <c:idx val="0"/>
          <c:tx>
            <c:rich>
              <a:bodyPr/>
              <a:lstStyle/>
              <a:p>
                <a:pPr>
                  <a:defRPr>
                    <a:solidFill>
                      <a:srgbClr val="002060"/>
                    </a:solidFill>
                  </a:defRPr>
                </a:pPr>
                <a:r>
                  <a:rPr lang="en-US" sz="700">
                    <a:solidFill>
                      <a:srgbClr val="002060"/>
                    </a:solidFill>
                    <a:latin typeface="Verdana" pitchFamily="34" charset="0"/>
                  </a:rPr>
                  <a:t>1.855.000</a:t>
                </a:r>
              </a:p>
            </c:rich>
          </c:tx>
          <c:spPr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0"/>
        <c:spPr>
          <a:ln>
            <a:solidFill>
              <a:srgbClr val="FFC000"/>
            </a:solidFill>
          </a:ln>
        </c:spPr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spPr>
          <a:ln>
            <a:solidFill>
              <a:srgbClr val="00B0F0">
                <a:alpha val="70000"/>
              </a:srgbClr>
            </a:solidFill>
            <a:prstDash val="sysDash"/>
          </a:ln>
        </c:spPr>
        <c:marker>
          <c:symbol val="none"/>
        </c:marker>
      </c:pivotFmt>
      <c:pivotFmt>
        <c:idx val="13"/>
        <c:spPr>
          <a:ln>
            <a:solidFill>
              <a:srgbClr val="00B0F0"/>
            </a:solidFill>
            <a:prstDash val="dash"/>
          </a:ln>
        </c:spPr>
        <c:marker>
          <c:symbol val="none"/>
        </c:marker>
      </c:pivotFmt>
      <c:pivotFmt>
        <c:idx val="14"/>
        <c:spPr>
          <a:ln>
            <a:solidFill>
              <a:schemeClr val="tx2">
                <a:alpha val="70000"/>
              </a:schemeClr>
            </a:solidFill>
            <a:prstDash val="sysDash"/>
          </a:ln>
        </c:spPr>
        <c:marker>
          <c:symbol val="none"/>
        </c:marker>
      </c:pivotFmt>
      <c:pivotFmt>
        <c:idx val="15"/>
        <c:spPr>
          <a:ln>
            <a:solidFill>
              <a:schemeClr val="tx2"/>
            </a:solidFill>
            <a:prstDash val="dash"/>
          </a:ln>
        </c:spPr>
        <c:marker>
          <c:symbol val="none"/>
        </c:marker>
      </c:pivotFmt>
      <c:pivotFmt>
        <c:idx val="16"/>
        <c:spPr>
          <a:ln>
            <a:solidFill>
              <a:srgbClr val="00B0F0"/>
            </a:solidFill>
          </a:ln>
        </c:spPr>
        <c:marker>
          <c:symbol val="circle"/>
          <c:size val="5"/>
          <c:spPr>
            <a:solidFill>
              <a:srgbClr val="00B0F0"/>
            </a:solidFill>
          </c:spPr>
        </c:marker>
      </c:pivotFmt>
      <c:pivotFmt>
        <c:idx val="17"/>
        <c:spPr>
          <a:ln>
            <a:solidFill>
              <a:schemeClr val="tx2"/>
            </a:solidFill>
          </a:ln>
        </c:spPr>
        <c:marker>
          <c:symbol val="circle"/>
          <c:size val="7"/>
          <c:spPr>
            <a:solidFill>
              <a:schemeClr val="tx2"/>
            </a:solidFill>
          </c:spPr>
        </c:marker>
      </c:pivotFmt>
      <c:pivotFmt>
        <c:idx val="18"/>
        <c:marker>
          <c:symbol val="none"/>
        </c:marker>
      </c:pivotFmt>
      <c:pivotFmt>
        <c:idx val="19"/>
        <c:marker>
          <c:symbol val="none"/>
        </c:marker>
      </c:pivotFmt>
      <c:pivotFmt>
        <c:idx val="20"/>
        <c:marker>
          <c:symbol val="none"/>
        </c:marker>
      </c:pivotFmt>
      <c:pivotFmt>
        <c:idx val="21"/>
        <c:marker>
          <c:symbol val="none"/>
        </c:marker>
      </c:pivotFmt>
      <c:pivotFmt>
        <c:idx val="22"/>
        <c:spPr>
          <a:ln>
            <a:solidFill>
              <a:srgbClr val="FFC000"/>
            </a:solidFill>
            <a:prstDash val="solid"/>
          </a:ln>
        </c:spPr>
        <c:marker>
          <c:symbol val="none"/>
        </c:marker>
      </c:pivotFmt>
      <c:pivotFmt>
        <c:idx val="23"/>
        <c:spPr>
          <a:ln>
            <a:solidFill>
              <a:srgbClr val="FFC000"/>
            </a:solidFill>
            <a:prstDash val="sysDash"/>
          </a:ln>
        </c:spPr>
        <c:marker>
          <c:symbol val="none"/>
        </c:marker>
      </c:pivotFmt>
      <c:pivotFmt>
        <c:idx val="24"/>
        <c:spPr>
          <a:ln>
            <a:solidFill>
              <a:srgbClr val="00B0F0"/>
            </a:solidFill>
            <a:prstDash val="sysDash"/>
          </a:ln>
        </c:spPr>
        <c:marker>
          <c:symbol val="none"/>
        </c:marker>
      </c:pivotFmt>
      <c:pivotFmt>
        <c:idx val="25"/>
        <c:marker>
          <c:symbol val="none"/>
        </c:marker>
      </c:pivotFmt>
      <c:pivotFmt>
        <c:idx val="26"/>
        <c:marker>
          <c:symbol val="none"/>
        </c:marker>
      </c:pivotFmt>
      <c:pivotFmt>
        <c:idx val="27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2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29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0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1"/>
      </c:pivotFmt>
      <c:pivotFmt>
        <c:idx val="32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3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4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5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36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7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9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6005856328361312"/>
          <c:y val="0.14088936081356654"/>
          <c:w val="0.83330997282645558"/>
          <c:h val="0.73036973937839711"/>
        </c:manualLayout>
      </c:layout>
      <c:lineChart>
        <c:grouping val="standard"/>
        <c:varyColors val="0"/>
        <c:ser>
          <c:idx val="0"/>
          <c:order val="0"/>
          <c:tx>
            <c:strRef>
              <c:f>'3.2'!$C$3:$C$5</c:f>
              <c:strCache>
                <c:ptCount val="1"/>
                <c:pt idx="0">
                  <c:v>werk.nl - Afgelopen 12 maanden</c:v>
                </c:pt>
              </c:strCache>
            </c:strRef>
          </c:tx>
          <c:spPr>
            <a:ln>
              <a:solidFill>
                <a:schemeClr val="tx2"/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'3.2'!$C$6:$C$17</c:f>
              <c:numCache>
                <c:formatCode>General</c:formatCode>
                <c:ptCount val="12"/>
                <c:pt idx="0">
                  <c:v>3787802</c:v>
                </c:pt>
                <c:pt idx="1">
                  <c:v>4203175</c:v>
                </c:pt>
                <c:pt idx="2">
                  <c:v>3624307</c:v>
                </c:pt>
                <c:pt idx="3">
                  <c:v>3288810</c:v>
                </c:pt>
                <c:pt idx="4">
                  <c:v>3449201</c:v>
                </c:pt>
                <c:pt idx="5">
                  <c:v>3332427</c:v>
                </c:pt>
                <c:pt idx="6">
                  <c:v>3043594</c:v>
                </c:pt>
                <c:pt idx="7">
                  <c:v>3479477</c:v>
                </c:pt>
                <c:pt idx="8">
                  <c:v>3469066</c:v>
                </c:pt>
                <c:pt idx="9">
                  <c:v>3419405</c:v>
                </c:pt>
                <c:pt idx="10">
                  <c:v>3170744</c:v>
                </c:pt>
                <c:pt idx="11">
                  <c:v>3661728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'3.2'!$D$3:$D$5</c:f>
              <c:strCache>
                <c:ptCount val="1"/>
                <c:pt idx="0">
                  <c:v>werk.nl - Periode daarvoor</c:v>
                </c:pt>
              </c:strCache>
            </c:strRef>
          </c:tx>
          <c:spPr>
            <a:ln>
              <a:solidFill>
                <a:schemeClr val="tx2"/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'3.2'!$D$6:$D$17</c:f>
              <c:numCache>
                <c:formatCode>General</c:formatCode>
                <c:ptCount val="12"/>
                <c:pt idx="0">
                  <c:v>3715434</c:v>
                </c:pt>
                <c:pt idx="1">
                  <c:v>3828396</c:v>
                </c:pt>
                <c:pt idx="2">
                  <c:v>3871262</c:v>
                </c:pt>
                <c:pt idx="3">
                  <c:v>3598378</c:v>
                </c:pt>
                <c:pt idx="4">
                  <c:v>3539649</c:v>
                </c:pt>
                <c:pt idx="5">
                  <c:v>3543307</c:v>
                </c:pt>
                <c:pt idx="6">
                  <c:v>3443869</c:v>
                </c:pt>
                <c:pt idx="7">
                  <c:v>3903584</c:v>
                </c:pt>
                <c:pt idx="8">
                  <c:v>3684238</c:v>
                </c:pt>
                <c:pt idx="9">
                  <c:v>3753316</c:v>
                </c:pt>
                <c:pt idx="10">
                  <c:v>3635655</c:v>
                </c:pt>
                <c:pt idx="11">
                  <c:v>4378210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'3.2'!$E$3:$E$5</c:f>
              <c:strCache>
                <c:ptCount val="1"/>
                <c:pt idx="0">
                  <c:v>UWV totaal - Afgelopen 12 maanden</c:v>
                </c:pt>
              </c:strCache>
            </c:strRef>
          </c:tx>
          <c:spPr>
            <a:ln>
              <a:solidFill>
                <a:srgbClr val="0070C0"/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'3.2'!$E$6:$E$17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'3.2'!$F$3:$F$5</c:f>
              <c:strCache>
                <c:ptCount val="1"/>
                <c:pt idx="0">
                  <c:v>UWV totaal - Periode daarvoor</c:v>
                </c:pt>
              </c:strCache>
            </c:strRef>
          </c:tx>
          <c:spPr>
            <a:ln>
              <a:solidFill>
                <a:srgbClr val="0070C0"/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'3.2'!$F$6:$F$17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410112"/>
        <c:axId val="186411648"/>
      </c:lineChart>
      <c:catAx>
        <c:axId val="186410112"/>
        <c:scaling>
          <c:orientation val="minMax"/>
        </c:scaling>
        <c:delete val="0"/>
        <c:axPos val="b"/>
        <c:numFmt formatCode="m\ yyyy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latin typeface="Verdana" pitchFamily="34" charset="0"/>
              </a:defRPr>
            </a:pPr>
            <a:endParaRPr lang="nl-NL"/>
          </a:p>
        </c:txPr>
        <c:crossAx val="186411648"/>
        <c:crosses val="autoZero"/>
        <c:auto val="1"/>
        <c:lblAlgn val="ctr"/>
        <c:lblOffset val="0"/>
        <c:noMultiLvlLbl val="0"/>
      </c:catAx>
      <c:valAx>
        <c:axId val="186411648"/>
        <c:scaling>
          <c:orientation val="minMax"/>
        </c:scaling>
        <c:delete val="0"/>
        <c:axPos val="l"/>
        <c:majorGridlines>
          <c:spPr>
            <a:ln>
              <a:solidFill>
                <a:schemeClr val="tx1">
                  <a:lumMod val="50000"/>
                  <a:lumOff val="50000"/>
                </a:schemeClr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0" anchor="ctr" anchorCtr="1"/>
          <a:lstStyle/>
          <a:p>
            <a:pPr>
              <a:defRPr sz="700">
                <a:latin typeface="Verdana" pitchFamily="34" charset="0"/>
              </a:defRPr>
            </a:pPr>
            <a:endParaRPr lang="nl-NL"/>
          </a:p>
        </c:txPr>
        <c:crossAx val="186410112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0"/>
                <c:y val="0.14111506985381442"/>
              </c:manualLayout>
            </c:layout>
            <c:tx>
              <c:rich>
                <a:bodyPr/>
                <a:lstStyle/>
                <a:p>
                  <a:pPr algn="r">
                    <a:defRPr/>
                  </a:pPr>
                  <a:r>
                    <a:rPr lang="nl-NL" sz="700">
                      <a:latin typeface="Verdana" pitchFamily="34" charset="0"/>
                    </a:rPr>
                    <a:t>bezoeken (x 1.000</a:t>
                  </a:r>
                  <a:r>
                    <a:rPr lang="nl-NL"/>
                    <a:t>)</a:t>
                  </a:r>
                </a:p>
              </c:rich>
            </c:tx>
          </c:dispUnitsLbl>
        </c:dispUnits>
      </c:valAx>
      <c:spPr>
        <a:noFill/>
      </c:spPr>
    </c:plotArea>
    <c:plotVisOnly val="1"/>
    <c:dispBlanksAs val="gap"/>
    <c:showDLblsOverMax val="0"/>
  </c:chart>
  <c:spPr>
    <a:noFill/>
    <a:ln>
      <a:noFill/>
      <a:prstDash val="solid"/>
    </a:ln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[data-visualisatie.xlsx]3.2!Totaaloverzicht onderdelen UWV.nll</c:name>
    <c:fmtId val="17"/>
  </c:pivotSource>
  <c:chart>
    <c:title>
      <c:tx>
        <c:rich>
          <a:bodyPr/>
          <a:lstStyle/>
          <a:p>
            <a:pPr>
              <a:defRPr b="0">
                <a:solidFill>
                  <a:sysClr val="windowText" lastClr="000000"/>
                </a:solidFill>
              </a:defRPr>
            </a:pPr>
            <a:r>
              <a:rPr lang="en-US" sz="800" b="0" baseline="0">
                <a:solidFill>
                  <a:sysClr val="windowText" lastClr="000000"/>
                </a:solidFill>
                <a:latin typeface="Verdana" pitchFamily="34" charset="0"/>
              </a:rPr>
              <a:t>Fig. 1. Bezoeken</a:t>
            </a:r>
            <a:r>
              <a:rPr lang="en-US" sz="800" b="0">
                <a:solidFill>
                  <a:sysClr val="windowText" lastClr="000000"/>
                </a:solidFill>
                <a:latin typeface="Verdana" pitchFamily="34" charset="0"/>
              </a:rPr>
              <a:t> uwv.nl </a:t>
            </a:r>
            <a:r>
              <a:rPr lang="en-US" sz="800" b="0" baseline="0">
                <a:solidFill>
                  <a:sysClr val="windowText" lastClr="000000"/>
                </a:solidFill>
                <a:latin typeface="Verdana" pitchFamily="34" charset="0"/>
              </a:rPr>
              <a:t>en werk.nl</a:t>
            </a:r>
          </a:p>
        </c:rich>
      </c:tx>
      <c:layout>
        <c:manualLayout>
          <c:xMode val="edge"/>
          <c:yMode val="edge"/>
          <c:x val="0.10509917941061468"/>
          <c:y val="1.2317591932802142E-2"/>
        </c:manualLayout>
      </c:layout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marker>
          <c:symbol val="none"/>
        </c:marker>
      </c:pivotFmt>
      <c:pivotFmt>
        <c:idx val="4"/>
        <c:spPr>
          <a:ln>
            <a:solidFill>
              <a:srgbClr val="00B0F0"/>
            </a:solidFill>
          </a:ln>
        </c:spPr>
        <c:marker>
          <c:symbol val="none"/>
        </c:marker>
      </c:pivotFmt>
      <c:pivotFmt>
        <c:idx val="5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6"/>
        <c:spPr>
          <a:ln>
            <a:solidFill>
              <a:srgbClr val="00B050"/>
            </a:solidFill>
          </a:ln>
        </c:spPr>
        <c:marker>
          <c:symbol val="none"/>
        </c:marker>
      </c:pivotFmt>
      <c:pivotFmt>
        <c:idx val="7"/>
        <c:spPr>
          <a:ln>
            <a:solidFill>
              <a:schemeClr val="tx1"/>
            </a:solidFill>
          </a:ln>
        </c:spPr>
        <c:marker>
          <c:symbol val="none"/>
        </c:marker>
      </c:pivotFmt>
      <c:pivotFmt>
        <c:idx val="8"/>
        <c:marker>
          <c:symbol val="none"/>
        </c:marker>
      </c:pivotFmt>
      <c:pivotFmt>
        <c:idx val="9"/>
        <c:marker>
          <c:symbol val="circle"/>
          <c:size val="5"/>
        </c:marker>
        <c:dLbl>
          <c:idx val="0"/>
          <c:tx>
            <c:rich>
              <a:bodyPr/>
              <a:lstStyle/>
              <a:p>
                <a:pPr>
                  <a:defRPr>
                    <a:solidFill>
                      <a:srgbClr val="002060"/>
                    </a:solidFill>
                  </a:defRPr>
                </a:pPr>
                <a:r>
                  <a:rPr lang="en-US" sz="700">
                    <a:solidFill>
                      <a:srgbClr val="002060"/>
                    </a:solidFill>
                    <a:latin typeface="Verdana" pitchFamily="34" charset="0"/>
                  </a:rPr>
                  <a:t>1.855.000</a:t>
                </a:r>
              </a:p>
            </c:rich>
          </c:tx>
          <c:spPr/>
          <c:showLegendKey val="0"/>
          <c:showVal val="1"/>
          <c:showCatName val="0"/>
          <c:showSerName val="0"/>
          <c:showPercent val="0"/>
          <c:showBubbleSize val="0"/>
        </c:dLbl>
      </c:pivotFmt>
      <c:pivotFmt>
        <c:idx val="10"/>
        <c:spPr>
          <a:ln>
            <a:solidFill>
              <a:srgbClr val="FFC000"/>
            </a:solidFill>
          </a:ln>
        </c:spPr>
        <c:marker>
          <c:symbol val="none"/>
        </c:marker>
      </c:pivotFmt>
      <c:pivotFmt>
        <c:idx val="11"/>
        <c:marker>
          <c:symbol val="none"/>
        </c:marker>
      </c:pivotFmt>
      <c:pivotFmt>
        <c:idx val="12"/>
        <c:spPr>
          <a:ln>
            <a:solidFill>
              <a:srgbClr val="00B0F0">
                <a:alpha val="70000"/>
              </a:srgbClr>
            </a:solidFill>
            <a:prstDash val="sysDash"/>
          </a:ln>
        </c:spPr>
        <c:marker>
          <c:symbol val="none"/>
        </c:marker>
      </c:pivotFmt>
      <c:pivotFmt>
        <c:idx val="13"/>
        <c:spPr>
          <a:ln>
            <a:solidFill>
              <a:srgbClr val="00B0F0"/>
            </a:solidFill>
            <a:prstDash val="dash"/>
          </a:ln>
        </c:spPr>
        <c:marker>
          <c:symbol val="none"/>
        </c:marker>
      </c:pivotFmt>
      <c:pivotFmt>
        <c:idx val="14"/>
        <c:spPr>
          <a:ln>
            <a:solidFill>
              <a:schemeClr val="tx2">
                <a:alpha val="70000"/>
              </a:schemeClr>
            </a:solidFill>
            <a:prstDash val="sysDash"/>
          </a:ln>
        </c:spPr>
        <c:marker>
          <c:symbol val="none"/>
        </c:marker>
      </c:pivotFmt>
      <c:pivotFmt>
        <c:idx val="15"/>
        <c:spPr>
          <a:ln>
            <a:solidFill>
              <a:schemeClr val="tx2"/>
            </a:solidFill>
            <a:prstDash val="dash"/>
          </a:ln>
        </c:spPr>
        <c:marker>
          <c:symbol val="none"/>
        </c:marker>
      </c:pivotFmt>
      <c:pivotFmt>
        <c:idx val="16"/>
        <c:spPr>
          <a:ln>
            <a:solidFill>
              <a:srgbClr val="00B0F0"/>
            </a:solidFill>
          </a:ln>
        </c:spPr>
        <c:marker>
          <c:symbol val="circle"/>
          <c:size val="5"/>
          <c:spPr>
            <a:solidFill>
              <a:srgbClr val="00B0F0"/>
            </a:solidFill>
          </c:spPr>
        </c:marker>
      </c:pivotFmt>
      <c:pivotFmt>
        <c:idx val="17"/>
        <c:spPr>
          <a:ln>
            <a:solidFill>
              <a:schemeClr val="tx2"/>
            </a:solidFill>
          </a:ln>
        </c:spPr>
        <c:marker>
          <c:symbol val="circle"/>
          <c:size val="7"/>
          <c:spPr>
            <a:solidFill>
              <a:schemeClr val="tx2"/>
            </a:solidFill>
          </c:spPr>
        </c:marker>
      </c:pivotFmt>
      <c:pivotFmt>
        <c:idx val="18"/>
        <c:marker>
          <c:symbol val="none"/>
        </c:marker>
      </c:pivotFmt>
      <c:pivotFmt>
        <c:idx val="19"/>
        <c:marker>
          <c:symbol val="none"/>
        </c:marker>
      </c:pivotFmt>
      <c:pivotFmt>
        <c:idx val="20"/>
        <c:marker>
          <c:symbol val="none"/>
        </c:marker>
      </c:pivotFmt>
      <c:pivotFmt>
        <c:idx val="21"/>
        <c:marker>
          <c:symbol val="none"/>
        </c:marker>
      </c:pivotFmt>
      <c:pivotFmt>
        <c:idx val="22"/>
        <c:spPr>
          <a:ln>
            <a:solidFill>
              <a:srgbClr val="FFC000"/>
            </a:solidFill>
            <a:prstDash val="solid"/>
          </a:ln>
        </c:spPr>
        <c:marker>
          <c:symbol val="none"/>
        </c:marker>
      </c:pivotFmt>
      <c:pivotFmt>
        <c:idx val="23"/>
        <c:spPr>
          <a:ln>
            <a:solidFill>
              <a:srgbClr val="FFC000"/>
            </a:solidFill>
            <a:prstDash val="sysDash"/>
          </a:ln>
        </c:spPr>
        <c:marker>
          <c:symbol val="none"/>
        </c:marker>
      </c:pivotFmt>
      <c:pivotFmt>
        <c:idx val="24"/>
        <c:spPr>
          <a:ln>
            <a:solidFill>
              <a:srgbClr val="00B0F0"/>
            </a:solidFill>
            <a:prstDash val="sysDash"/>
          </a:ln>
        </c:spPr>
        <c:marker>
          <c:symbol val="none"/>
        </c:marker>
      </c:pivotFmt>
      <c:pivotFmt>
        <c:idx val="25"/>
        <c:marker>
          <c:symbol val="none"/>
        </c:marker>
      </c:pivotFmt>
      <c:pivotFmt>
        <c:idx val="26"/>
        <c:marker>
          <c:symbol val="none"/>
        </c:marker>
      </c:pivotFmt>
      <c:pivotFmt>
        <c:idx val="27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28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29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0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1"/>
      </c:pivotFmt>
      <c:pivotFmt>
        <c:idx val="32"/>
        <c:spPr>
          <a:ln>
            <a:solidFill>
              <a:schemeClr val="tx2"/>
            </a:solidFill>
          </a:ln>
        </c:spPr>
        <c:marker>
          <c:symbol val="none"/>
        </c:marker>
      </c:pivotFmt>
      <c:pivotFmt>
        <c:idx val="33"/>
        <c:spPr>
          <a:ln>
            <a:solidFill>
              <a:schemeClr val="tx2"/>
            </a:solidFill>
            <a:prstDash val="sysDash"/>
          </a:ln>
        </c:spPr>
        <c:marker>
          <c:symbol val="none"/>
        </c:marker>
      </c:pivotFmt>
      <c:pivotFmt>
        <c:idx val="34"/>
        <c:spPr>
          <a:ln>
            <a:solidFill>
              <a:srgbClr val="0070C0"/>
            </a:solidFill>
          </a:ln>
        </c:spPr>
        <c:marker>
          <c:symbol val="none"/>
        </c:marker>
      </c:pivotFmt>
      <c:pivotFmt>
        <c:idx val="35"/>
        <c:spPr>
          <a:ln>
            <a:solidFill>
              <a:srgbClr val="0070C0"/>
            </a:solidFill>
            <a:prstDash val="sysDash"/>
          </a:ln>
        </c:spPr>
        <c:marker>
          <c:symbol val="none"/>
        </c:marker>
      </c:pivotFmt>
      <c:pivotFmt>
        <c:idx val="36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37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38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39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  <c:pivotFmt>
        <c:idx val="40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41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42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43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  <c:pivotFmt>
        <c:idx val="44"/>
        <c:spPr>
          <a:ln w="19050">
            <a:solidFill>
              <a:schemeClr val="tx2">
                <a:alpha val="75000"/>
              </a:schemeClr>
            </a:solidFill>
          </a:ln>
        </c:spPr>
        <c:marker>
          <c:symbol val="none"/>
        </c:marker>
      </c:pivotFmt>
      <c:pivotFmt>
        <c:idx val="45"/>
        <c:spPr>
          <a:ln w="19050">
            <a:solidFill>
              <a:schemeClr val="tx2">
                <a:alpha val="75000"/>
              </a:schemeClr>
            </a:solidFill>
            <a:prstDash val="sysDash"/>
          </a:ln>
        </c:spPr>
        <c:marker>
          <c:symbol val="none"/>
        </c:marker>
      </c:pivotFmt>
      <c:pivotFmt>
        <c:idx val="46"/>
        <c:spPr>
          <a:ln w="19050">
            <a:solidFill>
              <a:srgbClr val="0070C0">
                <a:alpha val="75000"/>
              </a:srgbClr>
            </a:solidFill>
          </a:ln>
        </c:spPr>
        <c:marker>
          <c:symbol val="none"/>
        </c:marker>
      </c:pivotFmt>
      <c:pivotFmt>
        <c:idx val="47"/>
        <c:spPr>
          <a:ln w="19050">
            <a:solidFill>
              <a:srgbClr val="0070C0">
                <a:alpha val="75000"/>
              </a:srgbClr>
            </a:solidFill>
            <a:prstDash val="sysDash"/>
          </a:ln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0.17423119223733829"/>
          <c:y val="0.14088936081356654"/>
          <c:w val="0.8155721780997226"/>
          <c:h val="0.73036973937839711"/>
        </c:manualLayout>
      </c:layout>
      <c:lineChart>
        <c:grouping val="standard"/>
        <c:varyColors val="0"/>
        <c:ser>
          <c:idx val="0"/>
          <c:order val="0"/>
          <c:tx>
            <c:strRef>
              <c:f>'3.2'!$C$3:$C$5</c:f>
              <c:strCache>
                <c:ptCount val="1"/>
                <c:pt idx="0">
                  <c:v>werk.nl - Afgelopen 12 maanden</c:v>
                </c:pt>
              </c:strCache>
            </c:strRef>
          </c:tx>
          <c:spPr>
            <a:ln w="19050">
              <a:solidFill>
                <a:schemeClr val="tx2">
                  <a:alpha val="75000"/>
                </a:schemeClr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'3.2'!$C$6:$C$17</c:f>
              <c:numCache>
                <c:formatCode>General</c:formatCode>
                <c:ptCount val="12"/>
                <c:pt idx="0">
                  <c:v>3787802</c:v>
                </c:pt>
                <c:pt idx="1">
                  <c:v>4203175</c:v>
                </c:pt>
                <c:pt idx="2">
                  <c:v>3624307</c:v>
                </c:pt>
                <c:pt idx="3">
                  <c:v>3288810</c:v>
                </c:pt>
                <c:pt idx="4">
                  <c:v>3449201</c:v>
                </c:pt>
                <c:pt idx="5">
                  <c:v>3332427</c:v>
                </c:pt>
                <c:pt idx="6">
                  <c:v>3043594</c:v>
                </c:pt>
                <c:pt idx="7">
                  <c:v>3479477</c:v>
                </c:pt>
                <c:pt idx="8">
                  <c:v>3469066</c:v>
                </c:pt>
                <c:pt idx="9">
                  <c:v>3419405</c:v>
                </c:pt>
                <c:pt idx="10">
                  <c:v>3170744</c:v>
                </c:pt>
                <c:pt idx="11">
                  <c:v>3661728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'3.2'!$D$3:$D$5</c:f>
              <c:strCache>
                <c:ptCount val="1"/>
                <c:pt idx="0">
                  <c:v>werk.nl - Periode daarvoor</c:v>
                </c:pt>
              </c:strCache>
            </c:strRef>
          </c:tx>
          <c:spPr>
            <a:ln w="19050">
              <a:solidFill>
                <a:schemeClr val="tx2">
                  <a:alpha val="75000"/>
                </a:schemeClr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'3.2'!$D$6:$D$17</c:f>
              <c:numCache>
                <c:formatCode>General</c:formatCode>
                <c:ptCount val="12"/>
                <c:pt idx="0">
                  <c:v>3715434</c:v>
                </c:pt>
                <c:pt idx="1">
                  <c:v>3828396</c:v>
                </c:pt>
                <c:pt idx="2">
                  <c:v>3871262</c:v>
                </c:pt>
                <c:pt idx="3">
                  <c:v>3598378</c:v>
                </c:pt>
                <c:pt idx="4">
                  <c:v>3539649</c:v>
                </c:pt>
                <c:pt idx="5">
                  <c:v>3543307</c:v>
                </c:pt>
                <c:pt idx="6">
                  <c:v>3443869</c:v>
                </c:pt>
                <c:pt idx="7">
                  <c:v>3903584</c:v>
                </c:pt>
                <c:pt idx="8">
                  <c:v>3684238</c:v>
                </c:pt>
                <c:pt idx="9">
                  <c:v>3753316</c:v>
                </c:pt>
                <c:pt idx="10">
                  <c:v>3635655</c:v>
                </c:pt>
                <c:pt idx="11">
                  <c:v>4378210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'3.2'!$E$3:$E$5</c:f>
              <c:strCache>
                <c:ptCount val="1"/>
                <c:pt idx="0">
                  <c:v>UWV totaal - Afgelopen 12 maanden</c:v>
                </c:pt>
              </c:strCache>
            </c:strRef>
          </c:tx>
          <c:spPr>
            <a:ln w="19050">
              <a:solidFill>
                <a:srgbClr val="0070C0">
                  <a:alpha val="75000"/>
                </a:srgbClr>
              </a:solidFill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'3.2'!$E$6:$E$17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'3.2'!$F$3:$F$5</c:f>
              <c:strCache>
                <c:ptCount val="1"/>
                <c:pt idx="0">
                  <c:v>UWV totaal - Periode daarvoor</c:v>
                </c:pt>
              </c:strCache>
            </c:strRef>
          </c:tx>
          <c:spPr>
            <a:ln w="19050">
              <a:solidFill>
                <a:srgbClr val="0070C0">
                  <a:alpha val="75000"/>
                </a:srgbClr>
              </a:solidFill>
              <a:prstDash val="sysDash"/>
            </a:ln>
          </c:spPr>
          <c:marker>
            <c:symbol val="none"/>
          </c:marker>
          <c:cat>
            <c:strRef>
              <c:f>'3.2'!$B$6:$B$17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'3.2'!$F$6:$F$17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6507264"/>
        <c:axId val="186508800"/>
      </c:lineChart>
      <c:catAx>
        <c:axId val="186507264"/>
        <c:scaling>
          <c:orientation val="minMax"/>
        </c:scaling>
        <c:delete val="0"/>
        <c:axPos val="b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m\ yyyy" sourceLinked="0"/>
        <c:majorTickMark val="out"/>
        <c:minorTickMark val="none"/>
        <c:tickLblPos val="nextTo"/>
        <c:txPr>
          <a:bodyPr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Verdana" pitchFamily="34" charset="0"/>
              </a:defRPr>
            </a:pPr>
            <a:endParaRPr lang="nl-NL"/>
          </a:p>
        </c:txPr>
        <c:crossAx val="186508800"/>
        <c:crosses val="autoZero"/>
        <c:auto val="1"/>
        <c:lblAlgn val="ctr"/>
        <c:lblOffset val="0"/>
        <c:noMultiLvlLbl val="0"/>
      </c:catAx>
      <c:valAx>
        <c:axId val="186508800"/>
        <c:scaling>
          <c:orientation val="minMax"/>
        </c:scaling>
        <c:delete val="0"/>
        <c:axPos val="l"/>
        <c:majorGridlines>
          <c:spPr>
            <a:ln>
              <a:solidFill>
                <a:schemeClr val="bg1">
                  <a:lumMod val="85000"/>
                </a:schemeClr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 rot="0" anchor="ctr" anchorCtr="1"/>
          <a:lstStyle/>
          <a:p>
            <a:pPr>
              <a:defRPr sz="700">
                <a:solidFill>
                  <a:schemeClr val="bg1">
                    <a:lumMod val="50000"/>
                  </a:schemeClr>
                </a:solidFill>
                <a:latin typeface="Verdana" pitchFamily="34" charset="0"/>
              </a:defRPr>
            </a:pPr>
            <a:endParaRPr lang="nl-NL"/>
          </a:p>
        </c:txPr>
        <c:crossAx val="186507264"/>
        <c:crosses val="autoZero"/>
        <c:crossBetween val="between"/>
        <c:dispUnits>
          <c:builtInUnit val="thousands"/>
          <c:dispUnitsLbl>
            <c:layout>
              <c:manualLayout>
                <c:xMode val="edge"/>
                <c:yMode val="edge"/>
                <c:x val="1.5690357184186262E-2"/>
                <c:y val="0.14111487815460122"/>
              </c:manualLayout>
            </c:layout>
            <c:tx>
              <c:rich>
                <a:bodyPr/>
                <a:lstStyle/>
                <a:p>
                  <a:pPr algn="r">
                    <a:defRPr b="0">
                      <a:solidFill>
                        <a:schemeClr val="bg1">
                          <a:lumMod val="50000"/>
                        </a:schemeClr>
                      </a:solidFill>
                    </a:defRPr>
                  </a:pPr>
                  <a:r>
                    <a:rPr lang="nl-NL" sz="700" b="0">
                      <a:solidFill>
                        <a:schemeClr val="bg1">
                          <a:lumMod val="50000"/>
                        </a:schemeClr>
                      </a:solidFill>
                      <a:latin typeface="Verdana" pitchFamily="34" charset="0"/>
                    </a:rPr>
                    <a:t>bezoeken (x 1.000</a:t>
                  </a:r>
                  <a:r>
                    <a:rPr lang="nl-NL" b="0">
                      <a:solidFill>
                        <a:schemeClr val="bg1">
                          <a:lumMod val="50000"/>
                        </a:schemeClr>
                      </a:solidFill>
                    </a:rPr>
                    <a:t>)</a:t>
                  </a:r>
                </a:p>
              </c:rich>
            </c:tx>
          </c:dispUnitsLbl>
        </c:dispUnits>
      </c:valAx>
      <c:spPr>
        <a:noFill/>
      </c:spPr>
    </c:plotArea>
    <c:plotVisOnly val="1"/>
    <c:dispBlanksAs val="gap"/>
    <c:showDLblsOverMax val="0"/>
  </c:chart>
  <c:spPr>
    <a:noFill/>
    <a:ln>
      <a:noFill/>
      <a:prstDash val="solid"/>
    </a:ln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[data-visualisatie.xlsx]3.2!Draaitabel5</c:name>
    <c:fmtId val="-1"/>
  </c:pivotSource>
  <c:chart>
    <c:title>
      <c:tx>
        <c:rich>
          <a:bodyPr/>
          <a:lstStyle/>
          <a:p>
            <a:pPr>
              <a:defRPr sz="1600" b="0">
                <a:solidFill>
                  <a:schemeClr val="bg1">
                    <a:lumMod val="50000"/>
                  </a:schemeClr>
                </a:solidFill>
              </a:defRPr>
            </a:pPr>
            <a:r>
              <a:rPr lang="nl-NL" sz="1600" b="0" dirty="0" smtClean="0">
                <a:solidFill>
                  <a:schemeClr val="bg1">
                    <a:lumMod val="50000"/>
                  </a:schemeClr>
                </a:solidFill>
              </a:rPr>
              <a:t>Bezoeken uwv.nl t.o.v. jaar ervoor</a:t>
            </a:r>
            <a:endParaRPr lang="nl-NL" sz="1600" b="0" dirty="0">
              <a:solidFill>
                <a:schemeClr val="bg1">
                  <a:lumMod val="50000"/>
                </a:schemeClr>
              </a:solidFill>
            </a:endParaRPr>
          </a:p>
        </c:rich>
      </c:tx>
      <c:layout/>
      <c:overlay val="0"/>
    </c:title>
    <c:autoTitleDeleted val="0"/>
    <c:pivotFmts>
      <c:pivotFmt>
        <c:idx val="0"/>
        <c:marker>
          <c:symbol val="none"/>
        </c:marker>
      </c:pivotFmt>
      <c:pivotFmt>
        <c:idx val="1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  <c:pivotFmt>
        <c:idx val="2"/>
        <c:marker>
          <c:symbol val="none"/>
        </c:marker>
      </c:pivotFmt>
      <c:pivotFmt>
        <c:idx val="3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  <c:pivotFmt>
        <c:idx val="4"/>
        <c:marker>
          <c:symbol val="none"/>
        </c:marker>
      </c:pivotFmt>
      <c:pivotFmt>
        <c:idx val="5"/>
        <c:spPr>
          <a:solidFill>
            <a:schemeClr val="accent3">
              <a:lumMod val="50000"/>
              <a:alpha val="70000"/>
            </a:schemeClr>
          </a:solidFill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'3.2'!$C$113:$C$114</c:f>
              <c:strCache>
                <c:ptCount val="1"/>
                <c:pt idx="0">
                  <c:v>Afgelopen 12 maanden</c:v>
                </c:pt>
              </c:strCache>
            </c:strRef>
          </c:tx>
          <c:spPr>
            <a:solidFill>
              <a:srgbClr val="0070C0">
                <a:alpha val="70000"/>
              </a:srgbClr>
            </a:solidFill>
          </c:spPr>
          <c:invertIfNegative val="0"/>
          <c:cat>
            <c:strRef>
              <c:f>'3.2'!$B$115:$B$126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'3.2'!$C$115:$C$126</c:f>
              <c:numCache>
                <c:formatCode>General</c:formatCode>
                <c:ptCount val="12"/>
                <c:pt idx="0">
                  <c:v>3525448</c:v>
                </c:pt>
                <c:pt idx="1">
                  <c:v>3819080</c:v>
                </c:pt>
                <c:pt idx="2">
                  <c:v>3151428</c:v>
                </c:pt>
                <c:pt idx="3">
                  <c:v>3152536</c:v>
                </c:pt>
                <c:pt idx="4">
                  <c:v>3293003</c:v>
                </c:pt>
                <c:pt idx="5">
                  <c:v>3169696</c:v>
                </c:pt>
                <c:pt idx="6">
                  <c:v>3005534</c:v>
                </c:pt>
                <c:pt idx="7">
                  <c:v>3565659</c:v>
                </c:pt>
                <c:pt idx="8">
                  <c:v>3609329</c:v>
                </c:pt>
                <c:pt idx="9">
                  <c:v>3654797</c:v>
                </c:pt>
                <c:pt idx="10">
                  <c:v>4154192</c:v>
                </c:pt>
                <c:pt idx="11">
                  <c:v>4733123</c:v>
                </c:pt>
              </c:numCache>
            </c:numRef>
          </c:val>
        </c:ser>
        <c:ser>
          <c:idx val="1"/>
          <c:order val="1"/>
          <c:tx>
            <c:strRef>
              <c:f>'3.2'!$D$113:$D$114</c:f>
              <c:strCache>
                <c:ptCount val="1"/>
                <c:pt idx="0">
                  <c:v>Periode daarvoor</c:v>
                </c:pt>
              </c:strCache>
            </c:strRef>
          </c:tx>
          <c:spPr>
            <a:solidFill>
              <a:srgbClr val="002060">
                <a:alpha val="70000"/>
              </a:srgbClr>
            </a:solidFill>
          </c:spPr>
          <c:invertIfNegative val="0"/>
          <c:cat>
            <c:strRef>
              <c:f>'3.2'!$B$115:$B$126</c:f>
              <c:strCache>
                <c:ptCount val="12"/>
                <c:pt idx="0">
                  <c:v>feb</c:v>
                </c:pt>
                <c:pt idx="1">
                  <c:v>mrt</c:v>
                </c:pt>
                <c:pt idx="2">
                  <c:v>apr</c:v>
                </c:pt>
                <c:pt idx="3">
                  <c:v>mei</c:v>
                </c:pt>
                <c:pt idx="4">
                  <c:v>jun</c:v>
                </c:pt>
                <c:pt idx="5">
                  <c:v>jul</c:v>
                </c:pt>
                <c:pt idx="6">
                  <c:v>aug</c:v>
                </c:pt>
                <c:pt idx="7">
                  <c:v>sep</c:v>
                </c:pt>
                <c:pt idx="8">
                  <c:v>okt</c:v>
                </c:pt>
                <c:pt idx="9">
                  <c:v>nov</c:v>
                </c:pt>
                <c:pt idx="10">
                  <c:v>dec</c:v>
                </c:pt>
                <c:pt idx="11">
                  <c:v>jan</c:v>
                </c:pt>
              </c:strCache>
            </c:strRef>
          </c:cat>
          <c:val>
            <c:numRef>
              <c:f>'3.2'!$D$115:$D$126</c:f>
              <c:numCache>
                <c:formatCode>General</c:formatCode>
                <c:ptCount val="12"/>
                <c:pt idx="0">
                  <c:v>3304754</c:v>
                </c:pt>
                <c:pt idx="1">
                  <c:v>3448269</c:v>
                </c:pt>
                <c:pt idx="2">
                  <c:v>2967952</c:v>
                </c:pt>
                <c:pt idx="3">
                  <c:v>3186998</c:v>
                </c:pt>
                <c:pt idx="4">
                  <c:v>2812708</c:v>
                </c:pt>
                <c:pt idx="5">
                  <c:v>3078212</c:v>
                </c:pt>
                <c:pt idx="6">
                  <c:v>2711511</c:v>
                </c:pt>
                <c:pt idx="7">
                  <c:v>3311649</c:v>
                </c:pt>
                <c:pt idx="8">
                  <c:v>3304451</c:v>
                </c:pt>
                <c:pt idx="9">
                  <c:v>3054178</c:v>
                </c:pt>
                <c:pt idx="10">
                  <c:v>3237991</c:v>
                </c:pt>
                <c:pt idx="11">
                  <c:v>3774202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axId val="185975168"/>
        <c:axId val="185976704"/>
      </c:barChart>
      <c:catAx>
        <c:axId val="185975168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accent2">
                    <a:lumMod val="50000"/>
                  </a:schemeClr>
                </a:solidFill>
              </a:defRPr>
            </a:pPr>
            <a:endParaRPr lang="nl-NL"/>
          </a:p>
        </c:txPr>
        <c:crossAx val="185976704"/>
        <c:crosses val="autoZero"/>
        <c:auto val="1"/>
        <c:lblAlgn val="ctr"/>
        <c:lblOffset val="100"/>
        <c:noMultiLvlLbl val="0"/>
      </c:catAx>
      <c:valAx>
        <c:axId val="185976704"/>
        <c:scaling>
          <c:orientation val="minMax"/>
        </c:scaling>
        <c:delete val="0"/>
        <c:axPos val="l"/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>
                <a:solidFill>
                  <a:schemeClr val="bg1">
                    <a:lumMod val="50000"/>
                  </a:schemeClr>
                </a:solidFill>
              </a:defRPr>
            </a:pPr>
            <a:endParaRPr lang="nl-NL"/>
          </a:p>
        </c:txPr>
        <c:crossAx val="185975168"/>
        <c:crosses val="autoZero"/>
        <c:crossBetween val="between"/>
        <c:dispUnits>
          <c:builtInUnit val="thousands"/>
          <c:dispUnitsLbl>
            <c:layout/>
            <c:tx>
              <c:rich>
                <a:bodyPr/>
                <a:lstStyle/>
                <a:p>
                  <a:pPr>
                    <a:defRPr sz="900" b="0">
                      <a:solidFill>
                        <a:schemeClr val="bg1">
                          <a:lumMod val="50000"/>
                        </a:schemeClr>
                      </a:solidFill>
                    </a:defRPr>
                  </a:pPr>
                  <a:r>
                    <a:rPr lang="nl-NL" sz="900" b="0" dirty="0" smtClean="0">
                      <a:solidFill>
                        <a:schemeClr val="bg1">
                          <a:lumMod val="50000"/>
                        </a:schemeClr>
                      </a:solidFill>
                    </a:rPr>
                    <a:t>Bezoeken (X 1.000)</a:t>
                  </a:r>
                  <a:endParaRPr lang="nl-NL" sz="900" b="0" dirty="0">
                    <a:solidFill>
                      <a:schemeClr val="bg1">
                        <a:lumMod val="50000"/>
                      </a:schemeClr>
                    </a:solidFill>
                  </a:endParaRPr>
                </a:p>
              </c:rich>
            </c:tx>
          </c:dispUnitsLbl>
        </c:dispUnits>
      </c:valAx>
      <c:spPr>
        <a:noFill/>
      </c:spPr>
    </c:plotArea>
    <c:legend>
      <c:legendPos val="b"/>
      <c:layout/>
      <c:overlay val="0"/>
      <c:txPr>
        <a:bodyPr/>
        <a:lstStyle/>
        <a:p>
          <a:pPr>
            <a:defRPr sz="900">
              <a:solidFill>
                <a:schemeClr val="accent2">
                  <a:lumMod val="50000"/>
                </a:schemeClr>
              </a:solidFill>
            </a:defRPr>
          </a:pPr>
          <a:endParaRPr lang="nl-NL"/>
        </a:p>
      </c:txPr>
    </c:legend>
    <c:plotVisOnly val="1"/>
    <c:dispBlanksAs val="gap"/>
    <c:showDLblsOverMax val="0"/>
  </c:chart>
  <c:spPr>
    <a:noFill/>
    <a:ln>
      <a:noFill/>
    </a:ln>
  </c:sp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</c:extLst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nl-NL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en-US" sz="1200" b="1" i="0" u="none" strike="noStrike" baseline="0" dirty="0" err="1"/>
              <a:t>Gemiddeld</a:t>
            </a:r>
            <a:r>
              <a:rPr lang="en-US" sz="1200" b="1" i="0" u="none" strike="noStrike" baseline="0" dirty="0"/>
              <a:t> </a:t>
            </a:r>
            <a:r>
              <a:rPr lang="en-US" sz="1200" b="1" i="0" u="none" strike="noStrike" baseline="0" dirty="0" err="1"/>
              <a:t>aantal</a:t>
            </a:r>
            <a:r>
              <a:rPr lang="en-US" sz="1200" b="1" i="0" u="none" strike="noStrike" baseline="0" dirty="0"/>
              <a:t>  </a:t>
            </a:r>
            <a:r>
              <a:rPr lang="en-US" sz="1200" b="1" i="0" u="none" strike="noStrike" baseline="0" dirty="0" err="1"/>
              <a:t>telefonische</a:t>
            </a:r>
            <a:r>
              <a:rPr lang="en-US" sz="1200" b="1" i="0" u="none" strike="noStrike" baseline="0" dirty="0"/>
              <a:t> </a:t>
            </a:r>
            <a:r>
              <a:rPr lang="en-US" sz="1200" b="1" i="0" u="none" strike="noStrike" baseline="0" dirty="0" err="1"/>
              <a:t>vragen</a:t>
            </a:r>
            <a:r>
              <a:rPr lang="en-US" sz="1200" b="1" i="0" u="none" strike="noStrike" baseline="0" dirty="0"/>
              <a:t> per </a:t>
            </a:r>
            <a:r>
              <a:rPr lang="en-US" sz="1200" b="1" i="0" u="none" strike="noStrike" baseline="0" dirty="0" err="1"/>
              <a:t>fase</a:t>
            </a:r>
            <a:r>
              <a:rPr lang="en-US" sz="1200" b="1" i="0" u="none" strike="noStrike" baseline="0" dirty="0"/>
              <a:t> </a:t>
            </a:r>
            <a:endParaRPr lang="en-US" sz="1200" dirty="0"/>
          </a:p>
        </c:rich>
      </c:tx>
      <c:layout>
        <c:manualLayout>
          <c:xMode val="edge"/>
          <c:yMode val="edge"/>
          <c:x val="0.33733176434046253"/>
          <c:y val="2.2286069401677946E-2"/>
        </c:manualLayout>
      </c:layout>
      <c:overlay val="0"/>
    </c:title>
    <c:autoTitleDeleted val="0"/>
    <c:plotArea>
      <c:layout>
        <c:manualLayout>
          <c:layoutTarget val="inner"/>
          <c:xMode val="edge"/>
          <c:yMode val="edge"/>
          <c:x val="0.33529139334867991"/>
          <c:y val="0.12404231198230002"/>
          <c:w val="0.61951569097995129"/>
          <c:h val="0.78442215359386269"/>
        </c:manualLayout>
      </c:layout>
      <c:barChart>
        <c:barDir val="bar"/>
        <c:grouping val="clustered"/>
        <c:varyColors val="0"/>
        <c:ser>
          <c:idx val="0"/>
          <c:order val="0"/>
          <c:spPr>
            <a:ln>
              <a:solidFill>
                <a:schemeClr val="tx1"/>
              </a:solidFill>
            </a:ln>
          </c:spPr>
          <c:invertIfNegative val="0"/>
          <c:dPt>
            <c:idx val="0"/>
            <c:invertIfNegative val="0"/>
            <c:bubble3D val="0"/>
            <c:spPr>
              <a:solidFill>
                <a:srgbClr val="FFFF00"/>
              </a:solidFill>
              <a:ln>
                <a:solidFill>
                  <a:schemeClr val="tx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3146-4BBD-A969-D51F88C94A04}"/>
              </c:ext>
            </c:extLst>
          </c:dPt>
          <c:dPt>
            <c:idx val="1"/>
            <c:invertIfNegative val="0"/>
            <c:bubble3D val="0"/>
            <c:spPr>
              <a:solidFill>
                <a:srgbClr val="00B050"/>
              </a:solidFill>
              <a:ln>
                <a:solidFill>
                  <a:schemeClr val="tx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3-3146-4BBD-A969-D51F88C94A04}"/>
              </c:ext>
            </c:extLst>
          </c:dPt>
          <c:dPt>
            <c:idx val="3"/>
            <c:invertIfNegative val="0"/>
            <c:bubble3D val="0"/>
            <c:spPr>
              <a:solidFill>
                <a:srgbClr val="FF0000"/>
              </a:solidFill>
              <a:ln>
                <a:solidFill>
                  <a:schemeClr val="tx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5-3146-4BBD-A969-D51F88C94A04}"/>
              </c:ext>
            </c:extLst>
          </c:dPt>
          <c:dPt>
            <c:idx val="4"/>
            <c:invertIfNegative val="0"/>
            <c:bubble3D val="0"/>
            <c:spPr>
              <a:solidFill>
                <a:schemeClr val="tx1"/>
              </a:solidFill>
              <a:ln>
                <a:solidFill>
                  <a:schemeClr val="tx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3146-4BBD-A969-D51F88C94A04}"/>
              </c:ext>
            </c:extLst>
          </c:dPt>
          <c:dPt>
            <c:idx val="5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tx1"/>
                </a:solidFill>
              </a:ln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3146-4BBD-A969-D51F88C94A04}"/>
              </c:ext>
            </c:extLst>
          </c:dPt>
          <c:dLbls>
            <c:numFmt formatCode="#,##0.00" sourceLinked="0"/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'Data topsheet 2'!$T$30:$T$35</c:f>
              <c:strCache>
                <c:ptCount val="6"/>
                <c:pt idx="0">
                  <c:v>01 WW Oriëntatie (107.524)</c:v>
                </c:pt>
                <c:pt idx="1">
                  <c:v>02 WW Aanvraag (tm Beslissing) (25.802)</c:v>
                </c:pt>
                <c:pt idx="2">
                  <c:v>03 WW Continuering (tm 3 mnd) (127.276)</c:v>
                </c:pt>
                <c:pt idx="3">
                  <c:v>04 WW Continuering (va 3 mnd) (294.630)</c:v>
                </c:pt>
                <c:pt idx="4">
                  <c:v>05 WW Na Afwijzing (13.412)</c:v>
                </c:pt>
                <c:pt idx="5">
                  <c:v>06 WW Na Beëindiging (84.850)</c:v>
                </c:pt>
              </c:strCache>
            </c:strRef>
          </c:cat>
          <c:val>
            <c:numRef>
              <c:f>'Data topsheet 2'!$U$30:$U$35</c:f>
              <c:numCache>
                <c:formatCode>0.00</c:formatCode>
                <c:ptCount val="6"/>
                <c:pt idx="0">
                  <c:v>0.11602060935233065</c:v>
                </c:pt>
                <c:pt idx="1">
                  <c:v>1.13049376017363</c:v>
                </c:pt>
                <c:pt idx="2">
                  <c:v>1.089105565856878</c:v>
                </c:pt>
                <c:pt idx="3">
                  <c:v>0.39098190951362727</c:v>
                </c:pt>
                <c:pt idx="4">
                  <c:v>0.55994631673128537</c:v>
                </c:pt>
                <c:pt idx="5">
                  <c:v>0.29323512080141428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A-3146-4BBD-A969-D51F88C94A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axId val="186019200"/>
        <c:axId val="186025088"/>
      </c:barChart>
      <c:catAx>
        <c:axId val="186019200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crossAx val="186025088"/>
        <c:crosses val="autoZero"/>
        <c:auto val="0"/>
        <c:lblAlgn val="ctr"/>
        <c:lblOffset val="100"/>
        <c:noMultiLvlLbl val="0"/>
      </c:catAx>
      <c:valAx>
        <c:axId val="186025088"/>
        <c:scaling>
          <c:orientation val="minMax"/>
        </c:scaling>
        <c:delete val="0"/>
        <c:axPos val="b"/>
        <c:majorGridlines/>
        <c:numFmt formatCode="#,##0.0" sourceLinked="0"/>
        <c:majorTickMark val="out"/>
        <c:minorTickMark val="none"/>
        <c:tickLblPos val="nextTo"/>
        <c:crossAx val="186019200"/>
        <c:crosses val="max"/>
        <c:crossBetween val="between"/>
      </c:valAx>
    </c:plotArea>
    <c:plotVisOnly val="1"/>
    <c:dispBlanksAs val="gap"/>
    <c:showDLblsOverMax val="0"/>
  </c:chart>
  <c:spPr>
    <a:noFill/>
    <a:ln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11D95B1-4994-4CD4-BFAD-48E3B9BF955C}" type="doc">
      <dgm:prSet loTypeId="urn:microsoft.com/office/officeart/2005/8/layout/radial4" loCatId="relationship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nl-NL"/>
        </a:p>
      </dgm:t>
    </dgm:pt>
    <dgm:pt modelId="{08898F0F-E239-457F-82C7-319ACBC29806}">
      <dgm:prSet phldrT="[Tekst]" custT="1"/>
      <dgm:spPr>
        <a:ln w="19050"/>
      </dgm:spPr>
      <dgm:t>
        <a:bodyPr/>
        <a:lstStyle/>
        <a:p>
          <a:r>
            <a:rPr lang="nl-NL" sz="1400" dirty="0"/>
            <a:t>Focus/</a:t>
          </a:r>
          <a:br>
            <a:rPr lang="nl-NL" sz="1400" dirty="0"/>
          </a:br>
          <a:r>
            <a:rPr lang="nl-NL" sz="1400" dirty="0"/>
            <a:t>aandacht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7F62358-1760-4193-8E4A-ECCD941A9630}" type="parTrans" cxnId="{32DEBB20-A817-4BB0-B0B5-55F23E965464}">
      <dgm:prSet/>
      <dgm:spPr/>
      <dgm:t>
        <a:bodyPr/>
        <a:lstStyle/>
        <a:p>
          <a:endParaRPr lang="nl-NL"/>
        </a:p>
      </dgm:t>
    </dgm:pt>
    <dgm:pt modelId="{FBFADDB3-AD35-490E-B3ED-3EFDB355E28B}" type="sibTrans" cxnId="{32DEBB20-A817-4BB0-B0B5-55F23E965464}">
      <dgm:prSet/>
      <dgm:spPr/>
      <dgm:t>
        <a:bodyPr/>
        <a:lstStyle/>
        <a:p>
          <a:endParaRPr lang="nl-NL"/>
        </a:p>
      </dgm:t>
    </dgm:pt>
    <dgm:pt modelId="{DDE56368-9CE8-45C0-8CB1-66CD2A7E4061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1: </a:t>
          </a:r>
          <a:r>
            <a:rPr lang="nl-NL" sz="1400" dirty="0"/>
            <a:t>Kleur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2369F7A-5D51-4441-9880-95E0BC4765F5}" type="parTrans" cxnId="{8C5F1478-36E6-4536-BD94-37BD4B91E15F}">
      <dgm:prSet/>
      <dgm:spPr/>
      <dgm:t>
        <a:bodyPr/>
        <a:lstStyle/>
        <a:p>
          <a:endParaRPr lang="nl-NL"/>
        </a:p>
      </dgm:t>
    </dgm:pt>
    <dgm:pt modelId="{F649A31B-9663-4B8E-B9B0-1DF6A3EE951A}" type="sibTrans" cxnId="{8C5F1478-36E6-4536-BD94-37BD4B91E15F}">
      <dgm:prSet/>
      <dgm:spPr/>
      <dgm:t>
        <a:bodyPr/>
        <a:lstStyle/>
        <a:p>
          <a:endParaRPr lang="nl-NL"/>
        </a:p>
      </dgm:t>
    </dgm:pt>
    <dgm:pt modelId="{59DD4382-F485-4D4C-8413-FDFF75AACB0E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3: </a:t>
          </a:r>
          <a:r>
            <a:rPr lang="nl-NL" sz="1400" dirty="0"/>
            <a:t>Locatie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5072079A-714D-4B3D-80C0-735F1C35E1E0}" type="parTrans" cxnId="{EA8463E3-A2EC-4E44-80FF-C3D01D570A70}">
      <dgm:prSet/>
      <dgm:spPr/>
      <dgm:t>
        <a:bodyPr/>
        <a:lstStyle/>
        <a:p>
          <a:endParaRPr lang="nl-NL"/>
        </a:p>
      </dgm:t>
    </dgm:pt>
    <dgm:pt modelId="{56EF2C6B-A487-4BC4-A07F-95D2874C9FFA}" type="sibTrans" cxnId="{EA8463E3-A2EC-4E44-80FF-C3D01D570A70}">
      <dgm:prSet/>
      <dgm:spPr/>
      <dgm:t>
        <a:bodyPr/>
        <a:lstStyle/>
        <a:p>
          <a:endParaRPr lang="nl-NL"/>
        </a:p>
      </dgm:t>
    </dgm:pt>
    <dgm:pt modelId="{B9787903-2FC8-45BF-B082-CD4965CA7C5D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59E04BD0-14B7-45E5-8E0C-816429652BC4}" type="parTrans" cxnId="{57AB1FE1-83C8-459A-8179-13888F72FC3C}">
      <dgm:prSet/>
      <dgm:spPr/>
      <dgm:t>
        <a:bodyPr/>
        <a:lstStyle/>
        <a:p>
          <a:endParaRPr lang="nl-NL"/>
        </a:p>
      </dgm:t>
    </dgm:pt>
    <dgm:pt modelId="{E803D143-6A84-4FCA-A11E-1121761BDC4E}" type="sibTrans" cxnId="{57AB1FE1-83C8-459A-8179-13888F72FC3C}">
      <dgm:prSet/>
      <dgm:spPr/>
      <dgm:t>
        <a:bodyPr/>
        <a:lstStyle/>
        <a:p>
          <a:endParaRPr lang="nl-NL"/>
        </a:p>
      </dgm:t>
    </dgm:pt>
    <dgm:pt modelId="{A9269E0B-6A5A-452A-BF7E-A2C56675314E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BEF0A53B-5825-425B-9D2C-5C72F9F22ED1}" type="parTrans" cxnId="{9986D612-E9B7-4742-B55C-B02CF6F509F0}">
      <dgm:prSet/>
      <dgm:spPr/>
      <dgm:t>
        <a:bodyPr/>
        <a:lstStyle/>
        <a:p>
          <a:endParaRPr lang="nl-NL"/>
        </a:p>
      </dgm:t>
    </dgm:pt>
    <dgm:pt modelId="{36C0CB37-7029-483A-A8D5-9069B4C2A63A}" type="sibTrans" cxnId="{9986D612-E9B7-4742-B55C-B02CF6F509F0}">
      <dgm:prSet/>
      <dgm:spPr/>
      <dgm:t>
        <a:bodyPr/>
        <a:lstStyle/>
        <a:p>
          <a:endParaRPr lang="nl-NL"/>
        </a:p>
      </dgm:t>
    </dgm:pt>
    <dgm:pt modelId="{9AF7422E-01EB-43F4-B6F1-A2F68A9F50DA}">
      <dgm:prSet custScaleX="59805" custScaleY="68734" custRadScaleRad="123307" custRadScaleInc="-1803"/>
      <dgm:spPr/>
      <dgm:t>
        <a:bodyPr/>
        <a:lstStyle/>
        <a:p>
          <a:endParaRPr lang="nl-NL"/>
        </a:p>
      </dgm:t>
    </dgm:pt>
    <dgm:pt modelId="{9304B422-684C-43D5-954D-BB03B8305118}" type="parTrans" cxnId="{6D32ED76-CD1E-4D83-87D5-44CFC949DA4A}">
      <dgm:prSet custLinFactY="100000" custLinFactNeighborX="658" custLinFactNeighborY="125812"/>
      <dgm:spPr/>
      <dgm:t>
        <a:bodyPr/>
        <a:lstStyle/>
        <a:p>
          <a:endParaRPr lang="nl-NL"/>
        </a:p>
      </dgm:t>
    </dgm:pt>
    <dgm:pt modelId="{5E2ECA00-B37F-4290-99B9-2A1366371E83}" type="sibTrans" cxnId="{6D32ED76-CD1E-4D83-87D5-44CFC949DA4A}">
      <dgm:prSet/>
      <dgm:spPr/>
      <dgm:t>
        <a:bodyPr/>
        <a:lstStyle/>
        <a:p>
          <a:endParaRPr lang="nl-NL"/>
        </a:p>
      </dgm:t>
    </dgm:pt>
    <dgm:pt modelId="{99B54927-504C-4582-93F2-3221F7C5C1DE}">
      <dgm:prSet custT="1"/>
      <dgm:spPr>
        <a:ln w="19050"/>
      </dgm:spPr>
      <dgm:t>
        <a:bodyPr/>
        <a:lstStyle/>
        <a:p>
          <a:r>
            <a:rPr lang="nl-NL" sz="1400" dirty="0"/>
            <a:t>Type grafiek</a:t>
          </a:r>
          <a:br>
            <a:rPr lang="nl-NL" sz="1400" dirty="0"/>
          </a:br>
          <a:endParaRPr lang="nl-NL" sz="900" i="1" dirty="0">
            <a:solidFill>
              <a:srgbClr val="0070C0"/>
            </a:solidFill>
          </a:endParaRPr>
        </a:p>
      </dgm:t>
    </dgm:pt>
    <dgm:pt modelId="{0ABBAB33-E927-4481-A0CD-35632AE9AF03}" type="parTrans" cxnId="{0560C6CA-5853-41E9-8FE6-77378963329B}">
      <dgm:prSet/>
      <dgm:spPr/>
      <dgm:t>
        <a:bodyPr/>
        <a:lstStyle/>
        <a:p>
          <a:endParaRPr lang="nl-NL"/>
        </a:p>
      </dgm:t>
    </dgm:pt>
    <dgm:pt modelId="{10C557F4-032E-482A-8538-0A7BAD3D3185}" type="sibTrans" cxnId="{0560C6CA-5853-41E9-8FE6-77378963329B}">
      <dgm:prSet/>
      <dgm:spPr/>
      <dgm:t>
        <a:bodyPr/>
        <a:lstStyle/>
        <a:p>
          <a:endParaRPr lang="nl-NL"/>
        </a:p>
      </dgm:t>
    </dgm:pt>
    <dgm:pt modelId="{6C8B9E4F-CC21-402B-AC6C-B49C7572905A}">
      <dgm:prSet custT="1"/>
      <dgm:spPr/>
      <dgm:t>
        <a:bodyPr/>
        <a:lstStyle/>
        <a:p>
          <a:r>
            <a:rPr lang="nl-NL" sz="1400" dirty="0">
              <a:solidFill>
                <a:srgbClr val="0070C0"/>
              </a:solidFill>
            </a:rPr>
            <a:t>Datavisualisatie</a:t>
          </a:r>
          <a:br>
            <a:rPr lang="nl-NL" sz="1400" dirty="0">
              <a:solidFill>
                <a:srgbClr val="0070C0"/>
              </a:solidFill>
            </a:rPr>
          </a:br>
          <a:r>
            <a:rPr lang="nl-NL" sz="900" i="1" dirty="0">
              <a:solidFill>
                <a:schemeClr val="tx1"/>
              </a:solidFill>
            </a:rPr>
            <a:t>(het dashboard)</a:t>
          </a:r>
        </a:p>
      </dgm:t>
    </dgm:pt>
    <dgm:pt modelId="{9C39AFF1-ECAA-4C46-A131-B4951FF52FFB}" type="parTrans" cxnId="{4F74025E-1644-4420-95EA-E72253D1B4DA}">
      <dgm:prSet/>
      <dgm:spPr/>
      <dgm:t>
        <a:bodyPr/>
        <a:lstStyle/>
        <a:p>
          <a:endParaRPr lang="nl-NL"/>
        </a:p>
      </dgm:t>
    </dgm:pt>
    <dgm:pt modelId="{B1C5D839-D369-4BC4-A42D-CAA25475F772}" type="sibTrans" cxnId="{4F74025E-1644-4420-95EA-E72253D1B4DA}">
      <dgm:prSet/>
      <dgm:spPr/>
      <dgm:t>
        <a:bodyPr/>
        <a:lstStyle/>
        <a:p>
          <a:endParaRPr lang="nl-NL"/>
        </a:p>
      </dgm:t>
    </dgm:pt>
    <dgm:pt modelId="{1F6D73FF-6552-4C16-92E7-B01B3F969CE2}">
      <dgm:prSet phldrT="[Tekst]" custT="1"/>
      <dgm:spPr>
        <a:ln w="12700"/>
      </dgm:spPr>
      <dgm:t>
        <a:bodyPr/>
        <a:lstStyle/>
        <a:p>
          <a:r>
            <a:rPr lang="nl-NL" sz="900" i="1" dirty="0">
              <a:solidFill>
                <a:srgbClr val="0070C0"/>
              </a:solidFill>
            </a:rPr>
            <a:t>principe 2: </a:t>
          </a:r>
          <a:r>
            <a:rPr lang="nl-NL" sz="1400" b="0" dirty="0"/>
            <a:t>Data-</a:t>
          </a:r>
          <a:r>
            <a:rPr lang="nl-NL" sz="1400" b="0" dirty="0" err="1"/>
            <a:t>Ink</a:t>
          </a:r>
          <a:r>
            <a:rPr lang="nl-NL" sz="1800" b="0" dirty="0"/>
            <a:t> </a:t>
          </a:r>
          <a:r>
            <a:rPr lang="nl-NL" sz="1400" b="0" dirty="0"/>
            <a:t>ratio</a:t>
          </a:r>
          <a:br>
            <a:rPr lang="nl-NL" sz="1400" b="0" dirty="0"/>
          </a:br>
          <a:endParaRPr lang="nl-NL" sz="900" b="0" i="1" dirty="0">
            <a:solidFill>
              <a:srgbClr val="0070C0"/>
            </a:solidFill>
          </a:endParaRPr>
        </a:p>
      </dgm:t>
    </dgm:pt>
    <dgm:pt modelId="{D5CD7FDA-6875-4928-9F69-34929E344835}" type="sibTrans" cxnId="{5CF73604-B9D4-40B0-B0FA-621EBDC0767A}">
      <dgm:prSet/>
      <dgm:spPr/>
      <dgm:t>
        <a:bodyPr/>
        <a:lstStyle/>
        <a:p>
          <a:endParaRPr lang="nl-NL"/>
        </a:p>
      </dgm:t>
    </dgm:pt>
    <dgm:pt modelId="{AD9A216F-228A-4FE1-AAF9-882D183EEB84}" type="parTrans" cxnId="{5CF73604-B9D4-40B0-B0FA-621EBDC0767A}">
      <dgm:prSet/>
      <dgm:spPr/>
      <dgm:t>
        <a:bodyPr/>
        <a:lstStyle/>
        <a:p>
          <a:endParaRPr lang="nl-NL"/>
        </a:p>
      </dgm:t>
    </dgm:pt>
    <dgm:pt modelId="{757A2459-52D7-46E1-A251-04395E7E9B31}" type="pres">
      <dgm:prSet presAssocID="{011D95B1-4994-4CD4-BFAD-48E3B9BF955C}" presName="cycle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nl-NL"/>
        </a:p>
      </dgm:t>
    </dgm:pt>
    <dgm:pt modelId="{3EC6703B-8242-4C54-8BC5-FFD846E8F894}" type="pres">
      <dgm:prSet presAssocID="{08898F0F-E239-457F-82C7-319ACBC29806}" presName="centerShape" presStyleLbl="node0" presStyleIdx="0" presStyleCnt="1" custScaleX="90394" custScaleY="81039" custLinFactNeighborX="1226" custLinFactNeighborY="-21005"/>
      <dgm:spPr/>
      <dgm:t>
        <a:bodyPr/>
        <a:lstStyle/>
        <a:p>
          <a:endParaRPr lang="nl-NL"/>
        </a:p>
      </dgm:t>
    </dgm:pt>
    <dgm:pt modelId="{D6B26FEF-D2DD-4FC2-A5AD-0DA369B792F7}" type="pres">
      <dgm:prSet presAssocID="{0ABBAB33-E927-4481-A0CD-35632AE9AF03}" presName="parTrans" presStyleLbl="bgSibTrans2D1" presStyleIdx="0" presStyleCnt="5" custAng="17055821" custScaleX="98480" custLinFactY="56634" custLinFactNeighborX="23613" custLinFactNeighborY="100000"/>
      <dgm:spPr/>
      <dgm:t>
        <a:bodyPr/>
        <a:lstStyle/>
        <a:p>
          <a:endParaRPr lang="nl-NL"/>
        </a:p>
      </dgm:t>
    </dgm:pt>
    <dgm:pt modelId="{5D3DD682-1B4B-4A7E-976F-048893C77F7F}" type="pres">
      <dgm:prSet presAssocID="{99B54927-504C-4582-93F2-3221F7C5C1DE}" presName="node" presStyleLbl="node1" presStyleIdx="0" presStyleCnt="5" custScaleX="68827" custScaleY="74598" custRadScaleRad="84796" custRadScaleInc="451840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E8FEEA5-BE85-4727-9984-E0A875AF2732}" type="pres">
      <dgm:prSet presAssocID="{02369F7A-5D51-4441-9880-95E0BC4765F5}" presName="parTrans" presStyleLbl="bgSibTrans2D1" presStyleIdx="1" presStyleCnt="5" custScaleX="91485" custLinFactNeighborX="12819" custLinFactNeighborY="-16305"/>
      <dgm:spPr/>
      <dgm:t>
        <a:bodyPr/>
        <a:lstStyle/>
        <a:p>
          <a:endParaRPr lang="nl-NL"/>
        </a:p>
      </dgm:t>
    </dgm:pt>
    <dgm:pt modelId="{C2F263C1-D4B8-4667-AB40-967C777C2D9A}" type="pres">
      <dgm:prSet presAssocID="{DDE56368-9CE8-45C0-8CB1-66CD2A7E4061}" presName="node" presStyleLbl="node1" presStyleIdx="1" presStyleCnt="5" custScaleX="59805" custScaleY="68734" custRadScaleRad="127645" custRadScaleInc="-3535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B4D26FDC-2F6E-4973-8B28-C7CBA5CD952C}" type="pres">
      <dgm:prSet presAssocID="{AD9A216F-228A-4FE1-AAF9-882D183EEB84}" presName="parTrans" presStyleLbl="bgSibTrans2D1" presStyleIdx="2" presStyleCnt="5"/>
      <dgm:spPr/>
      <dgm:t>
        <a:bodyPr/>
        <a:lstStyle/>
        <a:p>
          <a:endParaRPr lang="nl-NL"/>
        </a:p>
      </dgm:t>
    </dgm:pt>
    <dgm:pt modelId="{6A628051-F6DD-4E32-9D01-5E5AB57F85CE}" type="pres">
      <dgm:prSet presAssocID="{1F6D73FF-6552-4C16-92E7-B01B3F969CE2}" presName="node" presStyleLbl="node1" presStyleIdx="2" presStyleCnt="5" custScaleX="72208" custScaleY="78546" custRadScaleRad="125701" custRadScaleInc="-60679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67D901E3-9E32-4E02-899E-7DEF85466FD7}" type="pres">
      <dgm:prSet presAssocID="{5072079A-714D-4B3D-80C0-735F1C35E1E0}" presName="parTrans" presStyleLbl="bgSibTrans2D1" presStyleIdx="3" presStyleCnt="5" custLinFactNeighborX="-12979" custLinFactNeighborY="-14661"/>
      <dgm:spPr/>
      <dgm:t>
        <a:bodyPr/>
        <a:lstStyle/>
        <a:p>
          <a:endParaRPr lang="nl-NL"/>
        </a:p>
      </dgm:t>
    </dgm:pt>
    <dgm:pt modelId="{D142B962-8938-437B-9319-59E99F7AB3E5}" type="pres">
      <dgm:prSet presAssocID="{59DD4382-F485-4D4C-8413-FDFF75AACB0E}" presName="node" presStyleLbl="node1" presStyleIdx="3" presStyleCnt="5" custScaleX="69892" custScaleY="65275" custRadScaleRad="133709" custRadScaleInc="-123028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  <dgm:pt modelId="{1289CCA2-8947-44A3-A4BC-633ECDFC8383}" type="pres">
      <dgm:prSet presAssocID="{9C39AFF1-ECAA-4C46-A131-B4951FF52FFB}" presName="parTrans" presStyleLbl="bgSibTrans2D1" presStyleIdx="4" presStyleCnt="5" custAng="11144655" custScaleX="55140" custLinFactNeighborX="-22438" custLinFactNeighborY="-81682"/>
      <dgm:spPr/>
      <dgm:t>
        <a:bodyPr/>
        <a:lstStyle/>
        <a:p>
          <a:endParaRPr lang="nl-NL"/>
        </a:p>
      </dgm:t>
    </dgm:pt>
    <dgm:pt modelId="{E7500E05-D836-4DDA-8D7C-B0D057FEB3EF}" type="pres">
      <dgm:prSet presAssocID="{6C8B9E4F-CC21-402B-AC6C-B49C7572905A}" presName="node" presStyleLbl="node1" presStyleIdx="4" presStyleCnt="5" custScaleX="127694" custRadScaleRad="95392" custRadScaleInc="95139">
        <dgm:presLayoutVars>
          <dgm:bulletEnabled val="1"/>
        </dgm:presLayoutVars>
      </dgm:prSet>
      <dgm:spPr/>
      <dgm:t>
        <a:bodyPr/>
        <a:lstStyle/>
        <a:p>
          <a:endParaRPr lang="nl-NL"/>
        </a:p>
      </dgm:t>
    </dgm:pt>
  </dgm:ptLst>
  <dgm:cxnLst>
    <dgm:cxn modelId="{272A7B2E-69F8-4F47-8725-74713D65FCE9}" type="presOf" srcId="{9C39AFF1-ECAA-4C46-A131-B4951FF52FFB}" destId="{1289CCA2-8947-44A3-A4BC-633ECDFC8383}" srcOrd="0" destOrd="0" presId="urn:microsoft.com/office/officeart/2005/8/layout/radial4"/>
    <dgm:cxn modelId="{81D07027-A4A4-4E4D-AA25-ED74D2951C01}" type="presOf" srcId="{0ABBAB33-E927-4481-A0CD-35632AE9AF03}" destId="{D6B26FEF-D2DD-4FC2-A5AD-0DA369B792F7}" srcOrd="0" destOrd="0" presId="urn:microsoft.com/office/officeart/2005/8/layout/radial4"/>
    <dgm:cxn modelId="{B9099268-3B45-4419-A991-30C8C4E822E1}" type="presOf" srcId="{59DD4382-F485-4D4C-8413-FDFF75AACB0E}" destId="{D142B962-8938-437B-9319-59E99F7AB3E5}" srcOrd="0" destOrd="0" presId="urn:microsoft.com/office/officeart/2005/8/layout/radial4"/>
    <dgm:cxn modelId="{497BF3C2-B4FF-4F4C-BF90-B2331C5B1603}" type="presOf" srcId="{99B54927-504C-4582-93F2-3221F7C5C1DE}" destId="{5D3DD682-1B4B-4A7E-976F-048893C77F7F}" srcOrd="0" destOrd="0" presId="urn:microsoft.com/office/officeart/2005/8/layout/radial4"/>
    <dgm:cxn modelId="{6D32ED76-CD1E-4D83-87D5-44CFC949DA4A}" srcId="{011D95B1-4994-4CD4-BFAD-48E3B9BF955C}" destId="{9AF7422E-01EB-43F4-B6F1-A2F68A9F50DA}" srcOrd="3" destOrd="0" parTransId="{9304B422-684C-43D5-954D-BB03B8305118}" sibTransId="{5E2ECA00-B37F-4290-99B9-2A1366371E83}"/>
    <dgm:cxn modelId="{4F74025E-1644-4420-95EA-E72253D1B4DA}" srcId="{08898F0F-E239-457F-82C7-319ACBC29806}" destId="{6C8B9E4F-CC21-402B-AC6C-B49C7572905A}" srcOrd="4" destOrd="0" parTransId="{9C39AFF1-ECAA-4C46-A131-B4951FF52FFB}" sibTransId="{B1C5D839-D369-4BC4-A42D-CAA25475F772}"/>
    <dgm:cxn modelId="{E96BF123-8117-44E0-826B-82331877EB6E}" type="presOf" srcId="{DDE56368-9CE8-45C0-8CB1-66CD2A7E4061}" destId="{C2F263C1-D4B8-4667-AB40-967C777C2D9A}" srcOrd="0" destOrd="0" presId="urn:microsoft.com/office/officeart/2005/8/layout/radial4"/>
    <dgm:cxn modelId="{C53BE0FC-906A-45E9-A292-E8A227C13266}" type="presOf" srcId="{AD9A216F-228A-4FE1-AAF9-882D183EEB84}" destId="{B4D26FDC-2F6E-4973-8B28-C7CBA5CD952C}" srcOrd="0" destOrd="0" presId="urn:microsoft.com/office/officeart/2005/8/layout/radial4"/>
    <dgm:cxn modelId="{0626055F-8A34-44FA-A7DD-63E094549AE2}" type="presOf" srcId="{6C8B9E4F-CC21-402B-AC6C-B49C7572905A}" destId="{E7500E05-D836-4DDA-8D7C-B0D057FEB3EF}" srcOrd="0" destOrd="0" presId="urn:microsoft.com/office/officeart/2005/8/layout/radial4"/>
    <dgm:cxn modelId="{32DEBB20-A817-4BB0-B0B5-55F23E965464}" srcId="{011D95B1-4994-4CD4-BFAD-48E3B9BF955C}" destId="{08898F0F-E239-457F-82C7-319ACBC29806}" srcOrd="0" destOrd="0" parTransId="{07F62358-1760-4193-8E4A-ECCD941A9630}" sibTransId="{FBFADDB3-AD35-490E-B3ED-3EFDB355E28B}"/>
    <dgm:cxn modelId="{EA8463E3-A2EC-4E44-80FF-C3D01D570A70}" srcId="{08898F0F-E239-457F-82C7-319ACBC29806}" destId="{59DD4382-F485-4D4C-8413-FDFF75AACB0E}" srcOrd="3" destOrd="0" parTransId="{5072079A-714D-4B3D-80C0-735F1C35E1E0}" sibTransId="{56EF2C6B-A487-4BC4-A07F-95D2874C9FFA}"/>
    <dgm:cxn modelId="{5CF73604-B9D4-40B0-B0FA-621EBDC0767A}" srcId="{08898F0F-E239-457F-82C7-319ACBC29806}" destId="{1F6D73FF-6552-4C16-92E7-B01B3F969CE2}" srcOrd="2" destOrd="0" parTransId="{AD9A216F-228A-4FE1-AAF9-882D183EEB84}" sibTransId="{D5CD7FDA-6875-4928-9F69-34929E344835}"/>
    <dgm:cxn modelId="{9986D612-E9B7-4742-B55C-B02CF6F509F0}" srcId="{011D95B1-4994-4CD4-BFAD-48E3B9BF955C}" destId="{A9269E0B-6A5A-452A-BF7E-A2C56675314E}" srcOrd="2" destOrd="0" parTransId="{BEF0A53B-5825-425B-9D2C-5C72F9F22ED1}" sibTransId="{36C0CB37-7029-483A-A8D5-9069B4C2A63A}"/>
    <dgm:cxn modelId="{0560C6CA-5853-41E9-8FE6-77378963329B}" srcId="{08898F0F-E239-457F-82C7-319ACBC29806}" destId="{99B54927-504C-4582-93F2-3221F7C5C1DE}" srcOrd="0" destOrd="0" parTransId="{0ABBAB33-E927-4481-A0CD-35632AE9AF03}" sibTransId="{10C557F4-032E-482A-8538-0A7BAD3D3185}"/>
    <dgm:cxn modelId="{57AB1FE1-83C8-459A-8179-13888F72FC3C}" srcId="{011D95B1-4994-4CD4-BFAD-48E3B9BF955C}" destId="{B9787903-2FC8-45BF-B082-CD4965CA7C5D}" srcOrd="1" destOrd="0" parTransId="{59E04BD0-14B7-45E5-8E0C-816429652BC4}" sibTransId="{E803D143-6A84-4FCA-A11E-1121761BDC4E}"/>
    <dgm:cxn modelId="{44BF680B-BC34-4ADC-9843-0FBEAF20BD7A}" type="presOf" srcId="{1F6D73FF-6552-4C16-92E7-B01B3F969CE2}" destId="{6A628051-F6DD-4E32-9D01-5E5AB57F85CE}" srcOrd="0" destOrd="0" presId="urn:microsoft.com/office/officeart/2005/8/layout/radial4"/>
    <dgm:cxn modelId="{9F0B4C1B-9FED-4AE1-AEF6-6818E672D74E}" type="presOf" srcId="{02369F7A-5D51-4441-9880-95E0BC4765F5}" destId="{6E8FEEA5-BE85-4727-9984-E0A875AF2732}" srcOrd="0" destOrd="0" presId="urn:microsoft.com/office/officeart/2005/8/layout/radial4"/>
    <dgm:cxn modelId="{8C5F1478-36E6-4536-BD94-37BD4B91E15F}" srcId="{08898F0F-E239-457F-82C7-319ACBC29806}" destId="{DDE56368-9CE8-45C0-8CB1-66CD2A7E4061}" srcOrd="1" destOrd="0" parTransId="{02369F7A-5D51-4441-9880-95E0BC4765F5}" sibTransId="{F649A31B-9663-4B8E-B9B0-1DF6A3EE951A}"/>
    <dgm:cxn modelId="{30B4BFA2-19BE-4F71-8603-7C1D97CD2125}" type="presOf" srcId="{5072079A-714D-4B3D-80C0-735F1C35E1E0}" destId="{67D901E3-9E32-4E02-899E-7DEF85466FD7}" srcOrd="0" destOrd="0" presId="urn:microsoft.com/office/officeart/2005/8/layout/radial4"/>
    <dgm:cxn modelId="{B77513CF-489D-4A0B-89CC-F1405B0F9980}" type="presOf" srcId="{08898F0F-E239-457F-82C7-319ACBC29806}" destId="{3EC6703B-8242-4C54-8BC5-FFD846E8F894}" srcOrd="0" destOrd="0" presId="urn:microsoft.com/office/officeart/2005/8/layout/radial4"/>
    <dgm:cxn modelId="{60A4CC52-9DFF-4D9B-9225-70AAA93CDC8E}" type="presOf" srcId="{011D95B1-4994-4CD4-BFAD-48E3B9BF955C}" destId="{757A2459-52D7-46E1-A251-04395E7E9B31}" srcOrd="0" destOrd="0" presId="urn:microsoft.com/office/officeart/2005/8/layout/radial4"/>
    <dgm:cxn modelId="{3D64E4A6-3BF6-47EC-AF29-B0BC695B3004}" type="presParOf" srcId="{757A2459-52D7-46E1-A251-04395E7E9B31}" destId="{3EC6703B-8242-4C54-8BC5-FFD846E8F894}" srcOrd="0" destOrd="0" presId="urn:microsoft.com/office/officeart/2005/8/layout/radial4"/>
    <dgm:cxn modelId="{A5F92C61-3D95-4FC2-836B-8E5DB87C3B83}" type="presParOf" srcId="{757A2459-52D7-46E1-A251-04395E7E9B31}" destId="{D6B26FEF-D2DD-4FC2-A5AD-0DA369B792F7}" srcOrd="1" destOrd="0" presId="urn:microsoft.com/office/officeart/2005/8/layout/radial4"/>
    <dgm:cxn modelId="{4E2CBC1B-E711-44B9-9410-63E17D908022}" type="presParOf" srcId="{757A2459-52D7-46E1-A251-04395E7E9B31}" destId="{5D3DD682-1B4B-4A7E-976F-048893C77F7F}" srcOrd="2" destOrd="0" presId="urn:microsoft.com/office/officeart/2005/8/layout/radial4"/>
    <dgm:cxn modelId="{2F3F865A-B773-416B-98CE-D05BAF0B55C3}" type="presParOf" srcId="{757A2459-52D7-46E1-A251-04395E7E9B31}" destId="{6E8FEEA5-BE85-4727-9984-E0A875AF2732}" srcOrd="3" destOrd="0" presId="urn:microsoft.com/office/officeart/2005/8/layout/radial4"/>
    <dgm:cxn modelId="{F3D6B585-2796-4962-8088-1C05E9282A19}" type="presParOf" srcId="{757A2459-52D7-46E1-A251-04395E7E9B31}" destId="{C2F263C1-D4B8-4667-AB40-967C777C2D9A}" srcOrd="4" destOrd="0" presId="urn:microsoft.com/office/officeart/2005/8/layout/radial4"/>
    <dgm:cxn modelId="{4BD9B117-D5B0-4C83-82D8-44F6DA4E03CC}" type="presParOf" srcId="{757A2459-52D7-46E1-A251-04395E7E9B31}" destId="{B4D26FDC-2F6E-4973-8B28-C7CBA5CD952C}" srcOrd="5" destOrd="0" presId="urn:microsoft.com/office/officeart/2005/8/layout/radial4"/>
    <dgm:cxn modelId="{3EADFCA2-A6F0-4F09-9771-402862D88FC3}" type="presParOf" srcId="{757A2459-52D7-46E1-A251-04395E7E9B31}" destId="{6A628051-F6DD-4E32-9D01-5E5AB57F85CE}" srcOrd="6" destOrd="0" presId="urn:microsoft.com/office/officeart/2005/8/layout/radial4"/>
    <dgm:cxn modelId="{F8F35AD1-B744-46F4-A524-4BA3245905ED}" type="presParOf" srcId="{757A2459-52D7-46E1-A251-04395E7E9B31}" destId="{67D901E3-9E32-4E02-899E-7DEF85466FD7}" srcOrd="7" destOrd="0" presId="urn:microsoft.com/office/officeart/2005/8/layout/radial4"/>
    <dgm:cxn modelId="{C7D554AF-5513-49E7-A4C6-AEA740312962}" type="presParOf" srcId="{757A2459-52D7-46E1-A251-04395E7E9B31}" destId="{D142B962-8938-437B-9319-59E99F7AB3E5}" srcOrd="8" destOrd="0" presId="urn:microsoft.com/office/officeart/2005/8/layout/radial4"/>
    <dgm:cxn modelId="{DEC73D40-E057-4C60-BC12-8230A94FCCEA}" type="presParOf" srcId="{757A2459-52D7-46E1-A251-04395E7E9B31}" destId="{1289CCA2-8947-44A3-A4BC-633ECDFC8383}" srcOrd="9" destOrd="0" presId="urn:microsoft.com/office/officeart/2005/8/layout/radial4"/>
    <dgm:cxn modelId="{F2A2A6B2-1096-4C87-9CF4-D7AC1E18FBAB}" type="presParOf" srcId="{757A2459-52D7-46E1-A251-04395E7E9B31}" destId="{E7500E05-D836-4DDA-8D7C-B0D057FEB3EF}" srcOrd="10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EC6703B-8242-4C54-8BC5-FFD846E8F894}">
      <dsp:nvSpPr>
        <dsp:cNvPr id="0" name=""/>
        <dsp:cNvSpPr/>
      </dsp:nvSpPr>
      <dsp:spPr>
        <a:xfrm>
          <a:off x="1961881" y="2193822"/>
          <a:ext cx="1278480" cy="114616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kern="1200" dirty="0"/>
            <a:t>Focus/</a:t>
          </a:r>
          <a:br>
            <a:rPr lang="nl-NL" sz="1400" kern="1200" dirty="0"/>
          </a:br>
          <a:r>
            <a:rPr lang="nl-NL" sz="1400" kern="1200" dirty="0"/>
            <a:t>aandacht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49110" y="2361674"/>
        <a:ext cx="904022" cy="810464"/>
      </dsp:txXfrm>
    </dsp:sp>
    <dsp:sp modelId="{D6B26FEF-D2DD-4FC2-A5AD-0DA369B792F7}">
      <dsp:nvSpPr>
        <dsp:cNvPr id="0" name=""/>
        <dsp:cNvSpPr/>
      </dsp:nvSpPr>
      <dsp:spPr>
        <a:xfrm rot="17778202">
          <a:off x="3504949" y="3442706"/>
          <a:ext cx="958593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3DD682-1B4B-4A7E-976F-048893C77F7F}">
      <dsp:nvSpPr>
        <dsp:cNvPr id="0" name=""/>
        <dsp:cNvSpPr/>
      </dsp:nvSpPr>
      <dsp:spPr>
        <a:xfrm>
          <a:off x="3768000" y="2713470"/>
          <a:ext cx="924776" cy="80185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kern="1200" dirty="0"/>
            <a:t>Type grafiek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3791485" y="2736955"/>
        <a:ext cx="877806" cy="754883"/>
      </dsp:txXfrm>
    </dsp:sp>
    <dsp:sp modelId="{6E8FEEA5-BE85-4727-9984-E0A875AF2732}">
      <dsp:nvSpPr>
        <dsp:cNvPr id="0" name=""/>
        <dsp:cNvSpPr/>
      </dsp:nvSpPr>
      <dsp:spPr>
        <a:xfrm rot="12361084">
          <a:off x="812876" y="1864050"/>
          <a:ext cx="135083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F263C1-D4B8-4667-AB40-967C777C2D9A}">
      <dsp:nvSpPr>
        <dsp:cNvPr id="0" name=""/>
        <dsp:cNvSpPr/>
      </dsp:nvSpPr>
      <dsp:spPr>
        <a:xfrm>
          <a:off x="233774" y="1438055"/>
          <a:ext cx="803554" cy="738821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900" i="1" kern="1200" dirty="0">
              <a:solidFill>
                <a:srgbClr val="0070C0"/>
              </a:solidFill>
            </a:rPr>
            <a:t>principe 1: </a:t>
          </a:r>
          <a:r>
            <a:rPr lang="nl-NL" sz="1400" kern="1200" dirty="0"/>
            <a:t>Kleur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55413" y="1459694"/>
        <a:ext cx="760276" cy="695543"/>
      </dsp:txXfrm>
    </dsp:sp>
    <dsp:sp modelId="{B4D26FDC-2F6E-4973-8B28-C7CBA5CD952C}">
      <dsp:nvSpPr>
        <dsp:cNvPr id="0" name=""/>
        <dsp:cNvSpPr/>
      </dsp:nvSpPr>
      <dsp:spPr>
        <a:xfrm rot="14196286">
          <a:off x="1310553" y="1514705"/>
          <a:ext cx="1195824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628051-F6DD-4E32-9D01-5E5AB57F85CE}">
      <dsp:nvSpPr>
        <dsp:cNvPr id="0" name=""/>
        <dsp:cNvSpPr/>
      </dsp:nvSpPr>
      <dsp:spPr>
        <a:xfrm>
          <a:off x="1094265" y="794910"/>
          <a:ext cx="970204" cy="84429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900" i="1" kern="1200" dirty="0">
              <a:solidFill>
                <a:srgbClr val="0070C0"/>
              </a:solidFill>
            </a:rPr>
            <a:t>principe 2: </a:t>
          </a:r>
          <a:r>
            <a:rPr lang="nl-NL" sz="1400" b="0" kern="1200" dirty="0"/>
            <a:t>Data-</a:t>
          </a:r>
          <a:r>
            <a:rPr lang="nl-NL" sz="1400" b="0" kern="1200" dirty="0" err="1"/>
            <a:t>Ink</a:t>
          </a:r>
          <a:r>
            <a:rPr lang="nl-NL" sz="1800" b="0" kern="1200" dirty="0"/>
            <a:t> </a:t>
          </a:r>
          <a:r>
            <a:rPr lang="nl-NL" sz="1400" b="0" kern="1200" dirty="0"/>
            <a:t>ratio</a:t>
          </a:r>
          <a:br>
            <a:rPr lang="nl-NL" sz="1400" b="0" kern="1200" dirty="0"/>
          </a:br>
          <a:endParaRPr lang="nl-NL" sz="900" b="0" i="1" kern="1200" dirty="0">
            <a:solidFill>
              <a:srgbClr val="0070C0"/>
            </a:solidFill>
          </a:endParaRPr>
        </a:p>
      </dsp:txBody>
      <dsp:txXfrm>
        <a:off x="1118993" y="819638"/>
        <a:ext cx="920748" cy="794834"/>
      </dsp:txXfrm>
    </dsp:sp>
    <dsp:sp modelId="{67D901E3-9E32-4E02-899E-7DEF85466FD7}">
      <dsp:nvSpPr>
        <dsp:cNvPr id="0" name=""/>
        <dsp:cNvSpPr/>
      </dsp:nvSpPr>
      <dsp:spPr>
        <a:xfrm rot="16170181">
          <a:off x="1798397" y="1231548"/>
          <a:ext cx="1257032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2B962-8938-437B-9319-59E99F7AB3E5}">
      <dsp:nvSpPr>
        <dsp:cNvPr id="0" name=""/>
        <dsp:cNvSpPr/>
      </dsp:nvSpPr>
      <dsp:spPr>
        <a:xfrm>
          <a:off x="2115069" y="512875"/>
          <a:ext cx="939086" cy="701640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rgbClr r="0" g="0" b="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900" i="1" kern="1200" dirty="0">
              <a:solidFill>
                <a:srgbClr val="0070C0"/>
              </a:solidFill>
            </a:rPr>
            <a:t>principe 3: </a:t>
          </a:r>
          <a:r>
            <a:rPr lang="nl-NL" sz="1400" kern="1200" dirty="0"/>
            <a:t>Locatie</a:t>
          </a:r>
          <a:br>
            <a:rPr lang="nl-NL" sz="1400" kern="1200" dirty="0"/>
          </a:br>
          <a:endParaRPr lang="nl-NL" sz="900" i="1" kern="1200" dirty="0">
            <a:solidFill>
              <a:srgbClr val="0070C0"/>
            </a:solidFill>
          </a:endParaRPr>
        </a:p>
      </dsp:txBody>
      <dsp:txXfrm>
        <a:off x="2135619" y="533425"/>
        <a:ext cx="897986" cy="660540"/>
      </dsp:txXfrm>
    </dsp:sp>
    <dsp:sp modelId="{1289CCA2-8947-44A3-A4BC-633ECDFC8383}">
      <dsp:nvSpPr>
        <dsp:cNvPr id="0" name=""/>
        <dsp:cNvSpPr/>
      </dsp:nvSpPr>
      <dsp:spPr>
        <a:xfrm rot="14228568">
          <a:off x="2694049" y="3504142"/>
          <a:ext cx="1013729" cy="403087"/>
        </a:xfrm>
        <a:prstGeom prst="leftArrow">
          <a:avLst>
            <a:gd name="adj1" fmla="val 60000"/>
            <a:gd name="adj2" fmla="val 50000"/>
          </a:avLst>
        </a:prstGeom>
        <a:solidFill>
          <a:schemeClr val="dk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500E05-D836-4DDA-8D7C-B0D057FEB3EF}">
      <dsp:nvSpPr>
        <dsp:cNvPr id="0" name=""/>
        <dsp:cNvSpPr/>
      </dsp:nvSpPr>
      <dsp:spPr>
        <a:xfrm>
          <a:off x="3329073" y="4215870"/>
          <a:ext cx="1715728" cy="107489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nl-NL" sz="1400" kern="1200" dirty="0">
              <a:solidFill>
                <a:srgbClr val="0070C0"/>
              </a:solidFill>
            </a:rPr>
            <a:t>Datavisualisatie</a:t>
          </a:r>
          <a:br>
            <a:rPr lang="nl-NL" sz="1400" kern="1200" dirty="0">
              <a:solidFill>
                <a:srgbClr val="0070C0"/>
              </a:solidFill>
            </a:rPr>
          </a:br>
          <a:r>
            <a:rPr lang="nl-NL" sz="900" i="1" kern="1200" dirty="0">
              <a:solidFill>
                <a:schemeClr val="tx1"/>
              </a:solidFill>
            </a:rPr>
            <a:t>(het dashboard)</a:t>
          </a:r>
        </a:p>
      </dsp:txBody>
      <dsp:txXfrm>
        <a:off x="3360556" y="4247353"/>
        <a:ext cx="1652762" cy="10119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7324F-4F13-4583-9FFB-38662F2BB227}" type="datetimeFigureOut">
              <a:rPr lang="nl-NL" smtClean="0"/>
              <a:t>8-7-2016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45888-0EA0-4659-BE97-FE55D80F922F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53951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- Voorbeeld</a:t>
            </a:r>
            <a:r>
              <a:rPr lang="nl-NL" baseline="0" dirty="0" smtClean="0"/>
              <a:t> van verkeerd gebruik van kleur principe binnen een tabel.</a:t>
            </a:r>
            <a:endParaRPr lang="nl-NL" dirty="0" smtClean="0"/>
          </a:p>
          <a:p>
            <a:endParaRPr lang="nl-NL" dirty="0" smtClean="0"/>
          </a:p>
          <a:p>
            <a:r>
              <a:rPr lang="nl-NL" dirty="0" smtClean="0"/>
              <a:t>1 Aandacht wordt</a:t>
            </a:r>
            <a:r>
              <a:rPr lang="nl-NL" baseline="0" dirty="0" smtClean="0"/>
              <a:t> op alarmerende wijze getrokken door de titelbalk (juist de balk op zichzelf geen data bevat)</a:t>
            </a:r>
            <a:br>
              <a:rPr lang="nl-NL" baseline="0" dirty="0" smtClean="0"/>
            </a:br>
            <a:r>
              <a:rPr lang="nl-NL" baseline="0" dirty="0" smtClean="0"/>
              <a:t>2 De </a:t>
            </a:r>
            <a:r>
              <a:rPr lang="nl-NL" baseline="0" dirty="0" err="1" smtClean="0"/>
              <a:t>higher</a:t>
            </a:r>
            <a:r>
              <a:rPr lang="nl-NL" baseline="0" dirty="0" smtClean="0"/>
              <a:t>-over balk ‘totaal..’ is in grijs wat minder de aandacht trekt dan (de titelbalk maar ook) de individuele rijen die een gele achtergrond hebben.</a:t>
            </a:r>
          </a:p>
          <a:p>
            <a:r>
              <a:rPr lang="nl-NL" baseline="0" dirty="0" smtClean="0"/>
              <a:t>3 Daadwerkelijk elke rij heeft een </a:t>
            </a:r>
            <a:r>
              <a:rPr lang="nl-NL" baseline="0" dirty="0" err="1" smtClean="0"/>
              <a:t>aandachtvragend</a:t>
            </a:r>
            <a:r>
              <a:rPr lang="nl-NL" baseline="0" dirty="0" smtClean="0"/>
              <a:t> pijltje er naast staan (</a:t>
            </a:r>
            <a:r>
              <a:rPr lang="nl-NL" baseline="0" dirty="0" err="1" smtClean="0"/>
              <a:t>ipv</a:t>
            </a:r>
            <a:r>
              <a:rPr lang="nl-NL" baseline="0" dirty="0" smtClean="0"/>
              <a:t> enkel extreme gevallen).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7191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Voorbeelden van verkeerde</a:t>
            </a:r>
            <a:r>
              <a:rPr lang="nl-NL" baseline="0" dirty="0" smtClean="0"/>
              <a:t> data-</a:t>
            </a:r>
            <a:r>
              <a:rPr lang="nl-NL" baseline="0" dirty="0" err="1" smtClean="0"/>
              <a:t>ink</a:t>
            </a:r>
            <a:r>
              <a:rPr lang="nl-NL" baseline="0" dirty="0" smtClean="0"/>
              <a:t> ratio principe binnen grafieken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8898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Links &gt; rechts</a:t>
            </a:r>
          </a:p>
          <a:p>
            <a:r>
              <a:rPr lang="nl-NL" dirty="0" smtClean="0"/>
              <a:t>Hoog</a:t>
            </a:r>
            <a:r>
              <a:rPr lang="nl-NL" baseline="0" dirty="0" smtClean="0"/>
              <a:t> &gt; laag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1368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NL" dirty="0" smtClean="0"/>
              <a:t>-</a:t>
            </a:r>
            <a:r>
              <a:rPr lang="nl-NL" baseline="0" dirty="0" smtClean="0"/>
              <a:t> </a:t>
            </a:r>
            <a:r>
              <a:rPr lang="nl-NL" dirty="0" smtClean="0"/>
              <a:t>Voorbeeld van verkeerd</a:t>
            </a:r>
            <a:r>
              <a:rPr lang="nl-NL" baseline="0" dirty="0" smtClean="0"/>
              <a:t> gebruik van locatie principe binnen grafiekkeuze.</a:t>
            </a:r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645888-0EA0-4659-BE97-FE55D80F922F}" type="slidenum">
              <a:rPr lang="nl-NL" smtClean="0"/>
              <a:t>10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7136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aseline="0">
                <a:latin typeface="Verdana" pitchFamily="34" charset="0"/>
              </a:defRPr>
            </a:lvl1pPr>
          </a:lstStyle>
          <a:p>
            <a:r>
              <a:rPr lang="nl-NL" smtClean="0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 smtClean="0"/>
              <a:t>Klik om de ondertitelstijl van het model te bewerken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7" name="Tijdelijke aanduiding voor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8" name="Tijdelijke aanduiding voor voettekst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4" name="Tijdelijke aanduiding voor voettekst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3" name="Tijdelijke aanduiding voor voettekst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nl-NL" smtClean="0"/>
              <a:t>Klik op het pictogram als u een afbeelding wilt toevoegen</a:t>
            </a:r>
            <a:endParaRPr lang="nl-NL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 smtClean="0"/>
              <a:t>Klik om de modelstijlen te bewerken</a:t>
            </a:r>
          </a:p>
        </p:txBody>
      </p:sp>
      <p:sp>
        <p:nvSpPr>
          <p:cNvPr id="5" name="Tijdelijke aanduiding voor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smtClean="0"/>
              <a:t>Klik om de stijl te bewerken</a:t>
            </a:r>
            <a:endParaRPr lang="nl-NL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smtClean="0"/>
              <a:t>Klik om de modelstijlen te bewerken</a:t>
            </a:r>
          </a:p>
          <a:p>
            <a:pPr lvl="1"/>
            <a:r>
              <a:rPr lang="nl-NL" smtClean="0"/>
              <a:t>Tweede niveau</a:t>
            </a:r>
          </a:p>
          <a:p>
            <a:pPr lvl="2"/>
            <a:r>
              <a:rPr lang="nl-NL" smtClean="0"/>
              <a:t>Derde niveau</a:t>
            </a:r>
          </a:p>
          <a:p>
            <a:pPr lvl="3"/>
            <a:r>
              <a:rPr lang="nl-NL" smtClean="0"/>
              <a:t>Vierde niveau</a:t>
            </a:r>
          </a:p>
          <a:p>
            <a:pPr lvl="4"/>
            <a:r>
              <a:rPr lang="nl-NL" smtClean="0"/>
              <a:t>Vijfde niveau</a:t>
            </a:r>
            <a:endParaRPr lang="nl-NL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9919A5-9770-45D5-9B19-7CF1B2FDE7FF}" type="datetimeFigureOut">
              <a:rPr lang="nl-NL" smtClean="0"/>
              <a:pPr/>
              <a:t>8-7-2016</a:t>
            </a:fld>
            <a:endParaRPr lang="nl-NL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E965E4-4F7F-4BF3-A23C-4DC7D450AA4C}" type="slidenum">
              <a:rPr lang="nl-NL" smtClean="0"/>
              <a:pPr/>
              <a:t>‹nr.›</a:t>
            </a:fld>
            <a:endParaRPr lang="nl-N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chart" Target="../charts/chart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39552" y="2108991"/>
            <a:ext cx="8496944" cy="1154559"/>
          </a:xfrm>
        </p:spPr>
        <p:txBody>
          <a:bodyPr>
            <a:normAutofit fontScale="90000"/>
          </a:bodyPr>
          <a:lstStyle/>
          <a:p>
            <a:pPr algn="l"/>
            <a:r>
              <a:rPr lang="nl-NL" sz="4000" dirty="0" smtClean="0"/>
              <a:t>“Ergonomische” Data Visualisatie</a:t>
            </a:r>
            <a:r>
              <a:rPr lang="nl-NL" dirty="0" smtClean="0"/>
              <a:t/>
            </a:r>
            <a:br>
              <a:rPr lang="nl-NL" dirty="0" smtClean="0"/>
            </a:br>
            <a:endParaRPr lang="nl-NL" sz="3600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3779912" y="5229200"/>
            <a:ext cx="4968552" cy="553616"/>
          </a:xfrm>
        </p:spPr>
        <p:txBody>
          <a:bodyPr>
            <a:normAutofit/>
          </a:bodyPr>
          <a:lstStyle/>
          <a:p>
            <a:r>
              <a:rPr lang="nl-NL" sz="2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Webanalyse@uwv.nl</a:t>
            </a:r>
            <a:endParaRPr lang="nl-NL" sz="2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2915816" y="2780928"/>
            <a:ext cx="44644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5400" i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in 3 </a:t>
            </a:r>
            <a:r>
              <a:rPr lang="nl-NL" sz="5400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stappen.</a:t>
            </a:r>
            <a:endParaRPr lang="nl-NL" sz="5400" dirty="0"/>
          </a:p>
        </p:txBody>
      </p:sp>
      <p:sp>
        <p:nvSpPr>
          <p:cNvPr id="5" name="Ondertitel 2"/>
          <p:cNvSpPr txBox="1">
            <a:spLocks/>
          </p:cNvSpPr>
          <p:nvPr/>
        </p:nvSpPr>
        <p:spPr>
          <a:xfrm>
            <a:off x="5682931" y="4961544"/>
            <a:ext cx="2249377" cy="4320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sz="1400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Steven.peutz@uwv.nl</a:t>
            </a:r>
            <a:endParaRPr lang="nl-NL" sz="1400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Dashboard ≠ rapportage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 smtClean="0"/>
              <a:t>        </a:t>
            </a:r>
            <a:endParaRPr lang="nl-NL" dirty="0"/>
          </a:p>
        </p:txBody>
      </p:sp>
      <p:graphicFrame>
        <p:nvGraphicFramePr>
          <p:cNvPr id="4" name="Tabel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2866580"/>
              </p:ext>
            </p:extLst>
          </p:nvPr>
        </p:nvGraphicFramePr>
        <p:xfrm>
          <a:off x="827584" y="2564904"/>
          <a:ext cx="7560840" cy="249428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3780420"/>
                <a:gridCol w="3780420"/>
              </a:tblGrid>
              <a:tr h="370840">
                <a:tc>
                  <a:txBody>
                    <a:bodyPr/>
                    <a:lstStyle/>
                    <a:p>
                      <a:r>
                        <a:rPr lang="nl-NL" dirty="0" smtClean="0"/>
                        <a:t>Dashboard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Rapportage</a:t>
                      </a:r>
                      <a:endParaRPr lang="nl-N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 smtClean="0"/>
                        <a:t>- 1 scherm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- X</a:t>
                      </a:r>
                      <a:r>
                        <a:rPr lang="nl-NL" baseline="0" dirty="0" smtClean="0"/>
                        <a:t> pagina’s</a:t>
                      </a:r>
                      <a:endParaRPr lang="nl-N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smtClean="0"/>
                        <a:t>- Easy </a:t>
                      </a:r>
                      <a:r>
                        <a:rPr lang="nl-NL" dirty="0" err="1" smtClean="0"/>
                        <a:t>to</a:t>
                      </a:r>
                      <a:r>
                        <a:rPr lang="nl-NL" dirty="0" smtClean="0"/>
                        <a:t> </a:t>
                      </a:r>
                      <a:r>
                        <a:rPr lang="nl-NL" dirty="0" err="1" smtClean="0"/>
                        <a:t>understand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- Diepgang</a:t>
                      </a:r>
                      <a:endParaRPr lang="nl-N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smtClean="0"/>
                        <a:t>- Critical business data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l-NL" dirty="0" smtClean="0"/>
                        <a:t>- Uitgebreid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smtClean="0"/>
                        <a:t>- Actie georiënteerd</a:t>
                      </a:r>
                      <a:endParaRPr lang="nl-N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- Uitleg en context</a:t>
                      </a:r>
                      <a:endParaRPr lang="nl-NL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nl-NL" dirty="0" smtClean="0"/>
                        <a:t>   </a:t>
                      </a:r>
                      <a:r>
                        <a:rPr lang="nl-NL" baseline="0" dirty="0" smtClean="0"/>
                        <a:t>             </a:t>
                      </a:r>
                      <a:r>
                        <a:rPr lang="nl-NL" sz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</a:t>
                      </a:r>
                      <a:r>
                        <a:rPr lang="nl-NL" sz="1200" i="1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A. </a:t>
                      </a:r>
                      <a:r>
                        <a:rPr lang="nl-NL" sz="1200" i="1" baseline="0" dirty="0" err="1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Kaushik</a:t>
                      </a:r>
                      <a:r>
                        <a:rPr lang="nl-NL" sz="1200" baseline="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)</a:t>
                      </a:r>
                      <a:endParaRPr lang="nl-NL" sz="12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l-NL" dirty="0" smtClean="0"/>
                        <a:t>(dashboard kan onderdeel zijn van rapportage, niet andersom)</a:t>
                      </a:r>
                      <a:endParaRPr lang="nl-NL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Rechthoek 4"/>
          <p:cNvSpPr/>
          <p:nvPr/>
        </p:nvSpPr>
        <p:spPr>
          <a:xfrm>
            <a:off x="4211960" y="1916832"/>
            <a:ext cx="4464496" cy="36724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16859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Datavisualisatie voor </a:t>
            </a:r>
            <a:r>
              <a:rPr lang="nl-NL" u="sng" dirty="0" smtClean="0"/>
              <a:t>Dashboarding</a:t>
            </a:r>
            <a:endParaRPr lang="nl-NL" u="sng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46856" y="1196753"/>
            <a:ext cx="8229600" cy="14401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400" dirty="0" smtClean="0">
                <a:solidFill>
                  <a:schemeClr val="bg1">
                    <a:lumMod val="50000"/>
                  </a:schemeClr>
                </a:solidFill>
              </a:rPr>
              <a:t>-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Wat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weer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te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geven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? (-&gt;KPI’s..)</a:t>
            </a:r>
            <a: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nu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buiten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err="1" smtClean="0">
                <a:solidFill>
                  <a:schemeClr val="bg1">
                    <a:lumMod val="50000"/>
                  </a:schemeClr>
                </a:solidFill>
              </a:rPr>
              <a:t>beschouwing</a:t>
            </a:r>
            <a:endParaRPr lang="en-US" sz="2400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sz="2400" i="1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i="1" dirty="0" smtClean="0">
                <a:solidFill>
                  <a:schemeClr val="bg1">
                    <a:lumMod val="50000"/>
                  </a:schemeClr>
                </a:solidFill>
              </a:rPr>
              <a:t>                            </a:t>
            </a:r>
            <a:r>
              <a:rPr lang="en-US" sz="2000" i="1" dirty="0" smtClean="0">
                <a:solidFill>
                  <a:schemeClr val="bg1">
                    <a:lumMod val="50000"/>
                  </a:schemeClr>
                </a:solidFill>
              </a:rPr>
              <a:t>&amp;</a:t>
            </a:r>
            <a:r>
              <a:rPr lang="en-US" sz="2800" dirty="0" smtClean="0"/>
              <a:t/>
            </a:r>
            <a:br>
              <a:rPr lang="en-US" sz="2800" dirty="0" smtClean="0"/>
            </a:b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400" dirty="0" smtClean="0"/>
          </a:p>
        </p:txBody>
      </p:sp>
      <p:sp>
        <p:nvSpPr>
          <p:cNvPr id="5" name="Tekstvak 4"/>
          <p:cNvSpPr txBox="1"/>
          <p:nvPr/>
        </p:nvSpPr>
        <p:spPr>
          <a:xfrm>
            <a:off x="559022" y="3612228"/>
            <a:ext cx="43204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- </a:t>
            </a:r>
            <a:r>
              <a:rPr lang="en-US" sz="2400" b="1" dirty="0" err="1" smtClean="0">
                <a:solidFill>
                  <a:srgbClr val="0070C0"/>
                </a:solidFill>
              </a:rPr>
              <a:t>Stap</a:t>
            </a:r>
            <a:r>
              <a:rPr lang="en-US" sz="2400" b="1" dirty="0" smtClean="0">
                <a:solidFill>
                  <a:srgbClr val="0070C0"/>
                </a:solidFill>
              </a:rPr>
              <a:t> 1: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“3 </a:t>
            </a:r>
            <a:r>
              <a:rPr lang="en-US" sz="2400" dirty="0" err="1"/>
              <a:t>leidende</a:t>
            </a:r>
            <a:r>
              <a:rPr lang="en-US" sz="2400" dirty="0"/>
              <a:t> </a:t>
            </a:r>
            <a:r>
              <a:rPr lang="en-US" sz="2400" dirty="0" err="1" smtClean="0"/>
              <a:t>principes</a:t>
            </a:r>
            <a:r>
              <a:rPr lang="en-US" sz="2400" dirty="0" smtClean="0"/>
              <a:t>” </a:t>
            </a:r>
            <a:r>
              <a:rPr lang="en-US" sz="2400" dirty="0"/>
              <a:t/>
            </a:r>
            <a:br>
              <a:rPr lang="en-US" sz="2400" dirty="0"/>
            </a:br>
            <a:endParaRPr lang="nl-NL" sz="2400" dirty="0"/>
          </a:p>
        </p:txBody>
      </p:sp>
      <p:sp>
        <p:nvSpPr>
          <p:cNvPr id="4" name="Tekstvak 3"/>
          <p:cNvSpPr txBox="1"/>
          <p:nvPr/>
        </p:nvSpPr>
        <p:spPr>
          <a:xfrm>
            <a:off x="559022" y="5172764"/>
            <a:ext cx="4857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</a:t>
            </a:r>
            <a:r>
              <a:rPr lang="en-US" sz="2400" b="1" dirty="0" err="1" smtClean="0">
                <a:solidFill>
                  <a:srgbClr val="0070C0"/>
                </a:solidFill>
              </a:rPr>
              <a:t>Stap</a:t>
            </a:r>
            <a:r>
              <a:rPr lang="en-US" sz="2400" b="1" dirty="0" smtClean="0">
                <a:solidFill>
                  <a:srgbClr val="0070C0"/>
                </a:solidFill>
              </a:rPr>
              <a:t> 3: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 smtClean="0">
                <a:solidFill>
                  <a:srgbClr val="0070C0"/>
                </a:solidFill>
              </a:rPr>
              <a:t> </a:t>
            </a:r>
            <a:r>
              <a:rPr lang="en-US" sz="2400" dirty="0" err="1" smtClean="0"/>
              <a:t>Juiste</a:t>
            </a:r>
            <a:r>
              <a:rPr lang="en-US" sz="2400" dirty="0" smtClean="0"/>
              <a:t> type </a:t>
            </a:r>
            <a:r>
              <a:rPr lang="en-US" sz="2400" dirty="0" err="1" smtClean="0"/>
              <a:t>grafiek</a:t>
            </a:r>
            <a:r>
              <a:rPr lang="en-US" sz="2400" dirty="0" smtClean="0"/>
              <a:t> </a:t>
            </a:r>
            <a:r>
              <a:rPr lang="en-US" sz="2400" dirty="0" err="1" smtClean="0"/>
              <a:t>kiezen</a:t>
            </a:r>
            <a:endParaRPr lang="nl-NL" sz="2400" dirty="0"/>
          </a:p>
          <a:p>
            <a:endParaRPr lang="nl-NL" dirty="0"/>
          </a:p>
        </p:txBody>
      </p:sp>
      <p:sp>
        <p:nvSpPr>
          <p:cNvPr id="6" name="Tekstvak 5"/>
          <p:cNvSpPr txBox="1"/>
          <p:nvPr/>
        </p:nvSpPr>
        <p:spPr>
          <a:xfrm>
            <a:off x="542755" y="4434100"/>
            <a:ext cx="47820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- </a:t>
            </a:r>
            <a:r>
              <a:rPr lang="en-US" sz="2400" b="1" dirty="0" err="1" smtClean="0">
                <a:solidFill>
                  <a:srgbClr val="0070C0"/>
                </a:solidFill>
              </a:rPr>
              <a:t>Stap</a:t>
            </a:r>
            <a:r>
              <a:rPr lang="en-US" sz="2400" b="1" dirty="0" smtClean="0">
                <a:solidFill>
                  <a:srgbClr val="0070C0"/>
                </a:solidFill>
              </a:rPr>
              <a:t> 2:  </a:t>
            </a:r>
            <a:r>
              <a:rPr lang="nl-NL" sz="2400" dirty="0"/>
              <a:t>F</a:t>
            </a:r>
            <a:r>
              <a:rPr lang="nl-NL" sz="2400" dirty="0" smtClean="0"/>
              <a:t>ocus (/aandacht) sturen</a:t>
            </a:r>
            <a:endParaRPr lang="nl-NL" sz="2400" dirty="0"/>
          </a:p>
          <a:p>
            <a:endParaRPr lang="nl-NL" dirty="0"/>
          </a:p>
        </p:txBody>
      </p:sp>
      <p:graphicFrame>
        <p:nvGraphicFramePr>
          <p:cNvPr id="8" name="Diagram 7"/>
          <p:cNvGraphicFramePr/>
          <p:nvPr>
            <p:extLst>
              <p:ext uri="{D42A27DB-BD31-4B8C-83A1-F6EECF244321}">
                <p14:modId xmlns:p14="http://schemas.microsoft.com/office/powerpoint/2010/main" val="2420589552"/>
              </p:ext>
            </p:extLst>
          </p:nvPr>
        </p:nvGraphicFramePr>
        <p:xfrm>
          <a:off x="3995936" y="1124744"/>
          <a:ext cx="5495925" cy="53530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Tekstvak 8"/>
          <p:cNvSpPr txBox="1"/>
          <p:nvPr/>
        </p:nvSpPr>
        <p:spPr>
          <a:xfrm>
            <a:off x="460844" y="2564902"/>
            <a:ext cx="77736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- </a:t>
            </a:r>
            <a:r>
              <a:rPr lang="en-US" sz="3200" u="sng" dirty="0"/>
              <a:t>Hoe </a:t>
            </a:r>
            <a:r>
              <a:rPr lang="en-US" sz="3200" u="sng" dirty="0" err="1"/>
              <a:t>weer</a:t>
            </a:r>
            <a:r>
              <a:rPr lang="en-US" sz="3200" u="sng" dirty="0"/>
              <a:t> </a:t>
            </a:r>
            <a:r>
              <a:rPr lang="en-US" sz="3200" u="sng" dirty="0" err="1"/>
              <a:t>te</a:t>
            </a:r>
            <a:r>
              <a:rPr lang="en-US" sz="3200" u="sng" dirty="0"/>
              <a:t> </a:t>
            </a:r>
            <a:r>
              <a:rPr lang="en-US" sz="3200" u="sng" dirty="0" err="1"/>
              <a:t>geven</a:t>
            </a:r>
            <a:r>
              <a:rPr lang="en-US" sz="3200" u="sng" dirty="0"/>
              <a:t>?:</a:t>
            </a:r>
            <a:endParaRPr lang="nl-NL" sz="3200" dirty="0"/>
          </a:p>
        </p:txBody>
      </p:sp>
      <p:sp>
        <p:nvSpPr>
          <p:cNvPr id="10" name="Ovaal 9"/>
          <p:cNvSpPr/>
          <p:nvPr/>
        </p:nvSpPr>
        <p:spPr>
          <a:xfrm rot="-600000">
            <a:off x="3800944" y="1654311"/>
            <a:ext cx="4274238" cy="1436629"/>
          </a:xfrm>
          <a:prstGeom prst="ellipse">
            <a:avLst/>
          </a:prstGeom>
          <a:noFill/>
          <a:ln w="1905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kstvak 10"/>
          <p:cNvSpPr txBox="1"/>
          <p:nvPr/>
        </p:nvSpPr>
        <p:spPr>
          <a:xfrm rot="-1500000">
            <a:off x="7004258" y="2218736"/>
            <a:ext cx="11521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1’</a:t>
            </a:r>
            <a:endParaRPr lang="nl-NL" sz="1400" b="1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Tekstvak 11"/>
          <p:cNvSpPr txBox="1"/>
          <p:nvPr/>
        </p:nvSpPr>
        <p:spPr>
          <a:xfrm rot="-900000">
            <a:off x="6444208" y="4027727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2’</a:t>
            </a:r>
            <a:endParaRPr lang="nl-NL" sz="1400" b="1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Tekstvak 12"/>
          <p:cNvSpPr txBox="1"/>
          <p:nvPr/>
        </p:nvSpPr>
        <p:spPr>
          <a:xfrm rot="-600000">
            <a:off x="8029610" y="4288395"/>
            <a:ext cx="9361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400" b="1" i="1" dirty="0" smtClean="0">
                <a:solidFill>
                  <a:schemeClr val="accent5">
                    <a:lumMod val="60000"/>
                    <a:lumOff val="40000"/>
                  </a:schemeClr>
                </a:solidFill>
              </a:rPr>
              <a:t>‘Stap 3’</a:t>
            </a:r>
            <a:endParaRPr lang="nl-NL" sz="1400" b="1" i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4" name="Ovaal 13"/>
          <p:cNvSpPr/>
          <p:nvPr/>
        </p:nvSpPr>
        <p:spPr>
          <a:xfrm>
            <a:off x="5868144" y="3276352"/>
            <a:ext cx="1440160" cy="1296144"/>
          </a:xfrm>
          <a:prstGeom prst="ellipse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Afgeronde rechthoek 14"/>
          <p:cNvSpPr/>
          <p:nvPr/>
        </p:nvSpPr>
        <p:spPr>
          <a:xfrm>
            <a:off x="7658441" y="3779184"/>
            <a:ext cx="1152128" cy="945959"/>
          </a:xfrm>
          <a:prstGeom prst="round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17" name="Rechte verbindingslijn 16"/>
          <p:cNvCxnSpPr/>
          <p:nvPr/>
        </p:nvCxnSpPr>
        <p:spPr>
          <a:xfrm>
            <a:off x="7524328" y="6525344"/>
            <a:ext cx="1286241" cy="0"/>
          </a:xfrm>
          <a:prstGeom prst="line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6262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/>
      <p:bldP spid="4" grpId="0"/>
      <p:bldP spid="6" grpId="0"/>
      <p:bldGraphic spid="8" grpId="0">
        <p:bldAsOne/>
      </p:bldGraphic>
      <p:bldP spid="9" grpId="0"/>
      <p:bldP spid="10" grpId="0" animBg="1"/>
      <p:bldP spid="11" grpId="0"/>
      <p:bldP spid="12" grpId="0"/>
      <p:bldP spid="13" grpId="0"/>
      <p:bldP spid="14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i="1" dirty="0"/>
              <a:t>Principe 1:</a:t>
            </a:r>
            <a:r>
              <a:rPr lang="en-US" dirty="0"/>
              <a:t> ‘</a:t>
            </a:r>
            <a:r>
              <a:rPr lang="en-US" b="1" dirty="0" err="1">
                <a:solidFill>
                  <a:srgbClr val="00B050"/>
                </a:solidFill>
              </a:rPr>
              <a:t>K</a:t>
            </a:r>
            <a:r>
              <a:rPr lang="en-US" b="1" dirty="0" err="1">
                <a:solidFill>
                  <a:srgbClr val="C00000"/>
                </a:solidFill>
              </a:rPr>
              <a:t>l</a:t>
            </a:r>
            <a:r>
              <a:rPr lang="en-US" b="1" dirty="0" err="1">
                <a:solidFill>
                  <a:srgbClr val="00B0F0"/>
                </a:solidFill>
              </a:rPr>
              <a:t>e</a:t>
            </a:r>
            <a:r>
              <a:rPr lang="en-US" b="1" dirty="0" err="1">
                <a:solidFill>
                  <a:srgbClr val="7030A0"/>
                </a:solidFill>
              </a:rPr>
              <a:t>u</a:t>
            </a:r>
            <a:r>
              <a:rPr lang="en-US" b="1" dirty="0" err="1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dirty="0" smtClean="0"/>
              <a:t>’                      </a:t>
            </a:r>
            <a:r>
              <a:rPr lang="nl-NL" sz="2400" i="1" dirty="0" smtClean="0">
                <a:solidFill>
                  <a:schemeClr val="bg1">
                    <a:lumMod val="50000"/>
                  </a:schemeClr>
                </a:solidFill>
              </a:rPr>
              <a:t>(stap 1)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4" name="Tekstvak 3"/>
          <p:cNvSpPr txBox="1"/>
          <p:nvPr/>
        </p:nvSpPr>
        <p:spPr>
          <a:xfrm>
            <a:off x="535181" y="1772816"/>
            <a:ext cx="7848872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 smtClean="0"/>
              <a:t>- </a:t>
            </a:r>
            <a:r>
              <a:rPr lang="en-US" sz="2800" dirty="0" err="1"/>
              <a:t>F</a:t>
            </a:r>
            <a:r>
              <a:rPr lang="en-US" sz="2800" dirty="0" err="1" smtClean="0"/>
              <a:t>unctioneel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  <a:p>
            <a:pPr lvl="1"/>
            <a:r>
              <a:rPr lang="en-US" sz="2800" dirty="0" smtClean="0"/>
              <a:t>- </a:t>
            </a:r>
            <a:r>
              <a:rPr lang="en-US" sz="2800" dirty="0" err="1" smtClean="0"/>
              <a:t>Niet</a:t>
            </a:r>
            <a:r>
              <a:rPr lang="en-US" sz="2800" dirty="0" smtClean="0"/>
              <a:t> </a:t>
            </a:r>
            <a:r>
              <a:rPr lang="en-US" sz="2800" dirty="0" err="1" smtClean="0"/>
              <a:t>verzadigd</a:t>
            </a:r>
            <a:r>
              <a:rPr lang="en-US" sz="2800" dirty="0" smtClean="0"/>
              <a:t> </a:t>
            </a:r>
            <a: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en-US" sz="2800" i="1" dirty="0" smtClean="0"/>
              <a:t>        </a:t>
            </a:r>
            <a:r>
              <a:rPr lang="en-US" sz="2800" i="1" dirty="0" err="1" smtClean="0">
                <a:solidFill>
                  <a:schemeClr val="bg1">
                    <a:lumMod val="50000"/>
                  </a:schemeClr>
                </a:solidFill>
              </a:rPr>
              <a:t>i.p.v</a:t>
            </a:r>
            <a: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  <a:t>.       )</a:t>
            </a:r>
            <a: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  <a:t/>
            </a:r>
            <a:br>
              <a:rPr lang="en-US" sz="2800" i="1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en-US" sz="2800" i="1" dirty="0" smtClean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800" dirty="0" smtClean="0"/>
              <a:t>- </a:t>
            </a:r>
            <a:r>
              <a:rPr lang="en-US" sz="2800" dirty="0" err="1" smtClean="0"/>
              <a:t>Geen</a:t>
            </a:r>
            <a:r>
              <a:rPr lang="en-US" sz="2800" dirty="0" smtClean="0"/>
              <a:t> </a:t>
            </a:r>
            <a:r>
              <a:rPr lang="en-US" sz="2800" dirty="0" err="1"/>
              <a:t>onnodige</a:t>
            </a:r>
            <a:r>
              <a:rPr lang="en-US" sz="2800" dirty="0"/>
              <a:t> </a:t>
            </a:r>
            <a:r>
              <a:rPr lang="en-US" sz="2800" dirty="0" err="1" smtClean="0"/>
              <a:t>waarschuwingskleuren</a:t>
            </a:r>
            <a:r>
              <a:rPr lang="en-US" sz="2800" dirty="0" smtClean="0"/>
              <a:t/>
            </a:r>
            <a:br>
              <a:rPr lang="en-US" sz="2800" dirty="0" smtClean="0"/>
            </a:br>
            <a:endParaRPr lang="en-US" sz="2800" dirty="0"/>
          </a:p>
          <a:p>
            <a:pPr lvl="1"/>
            <a:r>
              <a:rPr lang="en-US" sz="2800" dirty="0" smtClean="0"/>
              <a:t>- </a:t>
            </a:r>
            <a:r>
              <a:rPr lang="en-US" sz="2800" dirty="0" err="1" smtClean="0"/>
              <a:t>Houd</a:t>
            </a:r>
            <a:r>
              <a:rPr lang="en-US" sz="2800" dirty="0" smtClean="0"/>
              <a:t> </a:t>
            </a:r>
            <a:r>
              <a:rPr lang="en-US" sz="2800" dirty="0" err="1" smtClean="0"/>
              <a:t>rekening</a:t>
            </a:r>
            <a:r>
              <a:rPr lang="en-US" sz="2800" dirty="0" smtClean="0"/>
              <a:t> met </a:t>
            </a:r>
            <a:r>
              <a:rPr lang="en-US" sz="2800" dirty="0" err="1" smtClean="0"/>
              <a:t>kleurenblinden</a:t>
            </a:r>
            <a:r>
              <a:rPr lang="en-US" sz="2800" dirty="0" smtClean="0"/>
              <a:t> </a:t>
            </a:r>
            <a:r>
              <a:rPr lang="en-US" sz="2400" dirty="0" smtClean="0"/>
              <a:t>(</a:t>
            </a: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rood</a:t>
            </a:r>
            <a:r>
              <a:rPr lang="en-US" sz="2400" dirty="0" smtClean="0"/>
              <a:t>-</a:t>
            </a:r>
            <a:r>
              <a:rPr lang="en-US" sz="2400" dirty="0" err="1" smtClean="0">
                <a:solidFill>
                  <a:schemeClr val="accent3">
                    <a:lumMod val="50000"/>
                  </a:schemeClr>
                </a:solidFill>
              </a:rPr>
              <a:t>groen</a:t>
            </a:r>
            <a:r>
              <a:rPr lang="en-US" sz="2400" dirty="0" smtClean="0"/>
              <a:t>)</a:t>
            </a:r>
            <a:endParaRPr lang="en-US" sz="2400" dirty="0"/>
          </a:p>
          <a:p>
            <a:endParaRPr lang="nl-NL" dirty="0"/>
          </a:p>
        </p:txBody>
      </p:sp>
      <p:sp>
        <p:nvSpPr>
          <p:cNvPr id="3" name="Rechthoek 2"/>
          <p:cNvSpPr/>
          <p:nvPr/>
        </p:nvSpPr>
        <p:spPr>
          <a:xfrm>
            <a:off x="3635896" y="2821270"/>
            <a:ext cx="360040" cy="21602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" name="Rechthoek 4"/>
          <p:cNvSpPr/>
          <p:nvPr/>
        </p:nvSpPr>
        <p:spPr>
          <a:xfrm>
            <a:off x="5004048" y="2809389"/>
            <a:ext cx="360040" cy="216024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539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852936"/>
            <a:ext cx="8229600" cy="31451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kstvak 7"/>
          <p:cNvSpPr txBox="1"/>
          <p:nvPr/>
        </p:nvSpPr>
        <p:spPr>
          <a:xfrm>
            <a:off x="512432" y="2023684"/>
            <a:ext cx="8064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000" i="1" dirty="0" smtClean="0"/>
              <a:t>Een voorbeeldje van </a:t>
            </a:r>
            <a:r>
              <a:rPr lang="nl-NL" sz="2000" dirty="0"/>
              <a:t>verkeerd gebruik van kleur principe binnen een </a:t>
            </a:r>
            <a:r>
              <a:rPr lang="nl-NL" sz="2000" dirty="0" smtClean="0"/>
              <a:t>tabel:</a:t>
            </a:r>
            <a:endParaRPr lang="nl-NL" sz="2000" i="1" dirty="0"/>
          </a:p>
        </p:txBody>
      </p:sp>
      <p:sp>
        <p:nvSpPr>
          <p:cNvPr id="6" name="Titel 1"/>
          <p:cNvSpPr txBox="1">
            <a:spLocks/>
          </p:cNvSpPr>
          <p:nvPr/>
        </p:nvSpPr>
        <p:spPr>
          <a:xfrm>
            <a:off x="430080" y="33265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i="1" dirty="0" smtClean="0"/>
              <a:t>Principe 1:</a:t>
            </a:r>
            <a:r>
              <a:rPr lang="en-US" dirty="0" smtClean="0"/>
              <a:t> ‘</a:t>
            </a:r>
            <a:r>
              <a:rPr lang="en-US" b="1" dirty="0" err="1" smtClean="0">
                <a:solidFill>
                  <a:srgbClr val="00B050"/>
                </a:solidFill>
              </a:rPr>
              <a:t>K</a:t>
            </a:r>
            <a:r>
              <a:rPr lang="en-US" b="1" dirty="0" err="1" smtClean="0">
                <a:solidFill>
                  <a:srgbClr val="C00000"/>
                </a:solidFill>
              </a:rPr>
              <a:t>l</a:t>
            </a:r>
            <a:r>
              <a:rPr lang="en-US" b="1" dirty="0" err="1" smtClean="0">
                <a:solidFill>
                  <a:srgbClr val="00B0F0"/>
                </a:solidFill>
              </a:rPr>
              <a:t>e</a:t>
            </a:r>
            <a:r>
              <a:rPr lang="en-US" b="1" dirty="0" err="1" smtClean="0">
                <a:solidFill>
                  <a:srgbClr val="7030A0"/>
                </a:solidFill>
              </a:rPr>
              <a:t>u</a:t>
            </a:r>
            <a:r>
              <a:rPr lang="en-US" b="1" dirty="0" err="1" smtClean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dirty="0" smtClean="0"/>
              <a:t>’                      </a:t>
            </a:r>
            <a:r>
              <a:rPr lang="nl-NL" sz="2400" i="1" dirty="0" smtClean="0">
                <a:solidFill>
                  <a:schemeClr val="bg1">
                    <a:lumMod val="50000"/>
                  </a:schemeClr>
                </a:solidFill>
              </a:rPr>
              <a:t>(stap 1)</a:t>
            </a:r>
            <a:endParaRPr lang="nl-NL" sz="2400" i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339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kstvak 3"/>
          <p:cNvSpPr txBox="1"/>
          <p:nvPr/>
        </p:nvSpPr>
        <p:spPr>
          <a:xfrm>
            <a:off x="467544" y="3284984"/>
            <a:ext cx="7992888" cy="3262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2800" dirty="0" smtClean="0"/>
              <a:t>- Geen decoratieve </a:t>
            </a:r>
            <a:r>
              <a:rPr lang="nl-NL" sz="2800" dirty="0"/>
              <a:t>elementen </a:t>
            </a:r>
            <a:r>
              <a:rPr lang="nl-NL" sz="2000" i="1" dirty="0" smtClean="0">
                <a:solidFill>
                  <a:schemeClr val="bg1">
                    <a:lumMod val="50000"/>
                  </a:schemeClr>
                </a:solidFill>
              </a:rPr>
              <a:t>(e.g. </a:t>
            </a:r>
            <a:r>
              <a:rPr lang="nl-NL" sz="2000" i="1" dirty="0">
                <a:solidFill>
                  <a:schemeClr val="bg1">
                    <a:lumMod val="50000"/>
                  </a:schemeClr>
                </a:solidFill>
              </a:rPr>
              <a:t>snelheidsmeters</a:t>
            </a:r>
            <a:r>
              <a:rPr lang="nl-NL" sz="2000" i="1" dirty="0" smtClean="0">
                <a:solidFill>
                  <a:schemeClr val="bg1">
                    <a:lumMod val="50000"/>
                  </a:schemeClr>
                </a:solidFill>
              </a:rPr>
              <a:t>)</a:t>
            </a:r>
            <a:br>
              <a:rPr lang="nl-NL" sz="2000" i="1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nl-NL" sz="2000" i="1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sz="2800" i="1" dirty="0" smtClean="0">
                <a:solidFill>
                  <a:schemeClr val="bg1">
                    <a:lumMod val="50000"/>
                  </a:schemeClr>
                </a:solidFill>
              </a:rPr>
              <a:t>- Type grafiek</a:t>
            </a:r>
            <a:br>
              <a:rPr lang="nl-NL" sz="2800" i="1" dirty="0" smtClean="0">
                <a:solidFill>
                  <a:schemeClr val="bg1">
                    <a:lumMod val="50000"/>
                  </a:schemeClr>
                </a:solidFill>
              </a:rPr>
            </a:br>
            <a:endParaRPr lang="nl-NL" sz="2800" i="1" dirty="0" smtClean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800" dirty="0" smtClean="0"/>
              <a:t>- Keep </a:t>
            </a:r>
            <a:r>
              <a:rPr lang="en-US" sz="2800" dirty="0"/>
              <a:t>it </a:t>
            </a:r>
            <a:r>
              <a:rPr lang="en-US" sz="2800" dirty="0" smtClean="0"/>
              <a:t>‘D.R.Y.’   </a:t>
            </a:r>
            <a:r>
              <a:rPr lang="en-US" sz="2800" dirty="0"/>
              <a:t>(-&gt; Don’t Repeat Yourself</a:t>
            </a:r>
            <a:r>
              <a:rPr lang="en-US" sz="2800" dirty="0" smtClean="0"/>
              <a:t>)</a:t>
            </a:r>
          </a:p>
          <a:p>
            <a:endParaRPr lang="en-US" sz="2800" dirty="0" smtClean="0"/>
          </a:p>
          <a:p>
            <a:r>
              <a:rPr lang="nl-NL" sz="2000" dirty="0"/>
              <a:t>- </a:t>
            </a:r>
            <a:r>
              <a:rPr lang="nl-NL" sz="2800" dirty="0"/>
              <a:t>Geen onnodige details</a:t>
            </a:r>
            <a:r>
              <a:rPr lang="nl-NL" sz="2000" dirty="0" smtClean="0"/>
              <a:t/>
            </a:r>
            <a:br>
              <a:rPr lang="nl-NL" sz="2000" dirty="0" smtClean="0"/>
            </a:br>
            <a:endParaRPr lang="nl-NL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7763" y="1196752"/>
            <a:ext cx="4513683" cy="2166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84311" y="476672"/>
            <a:ext cx="82296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nl-NL" i="1" dirty="0"/>
              <a:t>Principe 2: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Data-</a:t>
            </a:r>
            <a:r>
              <a:rPr lang="nl-NL" b="1" dirty="0" err="1">
                <a:solidFill>
                  <a:srgbClr val="00B0F0"/>
                </a:solidFill>
              </a:rPr>
              <a:t>Ink</a:t>
            </a:r>
            <a:r>
              <a:rPr lang="nl-NL" b="1" dirty="0">
                <a:solidFill>
                  <a:srgbClr val="00B0F0"/>
                </a:solidFill>
              </a:rPr>
              <a:t> ratio</a:t>
            </a:r>
            <a:r>
              <a:rPr lang="nl-NL" dirty="0" smtClean="0"/>
              <a:t>’             </a:t>
            </a:r>
            <a:r>
              <a:rPr lang="nl-NL" sz="2700" i="1" dirty="0" smtClean="0">
                <a:solidFill>
                  <a:schemeClr val="bg1">
                    <a:lumMod val="50000"/>
                  </a:schemeClr>
                </a:solidFill>
              </a:rPr>
              <a:t>(stap 1)</a:t>
            </a:r>
            <a:r>
              <a:rPr lang="nl-NL" sz="3200" i="1" dirty="0"/>
              <a:t/>
            </a:r>
            <a:br>
              <a:rPr lang="nl-NL" sz="3200" i="1" dirty="0"/>
            </a:br>
            <a:r>
              <a:rPr lang="nl-NL" sz="2700" i="1" dirty="0">
                <a:solidFill>
                  <a:schemeClr val="bg1">
                    <a:lumMod val="50000"/>
                  </a:schemeClr>
                </a:solidFill>
              </a:rPr>
              <a:t>(Edward Tufte)</a:t>
            </a:r>
            <a:endParaRPr lang="nl-NL" sz="27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7380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4"/>
          <p:cNvSpPr>
            <a:spLocks noGrp="1"/>
          </p:cNvSpPr>
          <p:nvPr>
            <p:ph type="title"/>
          </p:nvPr>
        </p:nvSpPr>
        <p:spPr>
          <a:xfrm>
            <a:off x="484311" y="476672"/>
            <a:ext cx="8229600" cy="1080120"/>
          </a:xfrm>
        </p:spPr>
        <p:txBody>
          <a:bodyPr>
            <a:normAutofit fontScale="90000"/>
          </a:bodyPr>
          <a:lstStyle/>
          <a:p>
            <a:pPr algn="l"/>
            <a:r>
              <a:rPr lang="nl-NL" i="1" dirty="0"/>
              <a:t>Principe 2: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Data-</a:t>
            </a:r>
            <a:r>
              <a:rPr lang="nl-NL" b="1" dirty="0" err="1">
                <a:solidFill>
                  <a:srgbClr val="00B0F0"/>
                </a:solidFill>
              </a:rPr>
              <a:t>Ink</a:t>
            </a:r>
            <a:r>
              <a:rPr lang="nl-NL" b="1" dirty="0">
                <a:solidFill>
                  <a:srgbClr val="00B0F0"/>
                </a:solidFill>
              </a:rPr>
              <a:t> ratio</a:t>
            </a:r>
            <a:r>
              <a:rPr lang="nl-NL" dirty="0" smtClean="0"/>
              <a:t>’             </a:t>
            </a:r>
            <a:r>
              <a:rPr lang="nl-NL" sz="2700" i="1" dirty="0" smtClean="0">
                <a:solidFill>
                  <a:schemeClr val="bg1">
                    <a:lumMod val="50000"/>
                  </a:schemeClr>
                </a:solidFill>
              </a:rPr>
              <a:t>(stap 1)</a:t>
            </a:r>
            <a:r>
              <a:rPr lang="nl-NL" sz="3200" i="1" dirty="0"/>
              <a:t/>
            </a:r>
            <a:br>
              <a:rPr lang="nl-NL" sz="3200" i="1" dirty="0"/>
            </a:br>
            <a:endParaRPr lang="nl-NL" sz="27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132856"/>
            <a:ext cx="6501640" cy="36724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11" descr="\\prod.ka.uwv.nl\Private\Users\Home05\mhe133\Mijn Bureaublad\dashboar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920" y="3212976"/>
            <a:ext cx="4993342" cy="3384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/>
          <p:cNvSpPr txBox="1"/>
          <p:nvPr/>
        </p:nvSpPr>
        <p:spPr>
          <a:xfrm>
            <a:off x="296928" y="1663933"/>
            <a:ext cx="8593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Voorbeelden van verkeerde data-</a:t>
            </a:r>
            <a:r>
              <a:rPr lang="nl-NL" dirty="0" err="1"/>
              <a:t>ink</a:t>
            </a:r>
            <a:r>
              <a:rPr lang="nl-NL" dirty="0"/>
              <a:t> ratio principe binnen </a:t>
            </a:r>
            <a:r>
              <a:rPr lang="nl-NL" dirty="0" smtClean="0"/>
              <a:t>grafieken: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88078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 smtClean="0"/>
              <a:t>’                   </a:t>
            </a:r>
            <a:r>
              <a:rPr lang="nl-NL" sz="2400" i="1" dirty="0" smtClean="0">
                <a:solidFill>
                  <a:schemeClr val="bg1">
                    <a:lumMod val="50000"/>
                  </a:schemeClr>
                </a:solidFill>
              </a:rPr>
              <a:t>(stap </a:t>
            </a:r>
            <a:r>
              <a:rPr lang="nl-NL" sz="2400" i="1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5" name="Tekstvak 4"/>
          <p:cNvSpPr txBox="1"/>
          <p:nvPr/>
        </p:nvSpPr>
        <p:spPr>
          <a:xfrm>
            <a:off x="611560" y="2492896"/>
            <a:ext cx="748883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Char char="-"/>
            </a:pPr>
            <a:r>
              <a:rPr lang="nl-NL" sz="2400" dirty="0" smtClean="0"/>
              <a:t>Maak </a:t>
            </a:r>
            <a:r>
              <a:rPr lang="nl-NL" sz="2400" dirty="0"/>
              <a:t>in één oogopslag zichtbaar wat belangrijk is</a:t>
            </a:r>
            <a:r>
              <a:rPr lang="nl-NL" sz="2400" dirty="0" smtClean="0"/>
              <a:t>.</a:t>
            </a:r>
          </a:p>
          <a:p>
            <a:r>
              <a:rPr lang="nl-NL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( daarom max 1 screen voor dashboards, denk aan het </a:t>
            </a:r>
            <a:r>
              <a:rPr lang="nl-NL" i="1" dirty="0" err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fold</a:t>
            </a:r>
            <a:r>
              <a:rPr lang="nl-NL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-principe bij</a:t>
            </a:r>
            <a:br>
              <a:rPr lang="nl-NL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br>
            <a:r>
              <a:rPr lang="nl-NL" i="1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          websites)</a:t>
            </a:r>
          </a:p>
          <a:p>
            <a:endParaRPr lang="nl-NL" i="1" dirty="0"/>
          </a:p>
          <a:p>
            <a:endParaRPr lang="nl-NL" dirty="0" smtClean="0"/>
          </a:p>
          <a:p>
            <a:pPr marL="285750" indent="-285750">
              <a:buFontTx/>
              <a:buChar char="-"/>
            </a:pPr>
            <a:r>
              <a:rPr lang="nl-NL" sz="2400" dirty="0" smtClean="0"/>
              <a:t>Links &gt; Rechts</a:t>
            </a:r>
          </a:p>
          <a:p>
            <a:endParaRPr lang="nl-NL" sz="2400" dirty="0" smtClean="0"/>
          </a:p>
          <a:p>
            <a:r>
              <a:rPr lang="nl-NL" dirty="0" smtClean="0"/>
              <a:t>-    </a:t>
            </a:r>
            <a:r>
              <a:rPr lang="nl-NL" sz="2400" dirty="0" smtClean="0"/>
              <a:t>Hoog &gt; laag</a:t>
            </a:r>
          </a:p>
          <a:p>
            <a:r>
              <a:rPr lang="nl-NL" dirty="0" smtClean="0"/>
              <a:t/>
            </a:r>
            <a:br>
              <a:rPr lang="nl-NL" dirty="0" smtClean="0"/>
            </a:b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88895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804474"/>
            <a:ext cx="4115238" cy="385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452297"/>
            <a:ext cx="4001593" cy="44529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 smtClean="0"/>
              <a:t>’                   </a:t>
            </a:r>
            <a:r>
              <a:rPr lang="nl-NL" sz="2400" i="1" dirty="0" smtClean="0">
                <a:solidFill>
                  <a:schemeClr val="bg1">
                    <a:lumMod val="50000"/>
                  </a:schemeClr>
                </a:solidFill>
              </a:rPr>
              <a:t>(stap </a:t>
            </a:r>
            <a:r>
              <a:rPr lang="nl-NL" sz="2400" i="1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</p:spTree>
    <p:extLst>
      <p:ext uri="{BB962C8B-B14F-4D97-AF65-F5344CB8AC3E}">
        <p14:creationId xmlns:p14="http://schemas.microsoft.com/office/powerpoint/2010/main" val="36091004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nl-NL" i="1" dirty="0"/>
              <a:t>Principe 3:</a:t>
            </a:r>
            <a:r>
              <a:rPr lang="nl-NL" dirty="0"/>
              <a:t> ‘</a:t>
            </a:r>
            <a:r>
              <a:rPr lang="nl-NL" b="1" dirty="0">
                <a:solidFill>
                  <a:srgbClr val="00B0F0"/>
                </a:solidFill>
              </a:rPr>
              <a:t>Locatie</a:t>
            </a:r>
            <a:r>
              <a:rPr lang="nl-NL" dirty="0" smtClean="0"/>
              <a:t>’                   </a:t>
            </a:r>
            <a:r>
              <a:rPr lang="nl-NL" sz="2400" i="1" dirty="0" smtClean="0">
                <a:solidFill>
                  <a:schemeClr val="bg1">
                    <a:lumMod val="50000"/>
                  </a:schemeClr>
                </a:solidFill>
              </a:rPr>
              <a:t>(stap </a:t>
            </a:r>
            <a:r>
              <a:rPr lang="nl-NL" sz="2400" i="1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45801410"/>
              </p:ext>
            </p:extLst>
          </p:nvPr>
        </p:nvGraphicFramePr>
        <p:xfrm>
          <a:off x="2123728" y="2564904"/>
          <a:ext cx="5112568" cy="38884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kstvak 1"/>
          <p:cNvSpPr txBox="1"/>
          <p:nvPr/>
        </p:nvSpPr>
        <p:spPr>
          <a:xfrm>
            <a:off x="174616" y="1916832"/>
            <a:ext cx="87129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Voorbeeld van verkeerd gebruik van locatie principe binnen </a:t>
            </a:r>
            <a:r>
              <a:rPr lang="nl-NL" dirty="0" smtClean="0"/>
              <a:t>een grafiek:</a:t>
            </a:r>
            <a:endParaRPr lang="nl-NL" dirty="0"/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5511436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kstvak 4"/>
          <p:cNvSpPr txBox="1"/>
          <p:nvPr/>
        </p:nvSpPr>
        <p:spPr>
          <a:xfrm>
            <a:off x="443023" y="1268760"/>
            <a:ext cx="84249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smtClean="0"/>
              <a:t>Combineer gebruik van </a:t>
            </a:r>
            <a:r>
              <a:rPr lang="nl-NL" dirty="0" smtClean="0"/>
              <a:t>principe </a:t>
            </a:r>
            <a:r>
              <a:rPr lang="nl-NL" dirty="0"/>
              <a:t>1 </a:t>
            </a:r>
            <a:r>
              <a:rPr lang="nl-NL" dirty="0" smtClean="0"/>
              <a:t>‘</a:t>
            </a:r>
            <a:r>
              <a:rPr lang="nl-NL" i="1" dirty="0"/>
              <a:t>kleur</a:t>
            </a:r>
            <a:r>
              <a:rPr lang="nl-NL" dirty="0" smtClean="0"/>
              <a:t>’, principe </a:t>
            </a:r>
            <a:r>
              <a:rPr lang="nl-NL" dirty="0"/>
              <a:t>2 ‘</a:t>
            </a:r>
            <a:r>
              <a:rPr lang="nl-NL" i="1" dirty="0"/>
              <a:t>Data-</a:t>
            </a:r>
            <a:r>
              <a:rPr lang="nl-NL" i="1" dirty="0" err="1"/>
              <a:t>ink</a:t>
            </a:r>
            <a:r>
              <a:rPr lang="nl-NL" i="1" dirty="0"/>
              <a:t> ratio</a:t>
            </a:r>
            <a:r>
              <a:rPr lang="nl-NL" dirty="0"/>
              <a:t>’ </a:t>
            </a:r>
            <a:r>
              <a:rPr lang="nl-NL" dirty="0" smtClean="0"/>
              <a:t>en principe 3 </a:t>
            </a:r>
            <a:r>
              <a:rPr lang="nl-NL" i="1" dirty="0" smtClean="0"/>
              <a:t>‘Locatie’ </a:t>
            </a:r>
            <a:r>
              <a:rPr lang="nl-NL" dirty="0" smtClean="0"/>
              <a:t>om de </a:t>
            </a:r>
            <a:r>
              <a:rPr lang="nl-NL" dirty="0" smtClean="0"/>
              <a:t>focus daar leggen (‘</a:t>
            </a:r>
            <a:r>
              <a:rPr lang="nl-NL" i="1" dirty="0" smtClean="0"/>
              <a:t>stap 2</a:t>
            </a:r>
            <a:r>
              <a:rPr lang="nl-NL" dirty="0" smtClean="0"/>
              <a:t>’) precies </a:t>
            </a:r>
            <a:r>
              <a:rPr lang="nl-NL" dirty="0"/>
              <a:t>waar </a:t>
            </a:r>
            <a:r>
              <a:rPr lang="nl-NL" dirty="0" smtClean="0"/>
              <a:t>jij wilt dat deze komt. </a:t>
            </a:r>
            <a:endParaRPr lang="nl-NL" dirty="0"/>
          </a:p>
          <a:p>
            <a:endParaRPr lang="nl-NL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023" y="1916832"/>
            <a:ext cx="6095508" cy="4156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kstvak 7"/>
          <p:cNvSpPr txBox="1"/>
          <p:nvPr/>
        </p:nvSpPr>
        <p:spPr>
          <a:xfrm>
            <a:off x="611560" y="260648"/>
            <a:ext cx="77768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b="1" dirty="0" smtClean="0">
                <a:solidFill>
                  <a:srgbClr val="00B0F0"/>
                </a:solidFill>
              </a:rPr>
              <a:t>Stap 2:</a:t>
            </a:r>
            <a:r>
              <a:rPr lang="nl-NL" sz="3200" dirty="0" smtClean="0"/>
              <a:t> Focus bepalen</a:t>
            </a:r>
            <a:endParaRPr lang="nl-NL" sz="3200" dirty="0"/>
          </a:p>
        </p:txBody>
      </p:sp>
      <p:pic>
        <p:nvPicPr>
          <p:cNvPr id="6" name="Picture 2" descr="http://www.dashboardinsight.com/CMS/e2bfe81e-e055-4729-aa8e-cddb3e0d561b/stephen-few-bullet-graph-and-sparkline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5236" y="3356992"/>
            <a:ext cx="6142723" cy="31683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020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914400" y="260648"/>
            <a:ext cx="8229600" cy="748680"/>
          </a:xfrm>
        </p:spPr>
        <p:txBody>
          <a:bodyPr/>
          <a:lstStyle/>
          <a:p>
            <a:pPr marL="0" indent="0">
              <a:buNone/>
            </a:pPr>
            <a:r>
              <a:rPr lang="nl-NL" b="1" dirty="0" smtClean="0">
                <a:solidFill>
                  <a:srgbClr val="00B0F0"/>
                </a:solidFill>
              </a:rPr>
              <a:t>Stap 3:</a:t>
            </a:r>
            <a:r>
              <a:rPr lang="nl-NL" dirty="0" smtClean="0"/>
              <a:t> kies het juiste type grafiek</a:t>
            </a:r>
            <a:endParaRPr lang="nl-NL" dirty="0"/>
          </a:p>
        </p:txBody>
      </p:sp>
      <p:sp>
        <p:nvSpPr>
          <p:cNvPr id="4" name="Tekstvak 3"/>
          <p:cNvSpPr txBox="1"/>
          <p:nvPr/>
        </p:nvSpPr>
        <p:spPr>
          <a:xfrm>
            <a:off x="1475656" y="3789040"/>
            <a:ext cx="59766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 err="1" smtClean="0"/>
              <a:t>Dmv</a:t>
            </a:r>
            <a:r>
              <a:rPr lang="nl-NL" dirty="0" smtClean="0"/>
              <a:t> voorbeelden: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636770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7459743"/>
              </p:ext>
            </p:extLst>
          </p:nvPr>
        </p:nvGraphicFramePr>
        <p:xfrm>
          <a:off x="3707904" y="1556792"/>
          <a:ext cx="5194920" cy="34129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43769067"/>
              </p:ext>
            </p:extLst>
          </p:nvPr>
        </p:nvGraphicFramePr>
        <p:xfrm>
          <a:off x="539552" y="1772816"/>
          <a:ext cx="3055217" cy="3232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smtClean="0"/>
              <a:t>Staven </a:t>
            </a:r>
            <a:r>
              <a:rPr lang="nl-NL" dirty="0" smtClean="0"/>
              <a:t>&gt; </a:t>
            </a:r>
            <a:r>
              <a:rPr lang="nl-NL" dirty="0" err="1" smtClean="0"/>
              <a:t>pie-charts</a:t>
            </a:r>
            <a:endParaRPr lang="nl-NL" dirty="0"/>
          </a:p>
        </p:txBody>
      </p:sp>
      <p:sp>
        <p:nvSpPr>
          <p:cNvPr id="7" name="Tekstvak 6"/>
          <p:cNvSpPr txBox="1"/>
          <p:nvPr/>
        </p:nvSpPr>
        <p:spPr>
          <a:xfrm>
            <a:off x="1069004" y="5085184"/>
            <a:ext cx="73448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Nadruk leggen op de data (geen onnodig vet, of zwart).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Niet te veel </a:t>
            </a:r>
            <a:r>
              <a:rPr lang="nl-NL" dirty="0"/>
              <a:t>kleuren </a:t>
            </a:r>
            <a:r>
              <a:rPr lang="nl-NL" dirty="0" smtClean="0"/>
              <a:t>en geen verzadigde </a:t>
            </a:r>
            <a:r>
              <a:rPr lang="nl-NL" dirty="0"/>
              <a:t>kleuren</a:t>
            </a:r>
            <a:r>
              <a:rPr lang="nl-NL" dirty="0" smtClean="0"/>
              <a:t>.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Waarschuwingskleuren rood en geel alleen om te waarschuwen.</a:t>
            </a:r>
          </a:p>
        </p:txBody>
      </p:sp>
    </p:spTree>
    <p:extLst>
      <p:ext uri="{BB962C8B-B14F-4D97-AF65-F5344CB8AC3E}">
        <p14:creationId xmlns:p14="http://schemas.microsoft.com/office/powerpoint/2010/main" val="718507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915469"/>
              </p:ext>
            </p:extLst>
          </p:nvPr>
        </p:nvGraphicFramePr>
        <p:xfrm>
          <a:off x="457200" y="1196752"/>
          <a:ext cx="3466728" cy="2520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48457107"/>
              </p:ext>
            </p:extLst>
          </p:nvPr>
        </p:nvGraphicFramePr>
        <p:xfrm>
          <a:off x="4499992" y="1268760"/>
          <a:ext cx="3528392" cy="24482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fiek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5341937"/>
              </p:ext>
            </p:extLst>
          </p:nvPr>
        </p:nvGraphicFramePr>
        <p:xfrm>
          <a:off x="539552" y="3717032"/>
          <a:ext cx="5472608" cy="2924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63377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Of.. De </a:t>
            </a:r>
            <a:r>
              <a:rPr lang="nl-NL" dirty="0" err="1" smtClean="0"/>
              <a:t>Bulletgraph</a:t>
            </a:r>
            <a:endParaRPr lang="nl-NL" dirty="0"/>
          </a:p>
        </p:txBody>
      </p:sp>
      <p:sp>
        <p:nvSpPr>
          <p:cNvPr id="5" name="Tekstvak 4"/>
          <p:cNvSpPr txBox="1"/>
          <p:nvPr/>
        </p:nvSpPr>
        <p:spPr>
          <a:xfrm>
            <a:off x="4644008" y="5517232"/>
            <a:ext cx="360187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600" i="1" dirty="0"/>
              <a:t>De ‘</a:t>
            </a:r>
            <a:r>
              <a:rPr lang="nl-NL" sz="1600" i="1" dirty="0" err="1"/>
              <a:t>bulletgraph</a:t>
            </a:r>
            <a:r>
              <a:rPr lang="nl-NL" sz="1600" i="1" dirty="0" smtClean="0"/>
              <a:t>’ van Stephen Few</a:t>
            </a:r>
            <a:endParaRPr lang="nl-NL" sz="1600" i="1" dirty="0"/>
          </a:p>
          <a:p>
            <a:endParaRPr lang="nl-NL" dirty="0"/>
          </a:p>
        </p:txBody>
      </p:sp>
      <p:sp>
        <p:nvSpPr>
          <p:cNvPr id="6" name="Rechthoek 5"/>
          <p:cNvSpPr/>
          <p:nvPr/>
        </p:nvSpPr>
        <p:spPr>
          <a:xfrm>
            <a:off x="-2988840" y="3803057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nl-NL" dirty="0"/>
          </a:p>
          <a:p>
            <a:r>
              <a:rPr lang="nl-NL" dirty="0"/>
              <a:t>  </a:t>
            </a:r>
          </a:p>
          <a:p>
            <a:r>
              <a:rPr lang="nl-NL" dirty="0"/>
              <a:t>  </a:t>
            </a:r>
          </a:p>
          <a:p>
            <a:r>
              <a:rPr lang="nl-NL" dirty="0"/>
              <a:t>    </a:t>
            </a:r>
          </a:p>
          <a:p>
            <a:r>
              <a:rPr lang="nl-NL" dirty="0"/>
              <a:t>    </a:t>
            </a:r>
          </a:p>
          <a:p>
            <a:r>
              <a:rPr lang="nl-NL" dirty="0"/>
              <a:t> </a:t>
            </a: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212" y="1916832"/>
            <a:ext cx="6604140" cy="3291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7092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ijdelijke aanduiding voor inhoud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191615"/>
              </p:ext>
            </p:extLst>
          </p:nvPr>
        </p:nvGraphicFramePr>
        <p:xfrm>
          <a:off x="323528" y="1268761"/>
          <a:ext cx="4536504" cy="26642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Grafiek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651452"/>
              </p:ext>
            </p:extLst>
          </p:nvPr>
        </p:nvGraphicFramePr>
        <p:xfrm>
          <a:off x="5220072" y="1340768"/>
          <a:ext cx="3246295" cy="24938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Grafiek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54647754"/>
              </p:ext>
            </p:extLst>
          </p:nvPr>
        </p:nvGraphicFramePr>
        <p:xfrm>
          <a:off x="395536" y="4005064"/>
          <a:ext cx="5904656" cy="27211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957261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Visualiseren trends</a:t>
            </a:r>
            <a:endParaRPr lang="nl-NL" dirty="0"/>
          </a:p>
        </p:txBody>
      </p:sp>
      <p:graphicFrame>
        <p:nvGraphicFramePr>
          <p:cNvPr id="4" name="Totaaloverzicht onderdelen UWV.nl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2034234"/>
              </p:ext>
            </p:extLst>
          </p:nvPr>
        </p:nvGraphicFramePr>
        <p:xfrm>
          <a:off x="395536" y="1340768"/>
          <a:ext cx="4618856" cy="2736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Totaaloverzicht onderdelen UWV.nl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3837826"/>
              </p:ext>
            </p:extLst>
          </p:nvPr>
        </p:nvGraphicFramePr>
        <p:xfrm>
          <a:off x="291578" y="4077072"/>
          <a:ext cx="4856486" cy="251921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628800"/>
            <a:ext cx="3701212" cy="7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4128" y="4509120"/>
            <a:ext cx="3182754" cy="1008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92447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Visualiseren trends</a:t>
            </a:r>
            <a:endParaRPr lang="nl-NL" dirty="0"/>
          </a:p>
        </p:txBody>
      </p:sp>
      <p:graphicFrame>
        <p:nvGraphicFramePr>
          <p:cNvPr id="4" name="Grafiek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7181889"/>
              </p:ext>
            </p:extLst>
          </p:nvPr>
        </p:nvGraphicFramePr>
        <p:xfrm>
          <a:off x="1043608" y="1412776"/>
          <a:ext cx="6120680" cy="26642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672" y="4509120"/>
            <a:ext cx="5688632" cy="1706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2040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/>
              <a:t>“foute” grafieken/tabellen</a:t>
            </a:r>
            <a:br>
              <a:rPr lang="nl-NL" dirty="0"/>
            </a:b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  <a:p>
            <a:r>
              <a:rPr lang="nl-NL" dirty="0" smtClean="0"/>
              <a:t>Kun je bij deze grafieken en tabellen nu zien op basis van welke principes ze zo onprettig zijn?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87079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smtClean="0"/>
              <a:t>VB: telefonische vragen</a:t>
            </a:r>
            <a:endParaRPr lang="nl-NL" dirty="0"/>
          </a:p>
        </p:txBody>
      </p:sp>
      <p:graphicFrame>
        <p:nvGraphicFramePr>
          <p:cNvPr id="15" name="Tijdelijke aanduiding voor inhoud 1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37058985"/>
              </p:ext>
            </p:extLst>
          </p:nvPr>
        </p:nvGraphicFramePr>
        <p:xfrm>
          <a:off x="457200" y="1600201"/>
          <a:ext cx="6851104" cy="39890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8234955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VB: digitale producten</a:t>
            </a:r>
            <a:endParaRPr lang="nl-NL" dirty="0"/>
          </a:p>
        </p:txBody>
      </p:sp>
      <p:pic>
        <p:nvPicPr>
          <p:cNvPr id="4" name="Picture 11" descr="\\prod.ka.uwv.nl\Private\Users\Home05\mhe133\Mijn Bureaublad\dashboar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484784"/>
            <a:ext cx="6480720" cy="4392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6645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smtClean="0"/>
              <a:t>VB: Aandeel onderdelen werknemers</a:t>
            </a:r>
            <a:endParaRPr lang="nl-NL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484784"/>
            <a:ext cx="8280919" cy="31683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488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VB: gemiddelde performance</a:t>
            </a:r>
            <a:endParaRPr lang="nl-NL" dirty="0"/>
          </a:p>
        </p:txBody>
      </p:sp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84784"/>
            <a:ext cx="7488832" cy="4752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77283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l-NL" dirty="0" smtClean="0"/>
              <a:t>VB: Contactduur per werkmapgebruiker</a:t>
            </a:r>
            <a:endParaRPr lang="nl-NL" dirty="0"/>
          </a:p>
        </p:txBody>
      </p:sp>
      <p:pic>
        <p:nvPicPr>
          <p:cNvPr id="4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56793"/>
            <a:ext cx="8192033" cy="4627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14377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828800"/>
          </a:xfrm>
        </p:spPr>
        <p:txBody>
          <a:bodyPr/>
          <a:lstStyle/>
          <a:p>
            <a:r>
              <a:rPr lang="nl-NL" dirty="0" smtClean="0"/>
              <a:t>Voorbeelden van een aantal van Stephen </a:t>
            </a:r>
            <a:r>
              <a:rPr lang="nl-NL" dirty="0" err="1" smtClean="0"/>
              <a:t>Few’s</a:t>
            </a:r>
            <a:r>
              <a:rPr lang="nl-NL" dirty="0" smtClean="0"/>
              <a:t> grafieken, tabellen en dashboards: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900655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Dashboard van Stephen Few</a:t>
            </a:r>
            <a:endParaRPr lang="nl-NL" dirty="0"/>
          </a:p>
        </p:txBody>
      </p:sp>
      <p:pic>
        <p:nvPicPr>
          <p:cNvPr id="2050" name="Picture 2" descr="http://www.perceptualedge.com/blog/wp-content/uploads/2012/10/dashboard-competition-runner-up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268761"/>
            <a:ext cx="8640960" cy="5472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4193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B</a:t>
            </a:r>
            <a:r>
              <a:rPr lang="nl-NL" dirty="0" err="1" smtClean="0"/>
              <a:t>ullet</a:t>
            </a:r>
            <a:r>
              <a:rPr lang="nl-NL" dirty="0" smtClean="0"/>
              <a:t> </a:t>
            </a:r>
            <a:r>
              <a:rPr lang="nl-NL" dirty="0" err="1" smtClean="0"/>
              <a:t>graph</a:t>
            </a:r>
            <a:r>
              <a:rPr lang="nl-NL" dirty="0" smtClean="0"/>
              <a:t> van Stephen Few</a:t>
            </a:r>
            <a:endParaRPr lang="nl-NL" dirty="0"/>
          </a:p>
        </p:txBody>
      </p:sp>
      <p:pic>
        <p:nvPicPr>
          <p:cNvPr id="1026" name="Picture 2" descr="http://www.dashboardinsight.com/CMS/e2bfe81e-e055-4729-aa8e-cddb3e0d561b/stephen-few-bullet-graph-and-sparklines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556792"/>
            <a:ext cx="6840760" cy="3528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kstvak 6"/>
          <p:cNvSpPr txBox="1"/>
          <p:nvPr/>
        </p:nvSpPr>
        <p:spPr>
          <a:xfrm>
            <a:off x="1907704" y="522920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Thermometers i.p.v. meters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Waarschuwingskleur alleen om te waarschuwen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Zachte, onopvallende achtergrondkleur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070462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Dashboard van Stephen Few</a:t>
            </a:r>
            <a:endParaRPr lang="nl-NL" dirty="0"/>
          </a:p>
        </p:txBody>
      </p:sp>
      <p:pic>
        <p:nvPicPr>
          <p:cNvPr id="2050" name="Picture 2" descr="http://infosthetics.com/archives/stephen_few_infovis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628800"/>
            <a:ext cx="5112568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kstvak 3"/>
          <p:cNvSpPr txBox="1"/>
          <p:nvPr/>
        </p:nvSpPr>
        <p:spPr>
          <a:xfrm>
            <a:off x="6084168" y="2204864"/>
            <a:ext cx="27363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Spaarzaam kleurgebruik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Nadruk op data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Weinig </a:t>
            </a:r>
            <a:r>
              <a:rPr lang="nl-NL" dirty="0" err="1" smtClean="0"/>
              <a:t>ink</a:t>
            </a:r>
            <a:endParaRPr lang="nl-NL" dirty="0" smtClean="0"/>
          </a:p>
          <a:p>
            <a:pPr marL="285750" indent="-285750">
              <a:buFont typeface="Arial" pitchFamily="34" charset="0"/>
              <a:buChar char="•"/>
            </a:pPr>
            <a:r>
              <a:rPr lang="nl-NL" dirty="0" smtClean="0"/>
              <a:t>Geen overbodige informatie of decoratie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98507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smtClean="0"/>
              <a:t>Bronnen</a:t>
            </a:r>
            <a:endParaRPr lang="nl-NL" dirty="0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67544" y="1916832"/>
            <a:ext cx="8229600" cy="4525963"/>
          </a:xfrm>
        </p:spPr>
        <p:txBody>
          <a:bodyPr/>
          <a:lstStyle/>
          <a:p>
            <a:pPr marL="0" indent="0">
              <a:buNone/>
            </a:pPr>
            <a:r>
              <a:rPr lang="nl-NL" sz="2800" dirty="0" smtClean="0"/>
              <a:t>Stephen Few </a:t>
            </a:r>
          </a:p>
          <a:p>
            <a:pPr marL="0" indent="0">
              <a:buNone/>
            </a:pPr>
            <a:r>
              <a:rPr lang="nl-NL" sz="2800" dirty="0"/>
              <a:t> </a:t>
            </a:r>
            <a:r>
              <a:rPr lang="nl-NL" sz="2800" dirty="0" smtClean="0"/>
              <a:t>          - Common </a:t>
            </a:r>
            <a:r>
              <a:rPr lang="nl-NL" sz="2800" dirty="0" err="1" smtClean="0"/>
              <a:t>pitfalls</a:t>
            </a:r>
            <a:r>
              <a:rPr lang="nl-NL" sz="2800" dirty="0" smtClean="0"/>
              <a:t> in dashboard design</a:t>
            </a:r>
          </a:p>
          <a:p>
            <a:pPr marL="0" indent="0">
              <a:buNone/>
            </a:pPr>
            <a:r>
              <a:rPr lang="nl-NL" sz="2800" dirty="0"/>
              <a:t> </a:t>
            </a:r>
            <a:r>
              <a:rPr lang="nl-NL" sz="2800" dirty="0" smtClean="0"/>
              <a:t>          - Dashboard </a:t>
            </a:r>
            <a:r>
              <a:rPr lang="nl-NL" sz="2800" dirty="0" err="1" smtClean="0"/>
              <a:t>confusion</a:t>
            </a:r>
            <a:r>
              <a:rPr lang="nl-NL" sz="2800" dirty="0" smtClean="0"/>
              <a:t> </a:t>
            </a:r>
            <a:r>
              <a:rPr lang="nl-NL" sz="2800" dirty="0" err="1" smtClean="0"/>
              <a:t>revisited</a:t>
            </a:r>
            <a:endParaRPr lang="nl-NL" sz="2800" dirty="0" smtClean="0"/>
          </a:p>
          <a:p>
            <a:pPr marL="0" indent="0">
              <a:buNone/>
            </a:pPr>
            <a:r>
              <a:rPr lang="nl-NL" sz="2800" dirty="0"/>
              <a:t> </a:t>
            </a:r>
            <a:r>
              <a:rPr lang="nl-NL" sz="2800" dirty="0" smtClean="0"/>
              <a:t>          - Save the pies </a:t>
            </a:r>
            <a:r>
              <a:rPr lang="nl-NL" sz="2800" dirty="0" err="1" smtClean="0"/>
              <a:t>for</a:t>
            </a:r>
            <a:r>
              <a:rPr lang="nl-NL" sz="2800" dirty="0" smtClean="0"/>
              <a:t> dessert</a:t>
            </a:r>
          </a:p>
          <a:p>
            <a:pPr marL="0" indent="0">
              <a:buNone/>
            </a:pPr>
            <a:r>
              <a:rPr lang="nl-NL" sz="2800" dirty="0" smtClean="0"/>
              <a:t>John </a:t>
            </a:r>
            <a:r>
              <a:rPr lang="nl-NL" sz="2800" dirty="0" err="1" smtClean="0"/>
              <a:t>Lokman</a:t>
            </a:r>
            <a:r>
              <a:rPr lang="nl-NL" sz="2800" dirty="0" smtClean="0"/>
              <a:t/>
            </a:r>
            <a:br>
              <a:rPr lang="nl-NL" sz="2800" dirty="0" smtClean="0"/>
            </a:br>
            <a:r>
              <a:rPr lang="nl-NL" sz="2800" dirty="0" smtClean="0"/>
              <a:t>Marieke Heijman</a:t>
            </a:r>
          </a:p>
          <a:p>
            <a:pPr marL="0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510043661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Kantoor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Kantoor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Kantoor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Kantoor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Kantoor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Kantoor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</a:minorFont>
  </a:fontScheme>
  <a:fmtScheme name="Kantoor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1349</TotalTime>
  <Words>725</Words>
  <Application>Microsoft Office PowerPoint</Application>
  <PresentationFormat>Diavoorstelling (4:3)</PresentationFormat>
  <Paragraphs>159</Paragraphs>
  <Slides>29</Slides>
  <Notes>4</Notes>
  <HiddenSlides>0</HiddenSlides>
  <MMClips>0</MMClips>
  <ScaleCrop>false</ScaleCrop>
  <HeadingPairs>
    <vt:vector size="4" baseType="variant">
      <vt:variant>
        <vt:lpstr>Thema</vt:lpstr>
      </vt:variant>
      <vt:variant>
        <vt:i4>1</vt:i4>
      </vt:variant>
      <vt:variant>
        <vt:lpstr>Diatitels</vt:lpstr>
      </vt:variant>
      <vt:variant>
        <vt:i4>29</vt:i4>
      </vt:variant>
    </vt:vector>
  </HeadingPairs>
  <TitlesOfParts>
    <vt:vector size="30" baseType="lpstr">
      <vt:lpstr>blank</vt:lpstr>
      <vt:lpstr>“Ergonomische” Data Visualisatie </vt:lpstr>
      <vt:lpstr>Dashboard ≠ rapportage</vt:lpstr>
      <vt:lpstr>Datavisualisatie voor Dashboarding</vt:lpstr>
      <vt:lpstr>Principe 1: ‘Kleur’                      (stap 1)</vt:lpstr>
      <vt:lpstr>PowerPoint-presentatie</vt:lpstr>
      <vt:lpstr>Principe 2: ‘Data-Ink ratio’             (stap 1) (Edward Tufte)</vt:lpstr>
      <vt:lpstr>Principe 2: ‘Data-Ink ratio’             (stap 1) </vt:lpstr>
      <vt:lpstr>Principe 3: ‘Locatie’                   (stap 1)</vt:lpstr>
      <vt:lpstr>Principe 3: ‘Locatie’                   (stap 1)</vt:lpstr>
      <vt:lpstr>Principe 3: ‘Locatie’                   (stap 1)</vt:lpstr>
      <vt:lpstr>PowerPoint-presentatie</vt:lpstr>
      <vt:lpstr>PowerPoint-presentatie</vt:lpstr>
      <vt:lpstr>Staven &gt; pie-charts</vt:lpstr>
      <vt:lpstr>PowerPoint-presentatie</vt:lpstr>
      <vt:lpstr>Of.. De Bulletgraph</vt:lpstr>
      <vt:lpstr>PowerPoint-presentatie</vt:lpstr>
      <vt:lpstr>Visualiseren trends</vt:lpstr>
      <vt:lpstr>Visualiseren trends</vt:lpstr>
      <vt:lpstr>“foute” grafieken/tabellen </vt:lpstr>
      <vt:lpstr>VB: telefonische vragen</vt:lpstr>
      <vt:lpstr>VB: digitale producten</vt:lpstr>
      <vt:lpstr>VB: Aandeel onderdelen werknemers</vt:lpstr>
      <vt:lpstr>VB: gemiddelde performance</vt:lpstr>
      <vt:lpstr>VB: Contactduur per werkmapgebruiker</vt:lpstr>
      <vt:lpstr>PowerPoint-presentatie</vt:lpstr>
      <vt:lpstr>Dashboard van Stephen Few</vt:lpstr>
      <vt:lpstr>Bullet graph van Stephen Few</vt:lpstr>
      <vt:lpstr>Dashboard van Stephen Few</vt:lpstr>
      <vt:lpstr>Bronnen</vt:lpstr>
    </vt:vector>
  </TitlesOfParts>
  <Company>UWV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Heijman, Marieke (M.)</dc:creator>
  <cp:lastModifiedBy>Peutz, Steven (S.B.)</cp:lastModifiedBy>
  <cp:revision>107</cp:revision>
  <dcterms:created xsi:type="dcterms:W3CDTF">2016-03-08T08:12:02Z</dcterms:created>
  <dcterms:modified xsi:type="dcterms:W3CDTF">2016-07-08T07:51:13Z</dcterms:modified>
</cp:coreProperties>
</file>