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handoutMasterIdLst>
    <p:handoutMasterId r:id="rId22"/>
  </p:handoutMasterIdLst>
  <p:sldIdLst>
    <p:sldId id="256" r:id="rId5"/>
    <p:sldId id="259" r:id="rId6"/>
    <p:sldId id="261" r:id="rId7"/>
    <p:sldId id="273" r:id="rId8"/>
    <p:sldId id="271" r:id="rId9"/>
    <p:sldId id="272" r:id="rId10"/>
    <p:sldId id="262" r:id="rId11"/>
    <p:sldId id="270" r:id="rId12"/>
    <p:sldId id="263" r:id="rId13"/>
    <p:sldId id="264" r:id="rId14"/>
    <p:sldId id="265" r:id="rId15"/>
    <p:sldId id="269" r:id="rId16"/>
    <p:sldId id="266" r:id="rId17"/>
    <p:sldId id="267" r:id="rId18"/>
    <p:sldId id="268" r:id="rId19"/>
    <p:sldId id="274" r:id="rId20"/>
  </p:sldIdLst>
  <p:sldSz cx="9144000" cy="6858000" type="screen4x3"/>
  <p:notesSz cx="6858000" cy="9144000"/>
  <p:custDataLst>
    <p:tags r:id="rId23"/>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Standaardsectie" id="{340CF549-3F0D-4C0E-9BBE-09E82A226937}">
          <p14:sldIdLst>
            <p14:sldId id="256"/>
          </p14:sldIdLst>
        </p14:section>
        <p14:section name="Naamloze sectie" id="{A7E66160-D542-433B-8C12-DCB5F83F887A}">
          <p14:sldIdLst>
            <p14:sldId id="259"/>
            <p14:sldId id="261"/>
            <p14:sldId id="273"/>
            <p14:sldId id="271"/>
            <p14:sldId id="272"/>
            <p14:sldId id="262"/>
            <p14:sldId id="270"/>
            <p14:sldId id="263"/>
            <p14:sldId id="264"/>
            <p14:sldId id="265"/>
            <p14:sldId id="269"/>
            <p14:sldId id="266"/>
            <p14:sldId id="267"/>
            <p14:sldId id="268"/>
            <p14:sldId id="27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DD00"/>
    <a:srgbClr val="EE3224"/>
    <a:srgbClr val="0092CF"/>
    <a:srgbClr val="F36F21"/>
    <a:srgbClr val="F5F5F9"/>
    <a:srgbClr val="FAFB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373" autoAdjust="0"/>
  </p:normalViewPr>
  <p:slideViewPr>
    <p:cSldViewPr snapToObjects="1">
      <p:cViewPr>
        <p:scale>
          <a:sx n="114" d="100"/>
          <a:sy n="114" d="100"/>
        </p:scale>
        <p:origin x="-918"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snapToObjects="1">
      <p:cViewPr varScale="1">
        <p:scale>
          <a:sx n="86" d="100"/>
          <a:sy n="86" d="100"/>
        </p:scale>
        <p:origin x="-3126"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2" Type="http://schemas.openxmlformats.org/officeDocument/2006/relationships/oleObject" Target="file:///\\prod.ka.uwv.nl\dfs\afddata\AMSD2\UWV\KMO\0.9%20VFO\09.01%20Integrale%20Content\Webanalyse%20en%20Webmonitoring\Kennis%20en%20onderzoek\Presentaties\data-visualisatie.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oleObject" Target="file:///\\prod.ka.uwv.nl\dfs\afddata\AMSD2\UWV\KMO\0.9%20VFO\09.01%20Integrale%20Content\Webanalyse%20en%20Webmonitoring\Kennis%20en%20onderzoek\Presentaties\data-visualisatie.xlsx" TargetMode="External"/><Relationship Id="rId1"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nl-NL"/>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800">
                <a:solidFill>
                  <a:srgbClr val="002060"/>
                </a:solidFill>
                <a:latin typeface="Verdana" panose="020B0604030504040204" pitchFamily="34" charset="0"/>
                <a:ea typeface="Verdana" panose="020B0604030504040204" pitchFamily="34" charset="0"/>
                <a:cs typeface="Verdana" panose="020B0604030504040204" pitchFamily="34" charset="0"/>
              </a:defRPr>
            </a:pPr>
            <a:r>
              <a:rPr lang="nl-NL" sz="800">
                <a:solidFill>
                  <a:srgbClr val="002060"/>
                </a:solidFill>
                <a:latin typeface="Verdana" panose="020B0604030504040204" pitchFamily="34" charset="0"/>
                <a:ea typeface="Verdana" panose="020B0604030504040204" pitchFamily="34" charset="0"/>
                <a:cs typeface="Verdana" panose="020B0604030504040204" pitchFamily="34" charset="0"/>
              </a:rPr>
              <a:t>Fig. 19. Herkomst bezoeken</a:t>
            </a:r>
          </a:p>
        </c:rich>
      </c:tx>
      <c:layout/>
      <c:overlay val="0"/>
    </c:title>
    <c:autoTitleDeleted val="0"/>
    <c:plotArea>
      <c:layout/>
      <c:doughnutChart>
        <c:varyColors val="1"/>
        <c:ser>
          <c:idx val="0"/>
          <c:order val="0"/>
          <c:spPr>
            <a:ln w="25400">
              <a:solidFill>
                <a:sysClr val="windowText" lastClr="000000"/>
              </a:solidFill>
            </a:ln>
            <a:scene3d>
              <a:camera prst="orthographicFront"/>
              <a:lightRig rig="threePt" dir="t"/>
            </a:scene3d>
            <a:sp3d>
              <a:bevelT prst="relaxedInset"/>
            </a:sp3d>
          </c:spPr>
          <c:dPt>
            <c:idx val="0"/>
            <c:bubble3D val="0"/>
            <c:spPr>
              <a:solidFill>
                <a:srgbClr val="0070C0"/>
              </a:solidFill>
              <a:ln w="25400">
                <a:solidFill>
                  <a:sysClr val="windowText" lastClr="000000"/>
                </a:solidFill>
              </a:ln>
              <a:scene3d>
                <a:camera prst="orthographicFront"/>
                <a:lightRig rig="threePt" dir="t"/>
              </a:scene3d>
              <a:sp3d>
                <a:bevelT prst="relaxedInset"/>
              </a:sp3d>
            </c:spPr>
          </c:dPt>
          <c:dPt>
            <c:idx val="1"/>
            <c:bubble3D val="0"/>
            <c:spPr>
              <a:solidFill>
                <a:srgbClr val="C00000"/>
              </a:solidFill>
              <a:ln w="25400">
                <a:solidFill>
                  <a:sysClr val="windowText" lastClr="000000"/>
                </a:solidFill>
              </a:ln>
              <a:scene3d>
                <a:camera prst="orthographicFront"/>
                <a:lightRig rig="threePt" dir="t"/>
              </a:scene3d>
              <a:sp3d>
                <a:bevelT prst="relaxedInset"/>
              </a:sp3d>
            </c:spPr>
          </c:dPt>
          <c:dPt>
            <c:idx val="2"/>
            <c:bubble3D val="0"/>
            <c:spPr>
              <a:solidFill>
                <a:srgbClr val="00B050"/>
              </a:solidFill>
              <a:ln w="25400">
                <a:solidFill>
                  <a:sysClr val="windowText" lastClr="000000"/>
                </a:solidFill>
              </a:ln>
              <a:scene3d>
                <a:camera prst="orthographicFront"/>
                <a:lightRig rig="threePt" dir="t"/>
              </a:scene3d>
              <a:sp3d>
                <a:bevelT prst="relaxedInset"/>
              </a:sp3d>
            </c:spPr>
          </c:dPt>
          <c:dPt>
            <c:idx val="3"/>
            <c:bubble3D val="0"/>
            <c:spPr>
              <a:solidFill>
                <a:srgbClr val="7030A0"/>
              </a:solidFill>
              <a:ln w="25400">
                <a:solidFill>
                  <a:sysClr val="windowText" lastClr="000000"/>
                </a:solidFill>
              </a:ln>
              <a:scene3d>
                <a:camera prst="orthographicFront"/>
                <a:lightRig rig="threePt" dir="t"/>
              </a:scene3d>
              <a:sp3d>
                <a:bevelT prst="relaxedInset"/>
              </a:sp3d>
            </c:spPr>
          </c:dPt>
          <c:dPt>
            <c:idx val="4"/>
            <c:bubble3D val="0"/>
            <c:spPr>
              <a:solidFill>
                <a:srgbClr val="002060"/>
              </a:solidFill>
              <a:ln w="25400">
                <a:solidFill>
                  <a:sysClr val="windowText" lastClr="000000"/>
                </a:solidFill>
              </a:ln>
              <a:scene3d>
                <a:camera prst="orthographicFront"/>
                <a:lightRig rig="threePt" dir="t"/>
              </a:scene3d>
              <a:sp3d>
                <a:bevelT prst="relaxedInset"/>
              </a:sp3d>
            </c:spPr>
          </c:dPt>
          <c:dLbls>
            <c:dLbl>
              <c:idx val="0"/>
              <c:layout>
                <c:manualLayout>
                  <c:x val="0.1994804215660064"/>
                  <c:y val="2.6815642458100558E-2"/>
                </c:manualLayout>
              </c:layout>
              <c:showLegendKey val="0"/>
              <c:showVal val="1"/>
              <c:showCatName val="1"/>
              <c:showSerName val="0"/>
              <c:showPercent val="0"/>
              <c:showBubbleSize val="0"/>
              <c:separator>
</c:separator>
            </c:dLbl>
            <c:dLbl>
              <c:idx val="1"/>
              <c:layout>
                <c:manualLayout>
                  <c:x val="-0.16207784252238019"/>
                  <c:y val="0.1430167597765363"/>
                </c:manualLayout>
              </c:layout>
              <c:showLegendKey val="0"/>
              <c:showVal val="1"/>
              <c:showCatName val="1"/>
              <c:showSerName val="0"/>
              <c:showPercent val="0"/>
              <c:showBubbleSize val="0"/>
              <c:separator>
</c:separator>
            </c:dLbl>
            <c:dLbl>
              <c:idx val="2"/>
              <c:layout>
                <c:manualLayout>
                  <c:x val="-0.15792200040642174"/>
                  <c:y val="-0.11620111731843574"/>
                </c:manualLayout>
              </c:layout>
              <c:showLegendKey val="0"/>
              <c:showVal val="1"/>
              <c:showCatName val="1"/>
              <c:showSerName val="0"/>
              <c:showPercent val="0"/>
              <c:showBubbleSize val="0"/>
              <c:separator>
</c:separator>
            </c:dLbl>
            <c:dLbl>
              <c:idx val="3"/>
              <c:layout>
                <c:manualLayout>
                  <c:x val="7.8960672971548185E-2"/>
                  <c:y val="-0.16089379812825474"/>
                </c:manualLayout>
              </c:layout>
              <c:showLegendKey val="0"/>
              <c:showVal val="1"/>
              <c:showCatName val="1"/>
              <c:showSerName val="0"/>
              <c:showPercent val="0"/>
              <c:showBubbleSize val="0"/>
              <c:separator>
</c:separator>
            </c:dLbl>
            <c:dLbl>
              <c:idx val="4"/>
              <c:layout>
                <c:manualLayout>
                  <c:x val="0.1994804215660064"/>
                  <c:y val="-8.9385443404585971E-2"/>
                </c:manualLayout>
              </c:layout>
              <c:showLegendKey val="0"/>
              <c:showVal val="1"/>
              <c:showCatName val="1"/>
              <c:showSerName val="0"/>
              <c:showPercent val="0"/>
              <c:showBubbleSize val="0"/>
              <c:separator>
</c:separator>
            </c:dLbl>
            <c:spPr>
              <a:scene3d>
                <a:camera prst="orthographicFront"/>
                <a:lightRig rig="threePt" dir="t"/>
              </a:scene3d>
              <a:sp3d>
                <a:bevelT w="12700"/>
              </a:sp3d>
            </c:spPr>
            <c:txPr>
              <a:bodyPr rot="0"/>
              <a:lstStyle/>
              <a:p>
                <a:pPr>
                  <a:defRPr sz="600">
                    <a:latin typeface="Verdana" panose="020B0604030504040204" pitchFamily="34" charset="0"/>
                    <a:ea typeface="Verdana" panose="020B0604030504040204" pitchFamily="34" charset="0"/>
                    <a:cs typeface="Verdana" panose="020B0604030504040204" pitchFamily="34" charset="0"/>
                  </a:defRPr>
                </a:pPr>
                <a:endParaRPr lang="nl-NL"/>
              </a:p>
            </c:txPr>
            <c:showLegendKey val="0"/>
            <c:showVal val="1"/>
            <c:showCatName val="1"/>
            <c:showSerName val="0"/>
            <c:showPercent val="0"/>
            <c:showBubbleSize val="0"/>
            <c:separator>
</c:separator>
            <c:showLeaderLines val="1"/>
          </c:dLbls>
          <c:cat>
            <c:strRef>
              <c:f>'5.1'!$N$25:$N$29</c:f>
              <c:strCache>
                <c:ptCount val="5"/>
                <c:pt idx="0">
                  <c:v>Direct verkeer</c:v>
                </c:pt>
                <c:pt idx="1">
                  <c:v>Verwijzende sites</c:v>
                </c:pt>
                <c:pt idx="2">
                  <c:v>Organisch zoekverkeer</c:v>
                </c:pt>
                <c:pt idx="3">
                  <c:v>Betaald zoekverkeer</c:v>
                </c:pt>
                <c:pt idx="4">
                  <c:v>Andere campagnes &amp; Social Media</c:v>
                </c:pt>
              </c:strCache>
            </c:strRef>
          </c:cat>
          <c:val>
            <c:numRef>
              <c:f>'5.1'!$O$25:$O$29</c:f>
              <c:numCache>
                <c:formatCode>0%</c:formatCode>
                <c:ptCount val="5"/>
                <c:pt idx="0">
                  <c:v>0.42727559862142972</c:v>
                </c:pt>
                <c:pt idx="1">
                  <c:v>0.27198792926518955</c:v>
                </c:pt>
                <c:pt idx="2">
                  <c:v>0.21475405053320024</c:v>
                </c:pt>
                <c:pt idx="3">
                  <c:v>5.7416749434157879E-2</c:v>
                </c:pt>
                <c:pt idx="4">
                  <c:v>2.8565672146022573E-2</c:v>
                </c:pt>
              </c:numCache>
            </c:numRef>
          </c:val>
        </c:ser>
        <c:dLbls>
          <c:showLegendKey val="0"/>
          <c:showVal val="0"/>
          <c:showCatName val="1"/>
          <c:showSerName val="0"/>
          <c:showPercent val="1"/>
          <c:showBubbleSize val="0"/>
          <c:showLeaderLines val="1"/>
        </c:dLbls>
        <c:firstSliceAng val="49"/>
        <c:holeSize val="50"/>
      </c:doughnutChart>
    </c:plotArea>
    <c:plotVisOnly val="1"/>
    <c:dispBlanksAs val="gap"/>
    <c:showDLblsOverMax val="0"/>
  </c:chart>
  <c:spPr>
    <a:solidFill>
      <a:sysClr val="window" lastClr="FFFFFF"/>
    </a:solidFill>
    <a:ln>
      <a:noFill/>
    </a:ln>
  </c:sp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nl-NL"/>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800" b="0">
                <a:solidFill>
                  <a:schemeClr val="accent3">
                    <a:lumMod val="50000"/>
                  </a:schemeClr>
                </a:solidFill>
                <a:latin typeface="Verdana" panose="020B0604030504040204" pitchFamily="34" charset="0"/>
                <a:ea typeface="Verdana" panose="020B0604030504040204" pitchFamily="34" charset="0"/>
                <a:cs typeface="Verdana" panose="020B0604030504040204" pitchFamily="34" charset="0"/>
              </a:defRPr>
            </a:pPr>
            <a:r>
              <a:rPr lang="nl-NL" sz="800" b="0">
                <a:solidFill>
                  <a:schemeClr val="accent3">
                    <a:lumMod val="50000"/>
                  </a:schemeClr>
                </a:solidFill>
                <a:latin typeface="Verdana" panose="020B0604030504040204" pitchFamily="34" charset="0"/>
                <a:ea typeface="Verdana" panose="020B0604030504040204" pitchFamily="34" charset="0"/>
                <a:cs typeface="Verdana" panose="020B0604030504040204" pitchFamily="34" charset="0"/>
              </a:rPr>
              <a:t>Fig. 19. Herkomst bezoeken</a:t>
            </a:r>
          </a:p>
        </c:rich>
      </c:tx>
      <c:layout/>
      <c:overlay val="0"/>
    </c:title>
    <c:autoTitleDeleted val="0"/>
    <c:plotArea>
      <c:layout>
        <c:manualLayout>
          <c:layoutTarget val="inner"/>
          <c:xMode val="edge"/>
          <c:yMode val="edge"/>
          <c:x val="0.36815152929461459"/>
          <c:y val="0.12082192011529305"/>
          <c:w val="0.59299637425046714"/>
          <c:h val="0.79260403421419112"/>
        </c:manualLayout>
      </c:layout>
      <c:barChart>
        <c:barDir val="bar"/>
        <c:grouping val="clustered"/>
        <c:varyColors val="0"/>
        <c:ser>
          <c:idx val="0"/>
          <c:order val="0"/>
          <c:spPr>
            <a:solidFill>
              <a:srgbClr val="0070C0">
                <a:alpha val="70000"/>
              </a:srgbClr>
            </a:solidFill>
            <a:ln>
              <a:solidFill>
                <a:srgbClr val="FFFFFF"/>
              </a:solidFill>
            </a:ln>
          </c:spPr>
          <c:invertIfNegative val="0"/>
          <c:dLbls>
            <c:showLegendKey val="0"/>
            <c:showVal val="1"/>
            <c:showCatName val="0"/>
            <c:showSerName val="0"/>
            <c:showPercent val="0"/>
            <c:showBubbleSize val="0"/>
            <c:showLeaderLines val="0"/>
          </c:dLbls>
          <c:cat>
            <c:strRef>
              <c:f>'5.1'!$N$25:$N$29</c:f>
              <c:strCache>
                <c:ptCount val="5"/>
                <c:pt idx="0">
                  <c:v>Direct verkeer</c:v>
                </c:pt>
                <c:pt idx="1">
                  <c:v>Verwijzende sites</c:v>
                </c:pt>
                <c:pt idx="2">
                  <c:v>Organisch zoekverkeer</c:v>
                </c:pt>
                <c:pt idx="3">
                  <c:v>Betaald zoekverkeer</c:v>
                </c:pt>
                <c:pt idx="4">
                  <c:v>Andere campagnes &amp; Social Media</c:v>
                </c:pt>
              </c:strCache>
            </c:strRef>
          </c:cat>
          <c:val>
            <c:numRef>
              <c:f>'5.1'!$O$25:$O$29</c:f>
              <c:numCache>
                <c:formatCode>0%</c:formatCode>
                <c:ptCount val="5"/>
                <c:pt idx="0">
                  <c:v>0.42727559862142972</c:v>
                </c:pt>
                <c:pt idx="1">
                  <c:v>0.27198792926518955</c:v>
                </c:pt>
                <c:pt idx="2">
                  <c:v>0.21475405053320024</c:v>
                </c:pt>
                <c:pt idx="3">
                  <c:v>5.7416749434157879E-2</c:v>
                </c:pt>
                <c:pt idx="4">
                  <c:v>2.8565672146022573E-2</c:v>
                </c:pt>
              </c:numCache>
            </c:numRef>
          </c:val>
        </c:ser>
        <c:dLbls>
          <c:showLegendKey val="0"/>
          <c:showVal val="0"/>
          <c:showCatName val="0"/>
          <c:showSerName val="0"/>
          <c:showPercent val="0"/>
          <c:showBubbleSize val="0"/>
        </c:dLbls>
        <c:gapWidth val="0"/>
        <c:axId val="169422848"/>
        <c:axId val="169362176"/>
      </c:barChart>
      <c:valAx>
        <c:axId val="169362176"/>
        <c:scaling>
          <c:orientation val="minMax"/>
        </c:scaling>
        <c:delete val="1"/>
        <c:axPos val="b"/>
        <c:numFmt formatCode="0%" sourceLinked="1"/>
        <c:majorTickMark val="out"/>
        <c:minorTickMark val="none"/>
        <c:tickLblPos val="nextTo"/>
        <c:crossAx val="169422848"/>
        <c:crosses val="autoZero"/>
        <c:crossBetween val="between"/>
      </c:valAx>
      <c:catAx>
        <c:axId val="169422848"/>
        <c:scaling>
          <c:orientation val="minMax"/>
        </c:scaling>
        <c:delete val="0"/>
        <c:axPos val="l"/>
        <c:majorTickMark val="out"/>
        <c:minorTickMark val="none"/>
        <c:tickLblPos val="nextTo"/>
        <c:txPr>
          <a:bodyPr/>
          <a:lstStyle/>
          <a:p>
            <a:pPr>
              <a:defRPr>
                <a:solidFill>
                  <a:schemeClr val="tx1">
                    <a:lumMod val="65000"/>
                    <a:lumOff val="35000"/>
                  </a:schemeClr>
                </a:solidFill>
              </a:defRPr>
            </a:pPr>
            <a:endParaRPr lang="nl-NL"/>
          </a:p>
        </c:txPr>
        <c:crossAx val="169362176"/>
        <c:crosses val="autoZero"/>
        <c:auto val="1"/>
        <c:lblAlgn val="ctr"/>
        <c:lblOffset val="100"/>
        <c:noMultiLvlLbl val="0"/>
      </c:catAx>
      <c:spPr>
        <a:solidFill>
          <a:sysClr val="window" lastClr="FFFFFF"/>
        </a:solidFill>
      </c:spPr>
    </c:plotArea>
    <c:plotVisOnly val="1"/>
    <c:dispBlanksAs val="gap"/>
    <c:showDLblsOverMax val="0"/>
  </c:chart>
  <c:spPr>
    <a:solidFill>
      <a:sysClr val="window" lastClr="FFFFFF"/>
    </a:solidFill>
    <a:ln>
      <a:noFill/>
    </a:ln>
  </c:spPr>
  <c:externalData r:id="rId2">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nl-NL"/>
          </a:p>
        </p:txBody>
      </p:sp>
      <p:sp>
        <p:nvSpPr>
          <p:cNvPr id="3789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nl-NL"/>
          </a:p>
        </p:txBody>
      </p:sp>
      <p:sp>
        <p:nvSpPr>
          <p:cNvPr id="3789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nl-NL"/>
          </a:p>
        </p:txBody>
      </p:sp>
      <p:sp>
        <p:nvSpPr>
          <p:cNvPr id="3789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0DEB07B4-D063-4AE6-881E-6131D0F3387D}" type="slidenum">
              <a:rPr lang="nl-NL"/>
              <a:pPr>
                <a:defRPr/>
              </a:pPr>
              <a:t>‹nr.›</a:t>
            </a:fld>
            <a:endParaRPr lang="nl-NL"/>
          </a:p>
        </p:txBody>
      </p:sp>
    </p:spTree>
    <p:extLst>
      <p:ext uri="{BB962C8B-B14F-4D97-AF65-F5344CB8AC3E}">
        <p14:creationId xmlns:p14="http://schemas.microsoft.com/office/powerpoint/2010/main" val="18079190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184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7F9E4C08-2EFE-4095-8AC4-4EE5E291C4CF}" type="slidenum">
              <a:rPr lang="en-US"/>
              <a:pPr>
                <a:defRPr/>
              </a:pPr>
              <a:t>‹nr.›</a:t>
            </a:fld>
            <a:endParaRPr lang="en-US"/>
          </a:p>
        </p:txBody>
      </p:sp>
    </p:spTree>
    <p:extLst>
      <p:ext uri="{BB962C8B-B14F-4D97-AF65-F5344CB8AC3E}">
        <p14:creationId xmlns:p14="http://schemas.microsoft.com/office/powerpoint/2010/main" val="130311854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spTree>
      <p:nvGrpSpPr>
        <p:cNvPr id="1" name=""/>
        <p:cNvGrpSpPr/>
        <p:nvPr/>
      </p:nvGrpSpPr>
      <p:grpSpPr>
        <a:xfrm>
          <a:off x="0" y="0"/>
          <a:ext cx="0" cy="0"/>
          <a:chOff x="0" y="0"/>
          <a:chExt cx="0" cy="0"/>
        </a:xfrm>
      </p:grpSpPr>
      <p:pic>
        <p:nvPicPr>
          <p:cNvPr id="4" name="Picture 65" descr="payoff"/>
          <p:cNvPicPr>
            <a:picLocks noChangeAspect="1" noChangeArrowheads="1"/>
          </p:cNvPicPr>
          <p:nvPr/>
        </p:nvPicPr>
        <p:blipFill>
          <a:blip r:embed="rId2" cstate="print"/>
          <a:srcRect/>
          <a:stretch>
            <a:fillRect/>
          </a:stretch>
        </p:blipFill>
        <p:spPr bwMode="auto">
          <a:xfrm>
            <a:off x="5289550" y="5316538"/>
            <a:ext cx="3854450" cy="1536700"/>
          </a:xfrm>
          <a:prstGeom prst="rect">
            <a:avLst/>
          </a:prstGeom>
          <a:noFill/>
          <a:ln w="9525">
            <a:noFill/>
            <a:miter lim="800000"/>
            <a:headEnd/>
            <a:tailEnd/>
          </a:ln>
        </p:spPr>
      </p:pic>
      <p:sp>
        <p:nvSpPr>
          <p:cNvPr id="3074" name="Rectangle 2"/>
          <p:cNvSpPr>
            <a:spLocks noGrp="1" noChangeArrowheads="1"/>
          </p:cNvSpPr>
          <p:nvPr>
            <p:ph type="ctrTitle"/>
          </p:nvPr>
        </p:nvSpPr>
        <p:spPr>
          <a:xfrm>
            <a:off x="384175" y="1468438"/>
            <a:ext cx="7677150" cy="1920875"/>
          </a:xfrm>
        </p:spPr>
        <p:txBody>
          <a:bodyPr/>
          <a:lstStyle>
            <a:lvl1pPr>
              <a:defRPr sz="4000"/>
            </a:lvl1pPr>
          </a:lstStyle>
          <a:p>
            <a:r>
              <a:rPr lang="nl-NL" smtClean="0"/>
              <a:t>Klik om de stijl te bewerken</a:t>
            </a:r>
            <a:endParaRPr lang="nl-NL"/>
          </a:p>
        </p:txBody>
      </p:sp>
      <p:sp>
        <p:nvSpPr>
          <p:cNvPr id="3075" name="Rectangle 3"/>
          <p:cNvSpPr>
            <a:spLocks noGrp="1" noChangeArrowheads="1"/>
          </p:cNvSpPr>
          <p:nvPr>
            <p:ph type="subTitle" idx="1"/>
          </p:nvPr>
        </p:nvSpPr>
        <p:spPr>
          <a:xfrm>
            <a:off x="384175" y="3762375"/>
            <a:ext cx="7677150" cy="858838"/>
          </a:xfrm>
        </p:spPr>
        <p:txBody>
          <a:bodyPr/>
          <a:lstStyle>
            <a:lvl1pPr marL="0" indent="0">
              <a:buFont typeface="Wingdings 2" pitchFamily="18" charset="2"/>
              <a:buNone/>
              <a:defRPr sz="2400"/>
            </a:lvl1pPr>
          </a:lstStyle>
          <a:p>
            <a:r>
              <a:rPr lang="nl-NL" smtClean="0"/>
              <a:t>Klik om het opmaakprofiel van de modelondertitel te bewerken</a:t>
            </a:r>
            <a:endParaRPr lang="nl-NL"/>
          </a:p>
        </p:txBody>
      </p:sp>
      <p:sp>
        <p:nvSpPr>
          <p:cNvPr id="5" name="Rectangle 4"/>
          <p:cNvSpPr>
            <a:spLocks noGrp="1" noChangeArrowheads="1"/>
          </p:cNvSpPr>
          <p:nvPr>
            <p:ph type="dt" sz="half" idx="10"/>
          </p:nvPr>
        </p:nvSpPr>
        <p:spPr bwMode="auto">
          <a:xfrm>
            <a:off x="384175" y="6051550"/>
            <a:ext cx="7677150" cy="260350"/>
          </a:xfrm>
          <a:prstGeom prst="rect">
            <a:avLst/>
          </a:prstGeom>
          <a:ln>
            <a:miter lim="800000"/>
            <a:headEnd/>
            <a:tailEnd/>
          </a:ln>
        </p:spPr>
        <p:txBody>
          <a:bodyPr vert="horz" wrap="square" lIns="126000" tIns="45720" rIns="0" bIns="45720" numCol="1" anchor="t" anchorCtr="0" compatLnSpc="1">
            <a:prstTxWarp prst="textNoShape">
              <a:avLst/>
            </a:prstTxWarp>
          </a:bodyPr>
          <a:lstStyle>
            <a:lvl1pPr>
              <a:defRPr sz="1100" smtClean="0">
                <a:solidFill>
                  <a:schemeClr val="accent1"/>
                </a:solidFill>
                <a:latin typeface="+mn-lt"/>
              </a:defRPr>
            </a:lvl1pPr>
          </a:lstStyle>
          <a:p>
            <a:pPr>
              <a:defRPr/>
            </a:pPr>
            <a:endParaRPr lang="nl-NL"/>
          </a:p>
        </p:txBody>
      </p:sp>
      <p:sp>
        <p:nvSpPr>
          <p:cNvPr id="6" name="Rectangle 5"/>
          <p:cNvSpPr>
            <a:spLocks noGrp="1" noChangeArrowheads="1"/>
          </p:cNvSpPr>
          <p:nvPr>
            <p:ph type="ftr" sz="quarter" idx="11"/>
          </p:nvPr>
        </p:nvSpPr>
        <p:spPr>
          <a:xfrm>
            <a:off x="384175" y="5861050"/>
            <a:ext cx="7677150" cy="260350"/>
          </a:xfrm>
        </p:spPr>
        <p:txBody>
          <a:bodyPr/>
          <a:lstStyle>
            <a:lvl1pPr>
              <a:defRPr sz="1100" smtClean="0"/>
            </a:lvl1pPr>
          </a:lstStyle>
          <a:p>
            <a:pPr>
              <a:defRPr/>
            </a:pPr>
            <a:r>
              <a:rPr lang="nl-NL" smtClean="0"/>
              <a:t>Bijeenkomst formulieren</a:t>
            </a:r>
            <a:endParaRPr lang="nl-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inhoud 2"/>
          <p:cNvSpPr>
            <a:spLocks noGrp="1"/>
          </p:cNvSpPr>
          <p:nvPr>
            <p:ph idx="1"/>
          </p:nvPr>
        </p:nvSpPr>
        <p:spPr/>
        <p:txBody>
          <a:body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a:p>
        </p:txBody>
      </p:sp>
      <p:sp>
        <p:nvSpPr>
          <p:cNvPr id="4" name="Rectangle 5"/>
          <p:cNvSpPr>
            <a:spLocks noGrp="1" noChangeArrowheads="1"/>
          </p:cNvSpPr>
          <p:nvPr>
            <p:ph type="ftr" sz="quarter" idx="10"/>
          </p:nvPr>
        </p:nvSpPr>
        <p:spPr>
          <a:ln/>
        </p:spPr>
        <p:txBody>
          <a:bodyPr/>
          <a:lstStyle>
            <a:lvl1pPr>
              <a:defRPr/>
            </a:lvl1pPr>
          </a:lstStyle>
          <a:p>
            <a:pPr>
              <a:defRPr/>
            </a:pPr>
            <a:r>
              <a:rPr lang="nl-NL" smtClean="0"/>
              <a:t>Bijeenkomst formulieren</a:t>
            </a:r>
            <a:endParaRPr lang="nl-NL"/>
          </a:p>
        </p:txBody>
      </p:sp>
      <p:sp>
        <p:nvSpPr>
          <p:cNvPr id="5" name="Rectangle 6"/>
          <p:cNvSpPr>
            <a:spLocks noGrp="1" noChangeArrowheads="1"/>
          </p:cNvSpPr>
          <p:nvPr>
            <p:ph type="sldNum" sz="quarter" idx="11"/>
          </p:nvPr>
        </p:nvSpPr>
        <p:spPr>
          <a:ln/>
        </p:spPr>
        <p:txBody>
          <a:bodyPr/>
          <a:lstStyle>
            <a:lvl1pPr>
              <a:defRPr/>
            </a:lvl1pPr>
          </a:lstStyle>
          <a:p>
            <a:pPr>
              <a:defRPr/>
            </a:pPr>
            <a:fld id="{3CA17A52-F1B4-4AF3-97D3-B08D712522A9}" type="slidenum">
              <a:rPr lang="nl-NL"/>
              <a:pPr>
                <a:defRPr/>
              </a:pPr>
              <a:t>‹nr.›</a:t>
            </a:fld>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0"/>
            <a:ext cx="7772400" cy="1362075"/>
          </a:xfrm>
        </p:spPr>
        <p:txBody>
          <a:bodyPr anchor="t"/>
          <a:lstStyle>
            <a:lvl1pPr algn="l">
              <a:defRPr sz="4000" b="1" cap="all"/>
            </a:lvl1pPr>
          </a:lstStyle>
          <a:p>
            <a:r>
              <a:rPr lang="nl-NL" smtClean="0"/>
              <a:t>Klik om de stijl te bewerken</a:t>
            </a:r>
            <a:endParaRPr lang="nl-NL"/>
          </a:p>
        </p:txBody>
      </p:sp>
      <p:sp>
        <p:nvSpPr>
          <p:cNvPr id="3" name="Tijdelijke aanduiding voor tekst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nl-NL" smtClean="0"/>
              <a:t>Klik om de modelstijlen te bewerken</a:t>
            </a:r>
          </a:p>
        </p:txBody>
      </p:sp>
      <p:sp>
        <p:nvSpPr>
          <p:cNvPr id="4" name="Rectangle 5"/>
          <p:cNvSpPr>
            <a:spLocks noGrp="1" noChangeArrowheads="1"/>
          </p:cNvSpPr>
          <p:nvPr>
            <p:ph type="ftr" sz="quarter" idx="10"/>
          </p:nvPr>
        </p:nvSpPr>
        <p:spPr>
          <a:ln/>
        </p:spPr>
        <p:txBody>
          <a:bodyPr/>
          <a:lstStyle>
            <a:lvl1pPr>
              <a:defRPr/>
            </a:lvl1pPr>
          </a:lstStyle>
          <a:p>
            <a:pPr>
              <a:defRPr/>
            </a:pPr>
            <a:r>
              <a:rPr lang="nl-NL" smtClean="0"/>
              <a:t>Bijeenkomst formulieren</a:t>
            </a:r>
            <a:endParaRPr lang="nl-NL"/>
          </a:p>
        </p:txBody>
      </p:sp>
      <p:sp>
        <p:nvSpPr>
          <p:cNvPr id="5" name="Rectangle 6"/>
          <p:cNvSpPr>
            <a:spLocks noGrp="1" noChangeArrowheads="1"/>
          </p:cNvSpPr>
          <p:nvPr>
            <p:ph type="sldNum" sz="quarter" idx="11"/>
          </p:nvPr>
        </p:nvSpPr>
        <p:spPr>
          <a:ln/>
        </p:spPr>
        <p:txBody>
          <a:bodyPr/>
          <a:lstStyle>
            <a:lvl1pPr>
              <a:defRPr/>
            </a:lvl1pPr>
          </a:lstStyle>
          <a:p>
            <a:pPr>
              <a:defRPr/>
            </a:pPr>
            <a:fld id="{83EAB8DD-D888-482C-8025-54554B17C0FA}" type="slidenum">
              <a:rPr lang="nl-NL"/>
              <a:pPr>
                <a:defRPr/>
              </a:pPr>
              <a:t>‹nr.›</a:t>
            </a:fld>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inhoud 2"/>
          <p:cNvSpPr>
            <a:spLocks noGrp="1"/>
          </p:cNvSpPr>
          <p:nvPr>
            <p:ph sz="half" idx="1"/>
          </p:nvPr>
        </p:nvSpPr>
        <p:spPr>
          <a:xfrm>
            <a:off x="384175" y="1778000"/>
            <a:ext cx="4149725" cy="42370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a:p>
        </p:txBody>
      </p:sp>
      <p:sp>
        <p:nvSpPr>
          <p:cNvPr id="4" name="Tijdelijke aanduiding voor inhoud 3"/>
          <p:cNvSpPr>
            <a:spLocks noGrp="1"/>
          </p:cNvSpPr>
          <p:nvPr>
            <p:ph sz="half" idx="2"/>
          </p:nvPr>
        </p:nvSpPr>
        <p:spPr>
          <a:xfrm>
            <a:off x="4686300" y="1778000"/>
            <a:ext cx="4149725" cy="42370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a:p>
        </p:txBody>
      </p:sp>
      <p:sp>
        <p:nvSpPr>
          <p:cNvPr id="5" name="Rectangle 5"/>
          <p:cNvSpPr>
            <a:spLocks noGrp="1" noChangeArrowheads="1"/>
          </p:cNvSpPr>
          <p:nvPr>
            <p:ph type="ftr" sz="quarter" idx="10"/>
          </p:nvPr>
        </p:nvSpPr>
        <p:spPr>
          <a:ln/>
        </p:spPr>
        <p:txBody>
          <a:bodyPr/>
          <a:lstStyle>
            <a:lvl1pPr>
              <a:defRPr/>
            </a:lvl1pPr>
          </a:lstStyle>
          <a:p>
            <a:pPr>
              <a:defRPr/>
            </a:pPr>
            <a:r>
              <a:rPr lang="nl-NL" smtClean="0"/>
              <a:t>Bijeenkomst formulieren</a:t>
            </a:r>
            <a:endParaRPr lang="nl-NL"/>
          </a:p>
        </p:txBody>
      </p:sp>
      <p:sp>
        <p:nvSpPr>
          <p:cNvPr id="6" name="Rectangle 6"/>
          <p:cNvSpPr>
            <a:spLocks noGrp="1" noChangeArrowheads="1"/>
          </p:cNvSpPr>
          <p:nvPr>
            <p:ph type="sldNum" sz="quarter" idx="11"/>
          </p:nvPr>
        </p:nvSpPr>
        <p:spPr>
          <a:ln/>
        </p:spPr>
        <p:txBody>
          <a:bodyPr/>
          <a:lstStyle>
            <a:lvl1pPr>
              <a:defRPr/>
            </a:lvl1pPr>
          </a:lstStyle>
          <a:p>
            <a:pPr>
              <a:defRPr/>
            </a:pPr>
            <a:fld id="{FBFCA55C-CBEB-436E-B64C-56A1CFA82DA2}" type="slidenum">
              <a:rPr lang="nl-NL"/>
              <a:pPr>
                <a:defRPr/>
              </a:pPr>
              <a:t>‹nr.›</a:t>
            </a:fld>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8229600" cy="1143000"/>
          </a:xfrm>
        </p:spPr>
        <p:txBody>
          <a:bodyPr/>
          <a:lstStyle>
            <a:lvl1pPr>
              <a:defRPr/>
            </a:lvl1pPr>
          </a:lstStyle>
          <a:p>
            <a:r>
              <a:rPr lang="nl-NL" smtClean="0"/>
              <a:t>Klik om de stijl te bewerken</a:t>
            </a:r>
            <a:endParaRPr lang="nl-NL"/>
          </a:p>
        </p:txBody>
      </p:sp>
      <p:sp>
        <p:nvSpPr>
          <p:cNvPr id="3" name="Tijdelijke aanduiding voor teks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smtClean="0"/>
              <a:t>Klik om de modelstijlen te bewerken</a:t>
            </a:r>
          </a:p>
        </p:txBody>
      </p:sp>
      <p:sp>
        <p:nvSpPr>
          <p:cNvPr id="4" name="Tijdelijke aanduiding voor inhoud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a:p>
        </p:txBody>
      </p:sp>
      <p:sp>
        <p:nvSpPr>
          <p:cNvPr id="5" name="Tijdelijke aanduiding voor teks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smtClean="0"/>
              <a:t>Klik om de modelstijlen te bewerken</a:t>
            </a:r>
          </a:p>
        </p:txBody>
      </p:sp>
      <p:sp>
        <p:nvSpPr>
          <p:cNvPr id="6" name="Tijdelijke aanduiding voor inhoud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a:p>
        </p:txBody>
      </p:sp>
      <p:sp>
        <p:nvSpPr>
          <p:cNvPr id="7" name="Rectangle 5"/>
          <p:cNvSpPr>
            <a:spLocks noGrp="1" noChangeArrowheads="1"/>
          </p:cNvSpPr>
          <p:nvPr>
            <p:ph type="ftr" sz="quarter" idx="10"/>
          </p:nvPr>
        </p:nvSpPr>
        <p:spPr>
          <a:ln/>
        </p:spPr>
        <p:txBody>
          <a:bodyPr/>
          <a:lstStyle>
            <a:lvl1pPr>
              <a:defRPr/>
            </a:lvl1pPr>
          </a:lstStyle>
          <a:p>
            <a:pPr>
              <a:defRPr/>
            </a:pPr>
            <a:r>
              <a:rPr lang="nl-NL" smtClean="0"/>
              <a:t>Bijeenkomst formulieren</a:t>
            </a:r>
            <a:endParaRPr lang="nl-NL"/>
          </a:p>
        </p:txBody>
      </p:sp>
      <p:sp>
        <p:nvSpPr>
          <p:cNvPr id="8" name="Rectangle 6"/>
          <p:cNvSpPr>
            <a:spLocks noGrp="1" noChangeArrowheads="1"/>
          </p:cNvSpPr>
          <p:nvPr>
            <p:ph type="sldNum" sz="quarter" idx="11"/>
          </p:nvPr>
        </p:nvSpPr>
        <p:spPr>
          <a:ln/>
        </p:spPr>
        <p:txBody>
          <a:bodyPr/>
          <a:lstStyle>
            <a:lvl1pPr>
              <a:defRPr/>
            </a:lvl1pPr>
          </a:lstStyle>
          <a:p>
            <a:pPr>
              <a:defRPr/>
            </a:pPr>
            <a:fld id="{9B0B704E-EF6C-4C78-9D4C-1B9208615F30}" type="slidenum">
              <a:rPr lang="nl-NL"/>
              <a:pPr>
                <a:defRPr/>
              </a:pPr>
              <a:t>‹nr.›</a:t>
            </a:fld>
            <a:endParaRPr lang="nl-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Rectangle 5"/>
          <p:cNvSpPr>
            <a:spLocks noGrp="1" noChangeArrowheads="1"/>
          </p:cNvSpPr>
          <p:nvPr>
            <p:ph type="ftr" sz="quarter" idx="10"/>
          </p:nvPr>
        </p:nvSpPr>
        <p:spPr>
          <a:ln/>
        </p:spPr>
        <p:txBody>
          <a:bodyPr/>
          <a:lstStyle>
            <a:lvl1pPr>
              <a:defRPr/>
            </a:lvl1pPr>
          </a:lstStyle>
          <a:p>
            <a:pPr>
              <a:defRPr/>
            </a:pPr>
            <a:r>
              <a:rPr lang="nl-NL" smtClean="0"/>
              <a:t>Bijeenkomst formulieren</a:t>
            </a:r>
            <a:endParaRPr lang="nl-NL"/>
          </a:p>
        </p:txBody>
      </p:sp>
      <p:sp>
        <p:nvSpPr>
          <p:cNvPr id="4" name="Rectangle 6"/>
          <p:cNvSpPr>
            <a:spLocks noGrp="1" noChangeArrowheads="1"/>
          </p:cNvSpPr>
          <p:nvPr>
            <p:ph type="sldNum" sz="quarter" idx="11"/>
          </p:nvPr>
        </p:nvSpPr>
        <p:spPr>
          <a:ln/>
        </p:spPr>
        <p:txBody>
          <a:bodyPr/>
          <a:lstStyle>
            <a:lvl1pPr>
              <a:defRPr/>
            </a:lvl1pPr>
          </a:lstStyle>
          <a:p>
            <a:pPr>
              <a:defRPr/>
            </a:pPr>
            <a:fld id="{72881BAE-D9E0-41CC-9057-68A0F208F59C}" type="slidenum">
              <a:rPr lang="nl-NL"/>
              <a:pPr>
                <a:defRPr/>
              </a:pPr>
              <a:t>‹nr.›</a:t>
            </a:fld>
            <a:endParaRPr lang="nl-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nl-NL" smtClean="0"/>
              <a:t>Bijeenkomst formulieren</a:t>
            </a:r>
            <a:endParaRPr lang="nl-NL"/>
          </a:p>
        </p:txBody>
      </p:sp>
      <p:sp>
        <p:nvSpPr>
          <p:cNvPr id="3" name="Rectangle 6"/>
          <p:cNvSpPr>
            <a:spLocks noGrp="1" noChangeArrowheads="1"/>
          </p:cNvSpPr>
          <p:nvPr>
            <p:ph type="sldNum" sz="quarter" idx="11"/>
          </p:nvPr>
        </p:nvSpPr>
        <p:spPr>
          <a:ln/>
        </p:spPr>
        <p:txBody>
          <a:bodyPr/>
          <a:lstStyle>
            <a:lvl1pPr>
              <a:defRPr/>
            </a:lvl1pPr>
          </a:lstStyle>
          <a:p>
            <a:pPr>
              <a:defRPr/>
            </a:pPr>
            <a:fld id="{BD85716C-3AB3-4337-A49C-FBF4FEF78612}" type="slidenum">
              <a:rPr lang="nl-NL"/>
              <a:pPr>
                <a:defRPr/>
              </a:pPr>
              <a:t>‹nr.›</a:t>
            </a:fld>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nl-NL" smtClean="0"/>
              <a:t>Klik om de stijl te bewerken</a:t>
            </a:r>
            <a:endParaRPr lang="nl-NL"/>
          </a:p>
        </p:txBody>
      </p:sp>
      <p:sp>
        <p:nvSpPr>
          <p:cNvPr id="3" name="Tijdelijke aanduiding voor inhoud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a:p>
        </p:txBody>
      </p:sp>
      <p:sp>
        <p:nvSpPr>
          <p:cNvPr id="4" name="Tijdelijke aanduiding voor teks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smtClean="0"/>
              <a:t>Klik om de modelstijlen te bewerken</a:t>
            </a:r>
          </a:p>
        </p:txBody>
      </p:sp>
      <p:sp>
        <p:nvSpPr>
          <p:cNvPr id="5" name="Rectangle 5"/>
          <p:cNvSpPr>
            <a:spLocks noGrp="1" noChangeArrowheads="1"/>
          </p:cNvSpPr>
          <p:nvPr>
            <p:ph type="ftr" sz="quarter" idx="10"/>
          </p:nvPr>
        </p:nvSpPr>
        <p:spPr>
          <a:ln/>
        </p:spPr>
        <p:txBody>
          <a:bodyPr/>
          <a:lstStyle>
            <a:lvl1pPr>
              <a:defRPr/>
            </a:lvl1pPr>
          </a:lstStyle>
          <a:p>
            <a:pPr>
              <a:defRPr/>
            </a:pPr>
            <a:r>
              <a:rPr lang="nl-NL" smtClean="0"/>
              <a:t>Bijeenkomst formulieren</a:t>
            </a:r>
            <a:endParaRPr lang="nl-NL"/>
          </a:p>
        </p:txBody>
      </p:sp>
      <p:sp>
        <p:nvSpPr>
          <p:cNvPr id="6" name="Rectangle 6"/>
          <p:cNvSpPr>
            <a:spLocks noGrp="1" noChangeArrowheads="1"/>
          </p:cNvSpPr>
          <p:nvPr>
            <p:ph type="sldNum" sz="quarter" idx="11"/>
          </p:nvPr>
        </p:nvSpPr>
        <p:spPr>
          <a:ln/>
        </p:spPr>
        <p:txBody>
          <a:bodyPr/>
          <a:lstStyle>
            <a:lvl1pPr>
              <a:defRPr/>
            </a:lvl1pPr>
          </a:lstStyle>
          <a:p>
            <a:pPr>
              <a:defRPr/>
            </a:pPr>
            <a:fld id="{AFB8295D-D9B7-43A4-94B5-017C58097580}" type="slidenum">
              <a:rPr lang="nl-NL"/>
              <a:pPr>
                <a:defRPr/>
              </a:pPr>
              <a:t>‹nr.›</a:t>
            </a:fld>
            <a:endParaRPr lang="nl-N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nl-NL" smtClean="0"/>
              <a:t>Klik om de stijl te bewerken</a:t>
            </a:r>
            <a:endParaRPr lang="nl-NL"/>
          </a:p>
        </p:txBody>
      </p:sp>
      <p:sp>
        <p:nvSpPr>
          <p:cNvPr id="3" name="Tijdelijke aanduiding voor afbeelding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nl-NL" noProof="0" smtClean="0"/>
              <a:t>Klik op het pictogram als u een afbeelding wilt toevoegen</a:t>
            </a:r>
          </a:p>
        </p:txBody>
      </p:sp>
      <p:sp>
        <p:nvSpPr>
          <p:cNvPr id="4" name="Tijdelijke aanduiding voor teks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smtClean="0"/>
              <a:t>Klik om de modelstijlen te bewerken</a:t>
            </a:r>
          </a:p>
        </p:txBody>
      </p:sp>
      <p:sp>
        <p:nvSpPr>
          <p:cNvPr id="5" name="Rectangle 5"/>
          <p:cNvSpPr>
            <a:spLocks noGrp="1" noChangeArrowheads="1"/>
          </p:cNvSpPr>
          <p:nvPr>
            <p:ph type="ftr" sz="quarter" idx="10"/>
          </p:nvPr>
        </p:nvSpPr>
        <p:spPr>
          <a:ln/>
        </p:spPr>
        <p:txBody>
          <a:bodyPr/>
          <a:lstStyle>
            <a:lvl1pPr>
              <a:defRPr/>
            </a:lvl1pPr>
          </a:lstStyle>
          <a:p>
            <a:pPr>
              <a:defRPr/>
            </a:pPr>
            <a:r>
              <a:rPr lang="nl-NL" smtClean="0"/>
              <a:t>Bijeenkomst formulieren</a:t>
            </a:r>
            <a:endParaRPr lang="nl-NL"/>
          </a:p>
        </p:txBody>
      </p:sp>
      <p:sp>
        <p:nvSpPr>
          <p:cNvPr id="6" name="Rectangle 6"/>
          <p:cNvSpPr>
            <a:spLocks noGrp="1" noChangeArrowheads="1"/>
          </p:cNvSpPr>
          <p:nvPr>
            <p:ph type="sldNum" sz="quarter" idx="11"/>
          </p:nvPr>
        </p:nvSpPr>
        <p:spPr>
          <a:ln/>
        </p:spPr>
        <p:txBody>
          <a:bodyPr/>
          <a:lstStyle>
            <a:lvl1pPr>
              <a:defRPr/>
            </a:lvl1pPr>
          </a:lstStyle>
          <a:p>
            <a:pPr>
              <a:defRPr/>
            </a:pPr>
            <a:fld id="{3A006AC3-1BAC-4D41-AB89-5746001FDBF2}" type="slidenum">
              <a:rPr lang="nl-NL"/>
              <a:pPr>
                <a:defRPr/>
              </a:pPr>
              <a:t>‹nr.›</a:t>
            </a:fld>
            <a:endParaRPr lang="nl-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verticale tekst 2"/>
          <p:cNvSpPr>
            <a:spLocks noGrp="1"/>
          </p:cNvSpPr>
          <p:nvPr>
            <p:ph type="body" orient="vert" idx="1"/>
          </p:nvPr>
        </p:nvSpPr>
        <p:spPr/>
        <p:txBody>
          <a:bodyPr vert="eaVert"/>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a:p>
        </p:txBody>
      </p:sp>
      <p:sp>
        <p:nvSpPr>
          <p:cNvPr id="4" name="Rectangle 5"/>
          <p:cNvSpPr>
            <a:spLocks noGrp="1" noChangeArrowheads="1"/>
          </p:cNvSpPr>
          <p:nvPr>
            <p:ph type="ftr" sz="quarter" idx="10"/>
          </p:nvPr>
        </p:nvSpPr>
        <p:spPr>
          <a:ln/>
        </p:spPr>
        <p:txBody>
          <a:bodyPr/>
          <a:lstStyle>
            <a:lvl1pPr>
              <a:defRPr/>
            </a:lvl1pPr>
          </a:lstStyle>
          <a:p>
            <a:pPr>
              <a:defRPr/>
            </a:pPr>
            <a:r>
              <a:rPr lang="nl-NL" smtClean="0"/>
              <a:t>Bijeenkomst formulieren</a:t>
            </a:r>
            <a:endParaRPr lang="nl-NL"/>
          </a:p>
        </p:txBody>
      </p:sp>
      <p:sp>
        <p:nvSpPr>
          <p:cNvPr id="5" name="Rectangle 6"/>
          <p:cNvSpPr>
            <a:spLocks noGrp="1" noChangeArrowheads="1"/>
          </p:cNvSpPr>
          <p:nvPr>
            <p:ph type="sldNum" sz="quarter" idx="11"/>
          </p:nvPr>
        </p:nvSpPr>
        <p:spPr>
          <a:ln/>
        </p:spPr>
        <p:txBody>
          <a:bodyPr/>
          <a:lstStyle>
            <a:lvl1pPr>
              <a:defRPr/>
            </a:lvl1pPr>
          </a:lstStyle>
          <a:p>
            <a:pPr>
              <a:defRPr/>
            </a:pPr>
            <a:fld id="{6593A63E-C737-492B-BED0-7079B109F62D}" type="slidenum">
              <a:rPr lang="nl-NL"/>
              <a:pPr>
                <a:defRPr/>
              </a:pPr>
              <a:t>‹nr.›</a:t>
            </a:fld>
            <a:endParaRPr lang="nl-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6723063" y="174625"/>
            <a:ext cx="2112962" cy="5840413"/>
          </a:xfrm>
        </p:spPr>
        <p:txBody>
          <a:bodyPr vert="eaVert"/>
          <a:lstStyle/>
          <a:p>
            <a:r>
              <a:rPr lang="nl-NL" smtClean="0"/>
              <a:t>Klik om de stijl te bewerken</a:t>
            </a:r>
            <a:endParaRPr lang="nl-NL"/>
          </a:p>
        </p:txBody>
      </p:sp>
      <p:sp>
        <p:nvSpPr>
          <p:cNvPr id="3" name="Tijdelijke aanduiding voor verticale tekst 2"/>
          <p:cNvSpPr>
            <a:spLocks noGrp="1"/>
          </p:cNvSpPr>
          <p:nvPr>
            <p:ph type="body" orient="vert" idx="1"/>
          </p:nvPr>
        </p:nvSpPr>
        <p:spPr>
          <a:xfrm>
            <a:off x="384175" y="174625"/>
            <a:ext cx="6186488" cy="5840413"/>
          </a:xfrm>
        </p:spPr>
        <p:txBody>
          <a:bodyPr vert="eaVert"/>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a:p>
        </p:txBody>
      </p:sp>
      <p:sp>
        <p:nvSpPr>
          <p:cNvPr id="4" name="Rectangle 5"/>
          <p:cNvSpPr>
            <a:spLocks noGrp="1" noChangeArrowheads="1"/>
          </p:cNvSpPr>
          <p:nvPr>
            <p:ph type="ftr" sz="quarter" idx="10"/>
          </p:nvPr>
        </p:nvSpPr>
        <p:spPr>
          <a:ln/>
        </p:spPr>
        <p:txBody>
          <a:bodyPr/>
          <a:lstStyle>
            <a:lvl1pPr>
              <a:defRPr/>
            </a:lvl1pPr>
          </a:lstStyle>
          <a:p>
            <a:pPr>
              <a:defRPr/>
            </a:pPr>
            <a:r>
              <a:rPr lang="nl-NL" smtClean="0"/>
              <a:t>Bijeenkomst formulieren</a:t>
            </a:r>
            <a:endParaRPr lang="nl-NL"/>
          </a:p>
        </p:txBody>
      </p:sp>
      <p:sp>
        <p:nvSpPr>
          <p:cNvPr id="5" name="Rectangle 6"/>
          <p:cNvSpPr>
            <a:spLocks noGrp="1" noChangeArrowheads="1"/>
          </p:cNvSpPr>
          <p:nvPr>
            <p:ph type="sldNum" sz="quarter" idx="11"/>
          </p:nvPr>
        </p:nvSpPr>
        <p:spPr>
          <a:ln/>
        </p:spPr>
        <p:txBody>
          <a:bodyPr/>
          <a:lstStyle>
            <a:lvl1pPr>
              <a:defRPr/>
            </a:lvl1pPr>
          </a:lstStyle>
          <a:p>
            <a:pPr>
              <a:defRPr/>
            </a:pPr>
            <a:fld id="{5E0CC8CA-6E4D-48FF-9CD9-DD1C4DF4B592}" type="slidenum">
              <a:rPr lang="nl-NL"/>
              <a:pPr>
                <a:defRPr/>
              </a:pPr>
              <a:t>‹nr.›</a:t>
            </a:fld>
            <a:endParaRPr lang="nl-N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4175" y="174625"/>
            <a:ext cx="8451850" cy="1006475"/>
          </a:xfrm>
          <a:prstGeom prst="rect">
            <a:avLst/>
          </a:prstGeom>
          <a:noFill/>
          <a:ln w="9525">
            <a:noFill/>
            <a:miter lim="800000"/>
            <a:headEnd/>
            <a:tailEnd/>
          </a:ln>
        </p:spPr>
        <p:txBody>
          <a:bodyPr vert="horz" wrap="square" lIns="126000" tIns="45720" rIns="0" bIns="45720" numCol="1" anchor="ctr" anchorCtr="0" compatLnSpc="1">
            <a:prstTxWarp prst="textNoShape">
              <a:avLst/>
            </a:prstTxWarp>
          </a:bodyPr>
          <a:lstStyle/>
          <a:p>
            <a:pPr lvl="0"/>
            <a:r>
              <a:rPr lang="nl-NL" smtClean="0"/>
              <a:t>Klik om de stijl te bewerken</a:t>
            </a:r>
          </a:p>
        </p:txBody>
      </p:sp>
      <p:sp>
        <p:nvSpPr>
          <p:cNvPr id="1027" name="Rectangle 3"/>
          <p:cNvSpPr>
            <a:spLocks noGrp="1" noChangeArrowheads="1"/>
          </p:cNvSpPr>
          <p:nvPr>
            <p:ph type="body" idx="1"/>
          </p:nvPr>
        </p:nvSpPr>
        <p:spPr bwMode="auto">
          <a:xfrm>
            <a:off x="384175" y="1778000"/>
            <a:ext cx="8451850" cy="4237038"/>
          </a:xfrm>
          <a:prstGeom prst="rect">
            <a:avLst/>
          </a:prstGeom>
          <a:noFill/>
          <a:ln w="9525">
            <a:noFill/>
            <a:miter lim="800000"/>
            <a:headEnd/>
            <a:tailEnd/>
          </a:ln>
        </p:spPr>
        <p:txBody>
          <a:bodyPr vert="horz" wrap="square" lIns="126000" tIns="45720" rIns="0" bIns="45720" numCol="1" anchor="t" anchorCtr="0" compatLnSpc="1">
            <a:prstTxWarp prst="textNoShape">
              <a:avLst/>
            </a:prstTxWarp>
          </a:body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p>
        </p:txBody>
      </p:sp>
      <p:sp>
        <p:nvSpPr>
          <p:cNvPr id="1029" name="Rectangle 5"/>
          <p:cNvSpPr>
            <a:spLocks noGrp="1" noChangeArrowheads="1"/>
          </p:cNvSpPr>
          <p:nvPr>
            <p:ph type="ftr" sz="quarter" idx="3"/>
          </p:nvPr>
        </p:nvSpPr>
        <p:spPr bwMode="auto">
          <a:xfrm>
            <a:off x="384175" y="6303963"/>
            <a:ext cx="5607050" cy="290512"/>
          </a:xfrm>
          <a:prstGeom prst="rect">
            <a:avLst/>
          </a:prstGeom>
          <a:noFill/>
          <a:ln w="9525">
            <a:noFill/>
            <a:miter lim="800000"/>
            <a:headEnd/>
            <a:tailEnd/>
          </a:ln>
          <a:effectLst/>
        </p:spPr>
        <p:txBody>
          <a:bodyPr vert="horz" wrap="square" lIns="126000" tIns="45720" rIns="0" bIns="45720" numCol="1" anchor="t" anchorCtr="0" compatLnSpc="1">
            <a:prstTxWarp prst="textNoShape">
              <a:avLst/>
            </a:prstTxWarp>
          </a:bodyPr>
          <a:lstStyle>
            <a:lvl1pPr>
              <a:defRPr sz="1300" smtClean="0">
                <a:solidFill>
                  <a:schemeClr val="accent1"/>
                </a:solidFill>
                <a:latin typeface="+mn-lt"/>
              </a:defRPr>
            </a:lvl1pPr>
          </a:lstStyle>
          <a:p>
            <a:pPr>
              <a:defRPr/>
            </a:pPr>
            <a:r>
              <a:rPr lang="nl-NL" smtClean="0"/>
              <a:t>Bijeenkomst formulieren</a:t>
            </a:r>
            <a:endParaRPr lang="nl-NL"/>
          </a:p>
        </p:txBody>
      </p:sp>
      <p:sp>
        <p:nvSpPr>
          <p:cNvPr id="1030" name="Rectangle 6"/>
          <p:cNvSpPr>
            <a:spLocks noGrp="1" noChangeArrowheads="1"/>
          </p:cNvSpPr>
          <p:nvPr>
            <p:ph type="sldNum" sz="quarter" idx="4"/>
          </p:nvPr>
        </p:nvSpPr>
        <p:spPr bwMode="auto">
          <a:xfrm>
            <a:off x="7667625" y="6303963"/>
            <a:ext cx="614363" cy="290512"/>
          </a:xfrm>
          <a:prstGeom prst="rect">
            <a:avLst/>
          </a:prstGeom>
          <a:noFill/>
          <a:ln w="9525">
            <a:noFill/>
            <a:miter lim="800000"/>
            <a:headEnd/>
            <a:tailEnd/>
          </a:ln>
          <a:effectLst/>
        </p:spPr>
        <p:txBody>
          <a:bodyPr vert="horz" wrap="square" lIns="0" tIns="45720" rIns="0" bIns="45720" numCol="1" anchor="t" anchorCtr="0" compatLnSpc="1">
            <a:prstTxWarp prst="textNoShape">
              <a:avLst/>
            </a:prstTxWarp>
          </a:bodyPr>
          <a:lstStyle>
            <a:lvl1pPr algn="r">
              <a:defRPr sz="1300" smtClean="0">
                <a:solidFill>
                  <a:schemeClr val="accent1"/>
                </a:solidFill>
                <a:latin typeface="+mn-lt"/>
              </a:defRPr>
            </a:lvl1pPr>
          </a:lstStyle>
          <a:p>
            <a:pPr>
              <a:defRPr/>
            </a:pPr>
            <a:fld id="{A1DEDEF8-B558-4265-8A91-68C89B35A9B3}" type="slidenum">
              <a:rPr lang="nl-NL"/>
              <a:pPr>
                <a:defRPr/>
              </a:pPr>
              <a:t>‹nr.›</a:t>
            </a:fld>
            <a:endParaRPr lang="nl-NL"/>
          </a:p>
        </p:txBody>
      </p:sp>
      <p:sp>
        <p:nvSpPr>
          <p:cNvPr id="1058" name="Freeform 34"/>
          <p:cNvSpPr>
            <a:spLocks/>
          </p:cNvSpPr>
          <p:nvPr/>
        </p:nvSpPr>
        <p:spPr bwMode="auto">
          <a:xfrm>
            <a:off x="8440738" y="6056313"/>
            <a:ext cx="703262" cy="801687"/>
          </a:xfrm>
          <a:custGeom>
            <a:avLst/>
            <a:gdLst/>
            <a:ahLst/>
            <a:cxnLst>
              <a:cxn ang="0">
                <a:pos x="0" y="368"/>
              </a:cxn>
              <a:cxn ang="0">
                <a:pos x="736" y="736"/>
              </a:cxn>
              <a:cxn ang="0">
                <a:pos x="736" y="732"/>
              </a:cxn>
              <a:cxn ang="0">
                <a:pos x="10" y="368"/>
              </a:cxn>
              <a:cxn ang="0">
                <a:pos x="736" y="4"/>
              </a:cxn>
              <a:cxn ang="0">
                <a:pos x="736" y="0"/>
              </a:cxn>
              <a:cxn ang="0">
                <a:pos x="0" y="368"/>
              </a:cxn>
            </a:cxnLst>
            <a:rect l="0" t="0" r="r" b="b"/>
            <a:pathLst>
              <a:path w="736" h="736">
                <a:moveTo>
                  <a:pt x="0" y="368"/>
                </a:moveTo>
                <a:lnTo>
                  <a:pt x="736" y="736"/>
                </a:lnTo>
                <a:lnTo>
                  <a:pt x="736" y="732"/>
                </a:lnTo>
                <a:lnTo>
                  <a:pt x="10" y="368"/>
                </a:lnTo>
                <a:lnTo>
                  <a:pt x="736" y="4"/>
                </a:lnTo>
                <a:lnTo>
                  <a:pt x="736" y="0"/>
                </a:lnTo>
                <a:lnTo>
                  <a:pt x="0" y="368"/>
                </a:lnTo>
                <a:close/>
              </a:path>
            </a:pathLst>
          </a:custGeom>
          <a:solidFill>
            <a:schemeClr val="accent2"/>
          </a:solidFill>
          <a:ln w="9525" cmpd="sng">
            <a:solidFill>
              <a:srgbClr val="0092CF"/>
            </a:solidFill>
            <a:round/>
            <a:headEnd/>
            <a:tailEnd/>
          </a:ln>
        </p:spPr>
        <p:txBody>
          <a:bodyPr/>
          <a:lstStyle/>
          <a:p>
            <a:pPr>
              <a:defRPr/>
            </a:pPr>
            <a:endParaRPr lang="nl-NL"/>
          </a:p>
        </p:txBody>
      </p:sp>
      <p:sp>
        <p:nvSpPr>
          <p:cNvPr id="1059" name="Line 35"/>
          <p:cNvSpPr>
            <a:spLocks noChangeShapeType="1"/>
          </p:cNvSpPr>
          <p:nvPr/>
        </p:nvSpPr>
        <p:spPr bwMode="auto">
          <a:xfrm>
            <a:off x="0" y="6856413"/>
            <a:ext cx="9144000" cy="0"/>
          </a:xfrm>
          <a:prstGeom prst="line">
            <a:avLst/>
          </a:prstGeom>
          <a:noFill/>
          <a:ln w="12700">
            <a:solidFill>
              <a:schemeClr val="accent2"/>
            </a:solidFill>
            <a:round/>
            <a:headEnd/>
            <a:tailEnd/>
          </a:ln>
          <a:effectLst/>
        </p:spPr>
        <p:txBody>
          <a:bodyPr/>
          <a:lstStyle/>
          <a:p>
            <a:pPr>
              <a:defRPr/>
            </a:pPr>
            <a:endParaRPr lang="nl-NL"/>
          </a:p>
        </p:txBody>
      </p:sp>
      <p:sp>
        <p:nvSpPr>
          <p:cNvPr id="1069" name="Line 45"/>
          <p:cNvSpPr>
            <a:spLocks noChangeShapeType="1"/>
          </p:cNvSpPr>
          <p:nvPr/>
        </p:nvSpPr>
        <p:spPr bwMode="auto">
          <a:xfrm>
            <a:off x="0" y="6056313"/>
            <a:ext cx="9144000" cy="0"/>
          </a:xfrm>
          <a:prstGeom prst="line">
            <a:avLst/>
          </a:prstGeom>
          <a:noFill/>
          <a:ln w="12700">
            <a:solidFill>
              <a:schemeClr val="accent2"/>
            </a:solidFill>
            <a:round/>
            <a:headEnd/>
            <a:tailEnd/>
          </a:ln>
          <a:effectLst/>
        </p:spPr>
        <p:txBody>
          <a:bodyPr/>
          <a:lstStyle/>
          <a:p>
            <a:pPr>
              <a:defRPr/>
            </a:pPr>
            <a:endParaRPr lang="nl-NL"/>
          </a:p>
        </p:txBody>
      </p:sp>
      <p:sp>
        <p:nvSpPr>
          <p:cNvPr id="1071" name="Line 47"/>
          <p:cNvSpPr>
            <a:spLocks noChangeShapeType="1"/>
          </p:cNvSpPr>
          <p:nvPr/>
        </p:nvSpPr>
        <p:spPr bwMode="auto">
          <a:xfrm>
            <a:off x="0" y="1360488"/>
            <a:ext cx="9144000" cy="0"/>
          </a:xfrm>
          <a:prstGeom prst="line">
            <a:avLst/>
          </a:prstGeom>
          <a:noFill/>
          <a:ln w="12700">
            <a:solidFill>
              <a:schemeClr val="accent2"/>
            </a:solidFill>
            <a:round/>
            <a:headEnd/>
            <a:tailEnd/>
          </a:ln>
          <a:effectLst/>
        </p:spPr>
        <p:txBody>
          <a:bodyPr/>
          <a:lstStyle/>
          <a:p>
            <a:pPr>
              <a:defRPr/>
            </a:pPr>
            <a:endParaRPr lang="nl-NL"/>
          </a:p>
        </p:txBody>
      </p:sp>
    </p:spTree>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hdr="0" dt="0"/>
  <p:txStyles>
    <p:titleStyle>
      <a:lvl1pPr algn="l" rtl="0" eaLnBrk="1" fontAlgn="base" hangingPunct="1">
        <a:spcBef>
          <a:spcPct val="0"/>
        </a:spcBef>
        <a:spcAft>
          <a:spcPct val="0"/>
        </a:spcAft>
        <a:defRPr sz="2600" b="1">
          <a:solidFill>
            <a:schemeClr val="accent1"/>
          </a:solidFill>
          <a:latin typeface="+mj-lt"/>
          <a:ea typeface="+mj-ea"/>
          <a:cs typeface="+mj-cs"/>
        </a:defRPr>
      </a:lvl1pPr>
      <a:lvl2pPr algn="l" rtl="0" eaLnBrk="1" fontAlgn="base" hangingPunct="1">
        <a:spcBef>
          <a:spcPct val="0"/>
        </a:spcBef>
        <a:spcAft>
          <a:spcPct val="0"/>
        </a:spcAft>
        <a:defRPr sz="2600" b="1">
          <a:solidFill>
            <a:schemeClr val="accent1"/>
          </a:solidFill>
          <a:latin typeface="Verdana" pitchFamily="34" charset="0"/>
        </a:defRPr>
      </a:lvl2pPr>
      <a:lvl3pPr algn="l" rtl="0" eaLnBrk="1" fontAlgn="base" hangingPunct="1">
        <a:spcBef>
          <a:spcPct val="0"/>
        </a:spcBef>
        <a:spcAft>
          <a:spcPct val="0"/>
        </a:spcAft>
        <a:defRPr sz="2600" b="1">
          <a:solidFill>
            <a:schemeClr val="accent1"/>
          </a:solidFill>
          <a:latin typeface="Verdana" pitchFamily="34" charset="0"/>
        </a:defRPr>
      </a:lvl3pPr>
      <a:lvl4pPr algn="l" rtl="0" eaLnBrk="1" fontAlgn="base" hangingPunct="1">
        <a:spcBef>
          <a:spcPct val="0"/>
        </a:spcBef>
        <a:spcAft>
          <a:spcPct val="0"/>
        </a:spcAft>
        <a:defRPr sz="2600" b="1">
          <a:solidFill>
            <a:schemeClr val="accent1"/>
          </a:solidFill>
          <a:latin typeface="Verdana" pitchFamily="34" charset="0"/>
        </a:defRPr>
      </a:lvl4pPr>
      <a:lvl5pPr algn="l" rtl="0" eaLnBrk="1" fontAlgn="base" hangingPunct="1">
        <a:spcBef>
          <a:spcPct val="0"/>
        </a:spcBef>
        <a:spcAft>
          <a:spcPct val="0"/>
        </a:spcAft>
        <a:defRPr sz="2600" b="1">
          <a:solidFill>
            <a:schemeClr val="accent1"/>
          </a:solidFill>
          <a:latin typeface="Verdana" pitchFamily="34" charset="0"/>
        </a:defRPr>
      </a:lvl5pPr>
      <a:lvl6pPr marL="457200" algn="l" rtl="0" eaLnBrk="1" fontAlgn="base" hangingPunct="1">
        <a:spcBef>
          <a:spcPct val="0"/>
        </a:spcBef>
        <a:spcAft>
          <a:spcPct val="0"/>
        </a:spcAft>
        <a:defRPr sz="2600" b="1">
          <a:solidFill>
            <a:schemeClr val="accent1"/>
          </a:solidFill>
          <a:latin typeface="Verdana" pitchFamily="34" charset="0"/>
        </a:defRPr>
      </a:lvl6pPr>
      <a:lvl7pPr marL="914400" algn="l" rtl="0" eaLnBrk="1" fontAlgn="base" hangingPunct="1">
        <a:spcBef>
          <a:spcPct val="0"/>
        </a:spcBef>
        <a:spcAft>
          <a:spcPct val="0"/>
        </a:spcAft>
        <a:defRPr sz="2600" b="1">
          <a:solidFill>
            <a:schemeClr val="accent1"/>
          </a:solidFill>
          <a:latin typeface="Verdana" pitchFamily="34" charset="0"/>
        </a:defRPr>
      </a:lvl7pPr>
      <a:lvl8pPr marL="1371600" algn="l" rtl="0" eaLnBrk="1" fontAlgn="base" hangingPunct="1">
        <a:spcBef>
          <a:spcPct val="0"/>
        </a:spcBef>
        <a:spcAft>
          <a:spcPct val="0"/>
        </a:spcAft>
        <a:defRPr sz="2600" b="1">
          <a:solidFill>
            <a:schemeClr val="accent1"/>
          </a:solidFill>
          <a:latin typeface="Verdana" pitchFamily="34" charset="0"/>
        </a:defRPr>
      </a:lvl8pPr>
      <a:lvl9pPr marL="1828800" algn="l" rtl="0" eaLnBrk="1" fontAlgn="base" hangingPunct="1">
        <a:spcBef>
          <a:spcPct val="0"/>
        </a:spcBef>
        <a:spcAft>
          <a:spcPct val="0"/>
        </a:spcAft>
        <a:defRPr sz="2600" b="1">
          <a:solidFill>
            <a:schemeClr val="accent1"/>
          </a:solidFill>
          <a:latin typeface="Verdana" pitchFamily="34" charset="0"/>
        </a:defRPr>
      </a:lvl9pPr>
    </p:titleStyle>
    <p:bodyStyle>
      <a:lvl1pPr marL="271463" indent="-271463" algn="l" rtl="0" eaLnBrk="1" fontAlgn="base" hangingPunct="1">
        <a:spcBef>
          <a:spcPct val="0"/>
        </a:spcBef>
        <a:spcAft>
          <a:spcPct val="20000"/>
        </a:spcAft>
        <a:buClr>
          <a:srgbClr val="0092CF"/>
        </a:buClr>
        <a:buSzPct val="80000"/>
        <a:buFont typeface="Wingdings 2" pitchFamily="18" charset="2"/>
        <a:buChar char="¢"/>
        <a:defRPr sz="2200">
          <a:solidFill>
            <a:schemeClr val="accent1"/>
          </a:solidFill>
          <a:latin typeface="+mn-lt"/>
          <a:ea typeface="+mn-ea"/>
          <a:cs typeface="+mn-cs"/>
        </a:defRPr>
      </a:lvl1pPr>
      <a:lvl2pPr marL="550863" indent="-277813" algn="l" rtl="0" eaLnBrk="1" fontAlgn="base" hangingPunct="1">
        <a:spcBef>
          <a:spcPct val="0"/>
        </a:spcBef>
        <a:spcAft>
          <a:spcPct val="20000"/>
        </a:spcAft>
        <a:buClr>
          <a:srgbClr val="F36F21"/>
        </a:buClr>
        <a:buSzPct val="80000"/>
        <a:buFont typeface="Wingdings 2" pitchFamily="18" charset="2"/>
        <a:buChar char="¢"/>
        <a:defRPr sz="2000">
          <a:solidFill>
            <a:schemeClr val="accent1"/>
          </a:solidFill>
          <a:latin typeface="+mn-lt"/>
        </a:defRPr>
      </a:lvl2pPr>
      <a:lvl3pPr marL="812800" indent="-260350" algn="l" rtl="0" eaLnBrk="1" fontAlgn="base" hangingPunct="1">
        <a:spcBef>
          <a:spcPct val="0"/>
        </a:spcBef>
        <a:spcAft>
          <a:spcPct val="20000"/>
        </a:spcAft>
        <a:buClr>
          <a:schemeClr val="tx1"/>
        </a:buClr>
        <a:buFont typeface="Arial" charset="0"/>
        <a:buChar char="-"/>
        <a:defRPr sz="2000">
          <a:solidFill>
            <a:schemeClr val="accent1"/>
          </a:solidFill>
          <a:latin typeface="+mn-lt"/>
        </a:defRPr>
      </a:lvl3pPr>
      <a:lvl4pPr marL="1084263" indent="-269875" algn="l" rtl="0" eaLnBrk="1" fontAlgn="base" hangingPunct="1">
        <a:spcBef>
          <a:spcPct val="0"/>
        </a:spcBef>
        <a:spcAft>
          <a:spcPct val="20000"/>
        </a:spcAft>
        <a:buClr>
          <a:schemeClr val="tx1"/>
        </a:buClr>
        <a:buFont typeface="Arial" charset="0"/>
        <a:buChar char="-"/>
        <a:defRPr sz="2000">
          <a:solidFill>
            <a:schemeClr val="accent1"/>
          </a:solidFill>
          <a:latin typeface="+mn-lt"/>
        </a:defRPr>
      </a:lvl4pPr>
      <a:lvl5pPr marL="1354138" indent="-268288" algn="l" rtl="0" eaLnBrk="1" fontAlgn="base" hangingPunct="1">
        <a:spcBef>
          <a:spcPct val="0"/>
        </a:spcBef>
        <a:spcAft>
          <a:spcPct val="20000"/>
        </a:spcAft>
        <a:buClr>
          <a:schemeClr val="tx1"/>
        </a:buClr>
        <a:buFont typeface="Arial" charset="0"/>
        <a:buChar char="-"/>
        <a:defRPr sz="2000">
          <a:solidFill>
            <a:schemeClr val="accent1"/>
          </a:solidFill>
          <a:latin typeface="+mn-lt"/>
        </a:defRPr>
      </a:lvl5pPr>
      <a:lvl6pPr marL="1811338" indent="-268288" algn="l" rtl="0" eaLnBrk="1" fontAlgn="base" hangingPunct="1">
        <a:spcBef>
          <a:spcPct val="0"/>
        </a:spcBef>
        <a:spcAft>
          <a:spcPct val="20000"/>
        </a:spcAft>
        <a:buClr>
          <a:schemeClr val="tx1"/>
        </a:buClr>
        <a:buFont typeface="Arial" charset="0"/>
        <a:buChar char="-"/>
        <a:defRPr sz="2000">
          <a:solidFill>
            <a:schemeClr val="accent1"/>
          </a:solidFill>
          <a:latin typeface="+mn-lt"/>
        </a:defRPr>
      </a:lvl6pPr>
      <a:lvl7pPr marL="2268538" indent="-268288" algn="l" rtl="0" eaLnBrk="1" fontAlgn="base" hangingPunct="1">
        <a:spcBef>
          <a:spcPct val="0"/>
        </a:spcBef>
        <a:spcAft>
          <a:spcPct val="20000"/>
        </a:spcAft>
        <a:buClr>
          <a:schemeClr val="tx1"/>
        </a:buClr>
        <a:buFont typeface="Arial" charset="0"/>
        <a:buChar char="-"/>
        <a:defRPr sz="2000">
          <a:solidFill>
            <a:schemeClr val="accent1"/>
          </a:solidFill>
          <a:latin typeface="+mn-lt"/>
        </a:defRPr>
      </a:lvl7pPr>
      <a:lvl8pPr marL="2725738" indent="-268288" algn="l" rtl="0" eaLnBrk="1" fontAlgn="base" hangingPunct="1">
        <a:spcBef>
          <a:spcPct val="0"/>
        </a:spcBef>
        <a:spcAft>
          <a:spcPct val="20000"/>
        </a:spcAft>
        <a:buClr>
          <a:schemeClr val="tx1"/>
        </a:buClr>
        <a:buFont typeface="Arial" charset="0"/>
        <a:buChar char="-"/>
        <a:defRPr sz="2000">
          <a:solidFill>
            <a:schemeClr val="accent1"/>
          </a:solidFill>
          <a:latin typeface="+mn-lt"/>
        </a:defRPr>
      </a:lvl8pPr>
      <a:lvl9pPr marL="3182938" indent="-268288" algn="l" rtl="0" eaLnBrk="1" fontAlgn="base" hangingPunct="1">
        <a:spcBef>
          <a:spcPct val="0"/>
        </a:spcBef>
        <a:spcAft>
          <a:spcPct val="20000"/>
        </a:spcAft>
        <a:buClr>
          <a:schemeClr val="tx1"/>
        </a:buClr>
        <a:buFont typeface="Arial" charset="0"/>
        <a:buChar char="-"/>
        <a:defRPr sz="2000">
          <a:solidFill>
            <a:schemeClr val="accent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38" descr="foto1"/>
          <p:cNvPicPr>
            <a:picLocks noChangeAspect="1" noChangeArrowheads="1"/>
          </p:cNvPicPr>
          <p:nvPr/>
        </p:nvPicPr>
        <p:blipFill>
          <a:blip r:embed="rId3" cstate="print"/>
          <a:srcRect t="16783" b="9955"/>
          <a:stretch>
            <a:fillRect/>
          </a:stretch>
        </p:blipFill>
        <p:spPr bwMode="auto">
          <a:xfrm>
            <a:off x="0" y="0"/>
            <a:ext cx="9144000" cy="5024438"/>
          </a:xfrm>
          <a:prstGeom prst="rect">
            <a:avLst/>
          </a:prstGeom>
          <a:noFill/>
          <a:ln w="9525">
            <a:noFill/>
            <a:miter lim="800000"/>
            <a:headEnd/>
            <a:tailEnd/>
          </a:ln>
        </p:spPr>
      </p:pic>
      <p:sp>
        <p:nvSpPr>
          <p:cNvPr id="3" name="Tijdelijke aanduiding voor voettekst 2"/>
          <p:cNvSpPr>
            <a:spLocks noGrp="1"/>
          </p:cNvSpPr>
          <p:nvPr>
            <p:ph type="ftr" sz="quarter" idx="11"/>
          </p:nvPr>
        </p:nvSpPr>
        <p:spPr>
          <a:xfrm>
            <a:off x="373666" y="6237312"/>
            <a:ext cx="4115817" cy="260350"/>
          </a:xfrm>
        </p:spPr>
        <p:txBody>
          <a:bodyPr/>
          <a:lstStyle/>
          <a:p>
            <a:pPr>
              <a:defRPr/>
            </a:pPr>
            <a:r>
              <a:rPr lang="nl-NL" dirty="0" smtClean="0"/>
              <a:t>UWV @ Usabilla360 ‘data-</a:t>
            </a:r>
            <a:r>
              <a:rPr lang="nl-NL" dirty="0" err="1" smtClean="0"/>
              <a:t>visualization</a:t>
            </a:r>
            <a:r>
              <a:rPr lang="nl-NL" dirty="0" smtClean="0"/>
              <a:t>’</a:t>
            </a:r>
            <a:endParaRPr lang="nl-NL" dirty="0"/>
          </a:p>
        </p:txBody>
      </p:sp>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nl-NL" dirty="0" smtClean="0">
                <a:latin typeface="Verdana" pitchFamily="34" charset="0"/>
                <a:ea typeface="Verdana" pitchFamily="34" charset="0"/>
                <a:cs typeface="Verdana" pitchFamily="34" charset="0"/>
              </a:rPr>
              <a:t>(</a:t>
            </a:r>
            <a:r>
              <a:rPr lang="nl-NL" dirty="0" err="1" smtClean="0">
                <a:latin typeface="Verdana" pitchFamily="34" charset="0"/>
                <a:ea typeface="Verdana" pitchFamily="34" charset="0"/>
                <a:cs typeface="Verdana" pitchFamily="34" charset="0"/>
              </a:rPr>
              <a:t>Usabilla</a:t>
            </a:r>
            <a:r>
              <a:rPr lang="nl-NL" dirty="0" smtClean="0">
                <a:latin typeface="Verdana" pitchFamily="34" charset="0"/>
                <a:ea typeface="Verdana" pitchFamily="34" charset="0"/>
                <a:cs typeface="Verdana" pitchFamily="34" charset="0"/>
              </a:rPr>
              <a:t>) Data </a:t>
            </a:r>
            <a:r>
              <a:rPr lang="nl-NL" dirty="0" err="1" smtClean="0">
                <a:latin typeface="Verdana" pitchFamily="34" charset="0"/>
                <a:ea typeface="Verdana" pitchFamily="34" charset="0"/>
                <a:cs typeface="Verdana" pitchFamily="34" charset="0"/>
              </a:rPr>
              <a:t>Visualization</a:t>
            </a:r>
            <a:r>
              <a:rPr lang="nl-NL" dirty="0" smtClean="0">
                <a:latin typeface="Verdana" pitchFamily="34" charset="0"/>
                <a:ea typeface="Verdana" pitchFamily="34" charset="0"/>
                <a:cs typeface="Verdana" pitchFamily="34" charset="0"/>
              </a:rPr>
              <a:t> at UWV</a:t>
            </a:r>
            <a:endParaRPr lang="nl-NL" dirty="0">
              <a:latin typeface="Verdana" pitchFamily="34" charset="0"/>
              <a:ea typeface="Verdana" pitchFamily="34" charset="0"/>
              <a:cs typeface="Verdana" pitchFamily="34" charset="0"/>
            </a:endParaRPr>
          </a:p>
        </p:txBody>
      </p:sp>
      <p:sp>
        <p:nvSpPr>
          <p:cNvPr id="3" name="Ondertitel 2"/>
          <p:cNvSpPr>
            <a:spLocks noGrp="1"/>
          </p:cNvSpPr>
          <p:nvPr>
            <p:ph type="subTitle" idx="1"/>
          </p:nvPr>
        </p:nvSpPr>
        <p:spPr/>
        <p:txBody>
          <a:bodyPr/>
          <a:lstStyle/>
          <a:p>
            <a:r>
              <a:rPr lang="nl-NL" sz="2000" dirty="0">
                <a:latin typeface="Verdana" pitchFamily="34" charset="0"/>
                <a:ea typeface="Verdana" pitchFamily="34" charset="0"/>
                <a:cs typeface="Verdana" pitchFamily="34" charset="0"/>
              </a:rPr>
              <a:t>Usabilla360  ‘data-</a:t>
            </a:r>
            <a:r>
              <a:rPr lang="nl-NL" sz="2000" dirty="0" err="1">
                <a:latin typeface="Verdana" pitchFamily="34" charset="0"/>
                <a:ea typeface="Verdana" pitchFamily="34" charset="0"/>
                <a:cs typeface="Verdana" pitchFamily="34" charset="0"/>
              </a:rPr>
              <a:t>visualization</a:t>
            </a:r>
            <a:r>
              <a:rPr lang="nl-NL" sz="2000" dirty="0">
                <a:latin typeface="Verdana" pitchFamily="34" charset="0"/>
                <a:ea typeface="Verdana" pitchFamily="34" charset="0"/>
                <a:cs typeface="Verdana" pitchFamily="34" charset="0"/>
              </a:rPr>
              <a:t>’ </a:t>
            </a:r>
            <a:endParaRPr lang="nl-NL" sz="2000" dirty="0" smtClean="0">
              <a:latin typeface="Verdana" pitchFamily="34" charset="0"/>
              <a:ea typeface="Verdana" pitchFamily="34" charset="0"/>
              <a:cs typeface="Verdana" pitchFamily="34" charset="0"/>
            </a:endParaRPr>
          </a:p>
          <a:p>
            <a:r>
              <a:rPr lang="nl-NL" sz="2000" i="1" dirty="0" smtClean="0">
                <a:latin typeface="Verdana" pitchFamily="34" charset="0"/>
                <a:ea typeface="Verdana" pitchFamily="34" charset="0"/>
                <a:cs typeface="Verdana" pitchFamily="34" charset="0"/>
              </a:rPr>
              <a:t>12-01-17</a:t>
            </a:r>
            <a:br>
              <a:rPr lang="nl-NL" sz="2000" i="1" dirty="0" smtClean="0">
                <a:latin typeface="Verdana" pitchFamily="34" charset="0"/>
                <a:ea typeface="Verdana" pitchFamily="34" charset="0"/>
                <a:cs typeface="Verdana" pitchFamily="34" charset="0"/>
              </a:rPr>
            </a:br>
            <a:r>
              <a:rPr lang="nl-NL" sz="2000" i="1" dirty="0" smtClean="0">
                <a:latin typeface="Verdana" pitchFamily="34" charset="0"/>
                <a:ea typeface="Verdana" pitchFamily="34" charset="0"/>
                <a:cs typeface="Verdana" pitchFamily="34" charset="0"/>
              </a:rPr>
              <a:t/>
            </a:r>
            <a:br>
              <a:rPr lang="nl-NL" sz="2000" i="1" dirty="0" smtClean="0">
                <a:latin typeface="Verdana" pitchFamily="34" charset="0"/>
                <a:ea typeface="Verdana" pitchFamily="34" charset="0"/>
                <a:cs typeface="Verdana" pitchFamily="34" charset="0"/>
              </a:rPr>
            </a:br>
            <a:endParaRPr lang="nl-NL" sz="2000" i="1" dirty="0">
              <a:latin typeface="Verdana" pitchFamily="34" charset="0"/>
              <a:ea typeface="Verdana" pitchFamily="34" charset="0"/>
              <a:cs typeface="Verdana" pitchFamily="34" charset="0"/>
            </a:endParaRPr>
          </a:p>
        </p:txBody>
      </p:sp>
      <p:sp>
        <p:nvSpPr>
          <p:cNvPr id="4" name="Tijdelijke aanduiding voor voettekst 2"/>
          <p:cNvSpPr>
            <a:spLocks noGrp="1"/>
          </p:cNvSpPr>
          <p:nvPr>
            <p:ph type="ftr" sz="quarter" idx="11"/>
          </p:nvPr>
        </p:nvSpPr>
        <p:spPr>
          <a:xfrm>
            <a:off x="251520" y="6093296"/>
            <a:ext cx="4464496" cy="490216"/>
          </a:xfrm>
        </p:spPr>
        <p:txBody>
          <a:bodyPr/>
          <a:lstStyle/>
          <a:p>
            <a:pPr>
              <a:defRPr/>
            </a:pPr>
            <a:r>
              <a:rPr lang="nl-NL" dirty="0" smtClean="0"/>
              <a:t>Usabilla360 ‘data-</a:t>
            </a:r>
            <a:r>
              <a:rPr lang="nl-NL" dirty="0" err="1" smtClean="0"/>
              <a:t>visualization</a:t>
            </a:r>
            <a:r>
              <a:rPr lang="nl-NL" dirty="0" smtClean="0"/>
              <a:t>’</a:t>
            </a:r>
          </a:p>
          <a:p>
            <a:pPr>
              <a:defRPr/>
            </a:pPr>
            <a:r>
              <a:rPr lang="nl-NL" dirty="0" smtClean="0"/>
              <a:t>Steven Peutz MSc, </a:t>
            </a:r>
            <a:r>
              <a:rPr lang="nl-NL" dirty="0" err="1"/>
              <a:t>webanalyst</a:t>
            </a:r>
            <a:r>
              <a:rPr lang="nl-NL" dirty="0"/>
              <a:t> @ UWV </a:t>
            </a:r>
          </a:p>
        </p:txBody>
      </p:sp>
    </p:spTree>
    <p:extLst>
      <p:ext uri="{BB962C8B-B14F-4D97-AF65-F5344CB8AC3E}">
        <p14:creationId xmlns:p14="http://schemas.microsoft.com/office/powerpoint/2010/main" val="10013480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t>What data do you analyze?</a:t>
            </a:r>
            <a:endParaRPr lang="nl-NL" sz="2000" dirty="0"/>
          </a:p>
        </p:txBody>
      </p:sp>
      <p:sp>
        <p:nvSpPr>
          <p:cNvPr id="4" name="Tijdelijke aanduiding voor voettekst 3"/>
          <p:cNvSpPr>
            <a:spLocks noGrp="1"/>
          </p:cNvSpPr>
          <p:nvPr>
            <p:ph type="ftr" sz="quarter" idx="10"/>
          </p:nvPr>
        </p:nvSpPr>
        <p:spPr/>
        <p:txBody>
          <a:bodyPr/>
          <a:lstStyle/>
          <a:p>
            <a:r>
              <a:rPr lang="nl-NL" dirty="0" smtClean="0">
                <a:latin typeface="Verdana" pitchFamily="34" charset="0"/>
                <a:ea typeface="Verdana" pitchFamily="34" charset="0"/>
                <a:cs typeface="Verdana" pitchFamily="34" charset="0"/>
              </a:rPr>
              <a:t>Presentation </a:t>
            </a:r>
            <a:r>
              <a:rPr lang="nl-NL" dirty="0" err="1" smtClean="0">
                <a:latin typeface="Verdana" pitchFamily="34" charset="0"/>
                <a:ea typeface="Verdana" pitchFamily="34" charset="0"/>
                <a:cs typeface="Verdana" pitchFamily="34" charset="0"/>
              </a:rPr>
              <a:t>for</a:t>
            </a:r>
            <a:r>
              <a:rPr lang="nl-NL" dirty="0" smtClean="0">
                <a:latin typeface="Verdana" pitchFamily="34" charset="0"/>
                <a:ea typeface="Verdana" pitchFamily="34" charset="0"/>
                <a:cs typeface="Verdana" pitchFamily="34" charset="0"/>
              </a:rPr>
              <a:t> Usabilla360  ‘data-</a:t>
            </a:r>
            <a:r>
              <a:rPr lang="nl-NL" dirty="0" err="1" smtClean="0">
                <a:latin typeface="Verdana" pitchFamily="34" charset="0"/>
                <a:ea typeface="Verdana" pitchFamily="34" charset="0"/>
                <a:cs typeface="Verdana" pitchFamily="34" charset="0"/>
              </a:rPr>
              <a:t>visualization</a:t>
            </a:r>
            <a:r>
              <a:rPr lang="nl-NL" dirty="0" smtClean="0">
                <a:latin typeface="Verdana" pitchFamily="34" charset="0"/>
                <a:ea typeface="Verdana" pitchFamily="34" charset="0"/>
                <a:cs typeface="Verdana" pitchFamily="34" charset="0"/>
              </a:rPr>
              <a:t>’</a:t>
            </a:r>
            <a:endParaRPr lang="nl-NL" dirty="0">
              <a:latin typeface="Verdana" pitchFamily="34" charset="0"/>
              <a:ea typeface="Verdana" pitchFamily="34" charset="0"/>
              <a:cs typeface="Verdana" pitchFamily="34" charset="0"/>
            </a:endParaRPr>
          </a:p>
        </p:txBody>
      </p:sp>
      <p:sp>
        <p:nvSpPr>
          <p:cNvPr id="5" name="Tijdelijke aanduiding voor dianummer 4"/>
          <p:cNvSpPr>
            <a:spLocks noGrp="1"/>
          </p:cNvSpPr>
          <p:nvPr>
            <p:ph type="sldNum" sz="quarter" idx="11"/>
          </p:nvPr>
        </p:nvSpPr>
        <p:spPr/>
        <p:txBody>
          <a:bodyPr/>
          <a:lstStyle/>
          <a:p>
            <a:pPr>
              <a:defRPr/>
            </a:pPr>
            <a:fld id="{3CA17A52-F1B4-4AF3-97D3-B08D712522A9}" type="slidenum">
              <a:rPr lang="nl-NL" smtClean="0"/>
              <a:pPr>
                <a:defRPr/>
              </a:pPr>
              <a:t>3</a:t>
            </a:fld>
            <a:endParaRPr lang="nl-NL"/>
          </a:p>
        </p:txBody>
      </p:sp>
      <p:sp>
        <p:nvSpPr>
          <p:cNvPr id="6" name="Tekstvak 5"/>
          <p:cNvSpPr txBox="1"/>
          <p:nvPr/>
        </p:nvSpPr>
        <p:spPr>
          <a:xfrm>
            <a:off x="384175" y="1628799"/>
            <a:ext cx="7716217" cy="1969770"/>
          </a:xfrm>
          <a:prstGeom prst="rect">
            <a:avLst/>
          </a:prstGeom>
          <a:noFill/>
        </p:spPr>
        <p:txBody>
          <a:bodyPr wrap="square" rtlCol="0">
            <a:spAutoFit/>
          </a:bodyPr>
          <a:lstStyle/>
          <a:p>
            <a:r>
              <a:rPr lang="nl-NL" dirty="0" smtClean="0"/>
              <a:t/>
            </a:r>
            <a:br>
              <a:rPr lang="nl-NL" dirty="0" smtClean="0"/>
            </a:br>
            <a:endParaRPr lang="en-US" dirty="0" smtClean="0"/>
          </a:p>
          <a:p>
            <a:pPr lvl="0"/>
            <a:r>
              <a:rPr lang="nl-NL" i="1" dirty="0" smtClean="0"/>
              <a:t>We collect a lot more </a:t>
            </a:r>
            <a:r>
              <a:rPr lang="nl-NL" i="1" dirty="0" err="1" smtClean="0"/>
              <a:t>usabilla</a:t>
            </a:r>
            <a:r>
              <a:rPr lang="nl-NL" i="1" dirty="0" smtClean="0"/>
              <a:t> data (</a:t>
            </a:r>
            <a:r>
              <a:rPr lang="nl-NL" i="1" dirty="0" err="1" smtClean="0"/>
              <a:t>from</a:t>
            </a:r>
            <a:r>
              <a:rPr lang="nl-NL" i="1" dirty="0" smtClean="0"/>
              <a:t> more different </a:t>
            </a:r>
            <a:r>
              <a:rPr lang="nl-NL" i="1" dirty="0" err="1"/>
              <a:t>campaigns</a:t>
            </a:r>
            <a:r>
              <a:rPr lang="nl-NL" i="1" dirty="0"/>
              <a:t>)</a:t>
            </a:r>
            <a:r>
              <a:rPr lang="nl-NL" i="1" dirty="0" smtClean="0"/>
              <a:t> </a:t>
            </a:r>
            <a:r>
              <a:rPr lang="nl-NL" i="1" dirty="0" err="1" smtClean="0"/>
              <a:t>than</a:t>
            </a:r>
            <a:r>
              <a:rPr lang="nl-NL" i="1" dirty="0" smtClean="0"/>
              <a:t> we </a:t>
            </a:r>
            <a:r>
              <a:rPr lang="nl-NL" i="1" dirty="0" err="1" smtClean="0"/>
              <a:t>actually</a:t>
            </a:r>
            <a:r>
              <a:rPr lang="nl-NL" i="1" dirty="0" smtClean="0"/>
              <a:t> </a:t>
            </a:r>
            <a:r>
              <a:rPr lang="nl-NL" i="1" dirty="0" err="1" smtClean="0"/>
              <a:t>visualize</a:t>
            </a:r>
            <a:r>
              <a:rPr lang="nl-NL" i="1" dirty="0" smtClean="0"/>
              <a:t>. </a:t>
            </a:r>
            <a:br>
              <a:rPr lang="nl-NL" i="1" dirty="0" smtClean="0"/>
            </a:br>
            <a:r>
              <a:rPr lang="nl-NL" i="1" dirty="0" smtClean="0"/>
              <a:t>We </a:t>
            </a:r>
            <a:r>
              <a:rPr lang="nl-NL" i="1" dirty="0" err="1" smtClean="0"/>
              <a:t>tend</a:t>
            </a:r>
            <a:r>
              <a:rPr lang="nl-NL" i="1" dirty="0" smtClean="0"/>
              <a:t> </a:t>
            </a:r>
            <a:r>
              <a:rPr lang="nl-NL" i="1" dirty="0" err="1" smtClean="0"/>
              <a:t>to</a:t>
            </a:r>
            <a:r>
              <a:rPr lang="nl-NL" i="1" dirty="0" smtClean="0"/>
              <a:t> </a:t>
            </a:r>
            <a:r>
              <a:rPr lang="nl-NL" i="1" dirty="0" err="1" smtClean="0"/>
              <a:t>vizualize</a:t>
            </a:r>
            <a:r>
              <a:rPr lang="nl-NL" i="1" dirty="0" smtClean="0"/>
              <a:t> </a:t>
            </a:r>
            <a:r>
              <a:rPr lang="nl-NL" i="1" dirty="0" err="1" smtClean="0"/>
              <a:t>only</a:t>
            </a:r>
            <a:r>
              <a:rPr lang="nl-NL" i="1" dirty="0" smtClean="0"/>
              <a:t> </a:t>
            </a:r>
            <a:r>
              <a:rPr lang="nl-NL" i="1" dirty="0" err="1" smtClean="0"/>
              <a:t>the</a:t>
            </a:r>
            <a:r>
              <a:rPr lang="nl-NL" i="1" dirty="0" smtClean="0"/>
              <a:t> </a:t>
            </a:r>
            <a:r>
              <a:rPr lang="nl-NL" i="1" dirty="0" err="1" smtClean="0"/>
              <a:t>usabilla</a:t>
            </a:r>
            <a:r>
              <a:rPr lang="nl-NL" i="1" dirty="0" smtClean="0"/>
              <a:t> data we </a:t>
            </a:r>
            <a:r>
              <a:rPr lang="nl-NL" i="1" dirty="0" err="1" smtClean="0"/>
              <a:t>use</a:t>
            </a:r>
            <a:r>
              <a:rPr lang="nl-NL" i="1" dirty="0" smtClean="0"/>
              <a:t> </a:t>
            </a:r>
            <a:r>
              <a:rPr lang="nl-NL" i="1" dirty="0" err="1" smtClean="0"/>
              <a:t>for</a:t>
            </a:r>
            <a:r>
              <a:rPr lang="nl-NL" i="1" dirty="0" smtClean="0"/>
              <a:t> </a:t>
            </a:r>
            <a:r>
              <a:rPr lang="nl-NL" i="1" dirty="0" err="1" smtClean="0"/>
              <a:t>periodic</a:t>
            </a:r>
            <a:r>
              <a:rPr lang="nl-NL" i="1" dirty="0" smtClean="0"/>
              <a:t> monitoring</a:t>
            </a:r>
            <a:br>
              <a:rPr lang="nl-NL" i="1" dirty="0" smtClean="0"/>
            </a:br>
            <a:r>
              <a:rPr lang="nl-NL" i="1" dirty="0" smtClean="0"/>
              <a:t>(-&gt; </a:t>
            </a:r>
            <a:r>
              <a:rPr lang="nl-NL" i="1" dirty="0" err="1" smtClean="0"/>
              <a:t>KPI’s</a:t>
            </a:r>
            <a:r>
              <a:rPr lang="nl-NL" i="1" dirty="0" smtClean="0"/>
              <a:t>)</a:t>
            </a:r>
            <a:br>
              <a:rPr lang="nl-NL" i="1" dirty="0" smtClean="0"/>
            </a:br>
            <a:endParaRPr lang="nl-NL" sz="1400" i="1" dirty="0"/>
          </a:p>
        </p:txBody>
      </p:sp>
      <p:sp>
        <p:nvSpPr>
          <p:cNvPr id="3" name="Tekstvak 2"/>
          <p:cNvSpPr txBox="1"/>
          <p:nvPr/>
        </p:nvSpPr>
        <p:spPr>
          <a:xfrm>
            <a:off x="384175" y="3933056"/>
            <a:ext cx="7992888" cy="1477328"/>
          </a:xfrm>
          <a:prstGeom prst="rect">
            <a:avLst/>
          </a:prstGeom>
          <a:noFill/>
        </p:spPr>
        <p:txBody>
          <a:bodyPr wrap="square" rtlCol="0">
            <a:spAutoFit/>
          </a:bodyPr>
          <a:lstStyle/>
          <a:p>
            <a:pPr lvl="0"/>
            <a:r>
              <a:rPr lang="nl-NL" i="1" dirty="0" err="1" smtClean="0"/>
              <a:t>Our</a:t>
            </a:r>
            <a:r>
              <a:rPr lang="nl-NL" i="1" dirty="0" smtClean="0"/>
              <a:t> focus </a:t>
            </a:r>
            <a:r>
              <a:rPr lang="nl-NL" i="1" dirty="0" err="1" smtClean="0"/>
              <a:t>for</a:t>
            </a:r>
            <a:r>
              <a:rPr lang="nl-NL" i="1" dirty="0" smtClean="0"/>
              <a:t> </a:t>
            </a:r>
            <a:r>
              <a:rPr lang="nl-NL" i="1" dirty="0"/>
              <a:t>data </a:t>
            </a:r>
            <a:r>
              <a:rPr lang="nl-NL" i="1" dirty="0" err="1"/>
              <a:t>visualization</a:t>
            </a:r>
            <a:r>
              <a:rPr lang="nl-NL" i="1" dirty="0"/>
              <a:t> is </a:t>
            </a:r>
            <a:r>
              <a:rPr lang="nl-NL" i="1" dirty="0" err="1"/>
              <a:t>to</a:t>
            </a:r>
            <a:r>
              <a:rPr lang="nl-NL" i="1" dirty="0"/>
              <a:t> make </a:t>
            </a:r>
            <a:r>
              <a:rPr lang="nl-NL" i="1" dirty="0" err="1"/>
              <a:t>it</a:t>
            </a:r>
            <a:r>
              <a:rPr lang="nl-NL" i="1" dirty="0"/>
              <a:t> easy </a:t>
            </a:r>
            <a:r>
              <a:rPr lang="nl-NL" i="1" dirty="0" err="1"/>
              <a:t>to</a:t>
            </a:r>
            <a:r>
              <a:rPr lang="nl-NL" i="1" dirty="0"/>
              <a:t> </a:t>
            </a:r>
            <a:r>
              <a:rPr lang="nl-NL" i="1" dirty="0" err="1"/>
              <a:t>interpret</a:t>
            </a:r>
            <a:r>
              <a:rPr lang="nl-NL" i="1" dirty="0"/>
              <a:t> </a:t>
            </a:r>
            <a:r>
              <a:rPr lang="nl-NL" i="1" dirty="0" err="1"/>
              <a:t>and</a:t>
            </a:r>
            <a:r>
              <a:rPr lang="nl-NL" i="1" dirty="0"/>
              <a:t> ‘</a:t>
            </a:r>
            <a:r>
              <a:rPr lang="nl-NL" i="1" dirty="0" err="1"/>
              <a:t>welcoming</a:t>
            </a:r>
            <a:r>
              <a:rPr lang="nl-NL" i="1" dirty="0"/>
              <a:t>’ </a:t>
            </a:r>
            <a:r>
              <a:rPr lang="nl-NL" i="1" dirty="0" err="1"/>
              <a:t>also</a:t>
            </a:r>
            <a:r>
              <a:rPr lang="nl-NL" i="1" dirty="0"/>
              <a:t> </a:t>
            </a:r>
            <a:r>
              <a:rPr lang="nl-NL" i="1" dirty="0" err="1"/>
              <a:t>for</a:t>
            </a:r>
            <a:r>
              <a:rPr lang="nl-NL" i="1" dirty="0"/>
              <a:t> employees </a:t>
            </a:r>
            <a:r>
              <a:rPr lang="nl-NL" i="1" dirty="0" err="1"/>
              <a:t>who</a:t>
            </a:r>
            <a:r>
              <a:rPr lang="nl-NL" i="1" dirty="0"/>
              <a:t> are new </a:t>
            </a:r>
            <a:r>
              <a:rPr lang="nl-NL" i="1" dirty="0" err="1"/>
              <a:t>to</a:t>
            </a:r>
            <a:r>
              <a:rPr lang="nl-NL" i="1" dirty="0"/>
              <a:t> </a:t>
            </a:r>
            <a:r>
              <a:rPr lang="nl-NL" i="1" dirty="0" err="1"/>
              <a:t>KPI’s</a:t>
            </a:r>
            <a:r>
              <a:rPr lang="nl-NL" i="1" dirty="0"/>
              <a:t> </a:t>
            </a:r>
            <a:r>
              <a:rPr lang="nl-NL" i="1" dirty="0" err="1"/>
              <a:t>and</a:t>
            </a:r>
            <a:r>
              <a:rPr lang="nl-NL" i="1" dirty="0"/>
              <a:t> data-</a:t>
            </a:r>
            <a:r>
              <a:rPr lang="nl-NL" i="1" dirty="0" err="1"/>
              <a:t>driven</a:t>
            </a:r>
            <a:r>
              <a:rPr lang="nl-NL" i="1" dirty="0"/>
              <a:t> </a:t>
            </a:r>
            <a:r>
              <a:rPr lang="nl-NL" i="1" dirty="0" err="1"/>
              <a:t>working</a:t>
            </a:r>
            <a:r>
              <a:rPr lang="nl-NL" i="1" dirty="0" smtClean="0"/>
              <a:t>.</a:t>
            </a:r>
            <a:br>
              <a:rPr lang="nl-NL" i="1" dirty="0" smtClean="0"/>
            </a:br>
            <a:r>
              <a:rPr lang="nl-NL" i="1" dirty="0"/>
              <a:t/>
            </a:r>
            <a:br>
              <a:rPr lang="nl-NL" i="1" dirty="0"/>
            </a:br>
            <a:r>
              <a:rPr lang="nl-NL" i="1" dirty="0"/>
              <a:t>We </a:t>
            </a:r>
            <a:r>
              <a:rPr lang="nl-NL" i="1" dirty="0" err="1"/>
              <a:t>try</a:t>
            </a:r>
            <a:r>
              <a:rPr lang="nl-NL" i="1" dirty="0"/>
              <a:t> </a:t>
            </a:r>
            <a:r>
              <a:rPr lang="nl-NL" i="1" dirty="0" err="1"/>
              <a:t>to</a:t>
            </a:r>
            <a:r>
              <a:rPr lang="nl-NL" i="1" dirty="0"/>
              <a:t> </a:t>
            </a:r>
            <a:r>
              <a:rPr lang="nl-NL" i="1" dirty="0" err="1"/>
              <a:t>achieve</a:t>
            </a:r>
            <a:r>
              <a:rPr lang="nl-NL" i="1" dirty="0"/>
              <a:t> </a:t>
            </a:r>
            <a:r>
              <a:rPr lang="nl-NL" i="1" dirty="0" err="1"/>
              <a:t>this</a:t>
            </a:r>
            <a:r>
              <a:rPr lang="nl-NL" i="1" dirty="0"/>
              <a:t> </a:t>
            </a:r>
            <a:r>
              <a:rPr lang="nl-NL" i="1" dirty="0" err="1"/>
              <a:t>by</a:t>
            </a:r>
            <a:r>
              <a:rPr lang="nl-NL" i="1" dirty="0"/>
              <a:t> making </a:t>
            </a:r>
            <a:r>
              <a:rPr lang="nl-NL" i="1" dirty="0" err="1"/>
              <a:t>our</a:t>
            </a:r>
            <a:r>
              <a:rPr lang="nl-NL" i="1" dirty="0"/>
              <a:t> </a:t>
            </a:r>
            <a:r>
              <a:rPr lang="nl-NL" i="1" dirty="0" err="1"/>
              <a:t>visuals</a:t>
            </a:r>
            <a:r>
              <a:rPr lang="nl-NL" i="1" dirty="0"/>
              <a:t> as ‘</a:t>
            </a:r>
            <a:r>
              <a:rPr lang="nl-NL" i="1" dirty="0" err="1"/>
              <a:t>ergonomic</a:t>
            </a:r>
            <a:r>
              <a:rPr lang="nl-NL" i="1" dirty="0"/>
              <a:t> as </a:t>
            </a:r>
            <a:r>
              <a:rPr lang="nl-NL" i="1" dirty="0" err="1"/>
              <a:t>possible</a:t>
            </a:r>
            <a:r>
              <a:rPr lang="nl-NL" i="1" dirty="0"/>
              <a:t>’.</a:t>
            </a:r>
          </a:p>
          <a:p>
            <a:endParaRPr lang="nl-NL" dirty="0"/>
          </a:p>
        </p:txBody>
      </p:sp>
    </p:spTree>
    <p:extLst>
      <p:ext uri="{BB962C8B-B14F-4D97-AF65-F5344CB8AC3E}">
        <p14:creationId xmlns:p14="http://schemas.microsoft.com/office/powerpoint/2010/main" val="2699125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smtClean="0"/>
              <a:t>Making UWV </a:t>
            </a:r>
            <a:r>
              <a:rPr lang="nl-NL" dirty="0" err="1" smtClean="0"/>
              <a:t>visuals</a:t>
            </a:r>
            <a:r>
              <a:rPr lang="nl-NL" dirty="0" smtClean="0"/>
              <a:t> ‘</a:t>
            </a:r>
            <a:r>
              <a:rPr lang="nl-NL" dirty="0" err="1" smtClean="0"/>
              <a:t>ergonomic</a:t>
            </a:r>
            <a:r>
              <a:rPr lang="nl-NL" dirty="0" smtClean="0"/>
              <a:t>’</a:t>
            </a:r>
            <a:endParaRPr lang="nl-NL" dirty="0"/>
          </a:p>
        </p:txBody>
      </p:sp>
      <p:sp>
        <p:nvSpPr>
          <p:cNvPr id="4" name="Tijdelijke aanduiding voor voettekst 3"/>
          <p:cNvSpPr>
            <a:spLocks noGrp="1"/>
          </p:cNvSpPr>
          <p:nvPr>
            <p:ph type="ftr" sz="quarter" idx="10"/>
          </p:nvPr>
        </p:nvSpPr>
        <p:spPr>
          <a:xfrm>
            <a:off x="384174" y="6303963"/>
            <a:ext cx="7644209" cy="290512"/>
          </a:xfrm>
        </p:spPr>
        <p:txBody>
          <a:bodyPr/>
          <a:lstStyle/>
          <a:p>
            <a:r>
              <a:rPr lang="nl-NL" dirty="0">
                <a:latin typeface="Verdana" pitchFamily="34" charset="0"/>
                <a:ea typeface="Verdana" pitchFamily="34" charset="0"/>
                <a:cs typeface="Verdana" pitchFamily="34" charset="0"/>
              </a:rPr>
              <a:t>Presentation </a:t>
            </a:r>
            <a:r>
              <a:rPr lang="nl-NL" dirty="0" err="1">
                <a:latin typeface="Verdana" pitchFamily="34" charset="0"/>
                <a:ea typeface="Verdana" pitchFamily="34" charset="0"/>
                <a:cs typeface="Verdana" pitchFamily="34" charset="0"/>
              </a:rPr>
              <a:t>for</a:t>
            </a:r>
            <a:r>
              <a:rPr lang="nl-NL" dirty="0">
                <a:latin typeface="Verdana" pitchFamily="34" charset="0"/>
                <a:ea typeface="Verdana" pitchFamily="34" charset="0"/>
                <a:cs typeface="Verdana" pitchFamily="34" charset="0"/>
              </a:rPr>
              <a:t> Usabilla360  ‘data-</a:t>
            </a:r>
            <a:r>
              <a:rPr lang="nl-NL" dirty="0" err="1">
                <a:latin typeface="Verdana" pitchFamily="34" charset="0"/>
                <a:ea typeface="Verdana" pitchFamily="34" charset="0"/>
                <a:cs typeface="Verdana" pitchFamily="34" charset="0"/>
              </a:rPr>
              <a:t>visualization</a:t>
            </a:r>
            <a:r>
              <a:rPr lang="nl-NL" dirty="0">
                <a:latin typeface="Verdana" pitchFamily="34" charset="0"/>
                <a:ea typeface="Verdana" pitchFamily="34" charset="0"/>
                <a:cs typeface="Verdana" pitchFamily="34" charset="0"/>
              </a:rPr>
              <a:t>’</a:t>
            </a:r>
          </a:p>
        </p:txBody>
      </p:sp>
      <p:sp>
        <p:nvSpPr>
          <p:cNvPr id="5" name="Tijdelijke aanduiding voor dianummer 4"/>
          <p:cNvSpPr>
            <a:spLocks noGrp="1"/>
          </p:cNvSpPr>
          <p:nvPr>
            <p:ph type="sldNum" sz="quarter" idx="11"/>
          </p:nvPr>
        </p:nvSpPr>
        <p:spPr/>
        <p:txBody>
          <a:bodyPr/>
          <a:lstStyle/>
          <a:p>
            <a:pPr>
              <a:defRPr/>
            </a:pPr>
            <a:fld id="{3CA17A52-F1B4-4AF3-97D3-B08D712522A9}" type="slidenum">
              <a:rPr lang="nl-NL" smtClean="0"/>
              <a:pPr>
                <a:defRPr/>
              </a:pPr>
              <a:t>4</a:t>
            </a:fld>
            <a:endParaRPr lang="nl-NL"/>
          </a:p>
        </p:txBody>
      </p:sp>
      <p:sp>
        <p:nvSpPr>
          <p:cNvPr id="7" name="Tekstvak 6"/>
          <p:cNvSpPr txBox="1"/>
          <p:nvPr/>
        </p:nvSpPr>
        <p:spPr>
          <a:xfrm>
            <a:off x="683568" y="1916832"/>
            <a:ext cx="6624736" cy="369332"/>
          </a:xfrm>
          <a:prstGeom prst="rect">
            <a:avLst/>
          </a:prstGeom>
          <a:noFill/>
        </p:spPr>
        <p:txBody>
          <a:bodyPr wrap="square" rtlCol="0">
            <a:spAutoFit/>
          </a:bodyPr>
          <a:lstStyle/>
          <a:p>
            <a:pPr marL="285750" indent="-285750">
              <a:buFontTx/>
              <a:buChar char="-"/>
            </a:pPr>
            <a:r>
              <a:rPr lang="nl-NL" dirty="0" err="1" smtClean="0"/>
              <a:t>Quit</a:t>
            </a:r>
            <a:r>
              <a:rPr lang="nl-NL" dirty="0" smtClean="0"/>
              <a:t> </a:t>
            </a:r>
            <a:r>
              <a:rPr lang="nl-NL" dirty="0" err="1" smtClean="0"/>
              <a:t>screaming</a:t>
            </a:r>
            <a:r>
              <a:rPr lang="nl-NL" dirty="0" smtClean="0"/>
              <a:t> </a:t>
            </a:r>
            <a:r>
              <a:rPr lang="nl-NL" dirty="0" err="1" smtClean="0"/>
              <a:t>colors</a:t>
            </a:r>
            <a:r>
              <a:rPr lang="nl-NL" dirty="0" smtClean="0"/>
              <a:t>. (</a:t>
            </a:r>
            <a:r>
              <a:rPr lang="nl-NL" dirty="0" err="1" smtClean="0"/>
              <a:t>only</a:t>
            </a:r>
            <a:r>
              <a:rPr lang="nl-NL" dirty="0" smtClean="0"/>
              <a:t> ok </a:t>
            </a:r>
            <a:r>
              <a:rPr lang="nl-NL" dirty="0" err="1" smtClean="0"/>
              <a:t>for</a:t>
            </a:r>
            <a:r>
              <a:rPr lang="nl-NL" dirty="0" smtClean="0"/>
              <a:t> alarm </a:t>
            </a:r>
            <a:r>
              <a:rPr lang="nl-NL" dirty="0" err="1" smtClean="0"/>
              <a:t>function</a:t>
            </a:r>
            <a:r>
              <a:rPr lang="nl-NL" dirty="0" smtClean="0"/>
              <a:t>)</a:t>
            </a:r>
            <a:endParaRPr lang="nl-NL" dirty="0"/>
          </a:p>
        </p:txBody>
      </p:sp>
      <p:sp>
        <p:nvSpPr>
          <p:cNvPr id="8" name="Tekstvak 7"/>
          <p:cNvSpPr txBox="1"/>
          <p:nvPr/>
        </p:nvSpPr>
        <p:spPr>
          <a:xfrm>
            <a:off x="683568" y="2888069"/>
            <a:ext cx="6192688" cy="646331"/>
          </a:xfrm>
          <a:prstGeom prst="rect">
            <a:avLst/>
          </a:prstGeom>
          <a:noFill/>
        </p:spPr>
        <p:txBody>
          <a:bodyPr wrap="square" rtlCol="0">
            <a:spAutoFit/>
          </a:bodyPr>
          <a:lstStyle/>
          <a:p>
            <a:pPr marL="285750" indent="-285750">
              <a:buFontTx/>
              <a:buChar char="-"/>
            </a:pPr>
            <a:r>
              <a:rPr lang="nl-NL" dirty="0" err="1" smtClean="0"/>
              <a:t>Uphold</a:t>
            </a:r>
            <a:r>
              <a:rPr lang="nl-NL" dirty="0" smtClean="0"/>
              <a:t> Edward </a:t>
            </a:r>
            <a:r>
              <a:rPr lang="nl-NL" dirty="0" err="1"/>
              <a:t>Tufte’s</a:t>
            </a:r>
            <a:r>
              <a:rPr lang="nl-NL" dirty="0"/>
              <a:t> Data </a:t>
            </a:r>
            <a:r>
              <a:rPr lang="nl-NL" dirty="0" err="1"/>
              <a:t>Ink</a:t>
            </a:r>
            <a:r>
              <a:rPr lang="nl-NL" dirty="0"/>
              <a:t> Ratio;</a:t>
            </a:r>
            <a:br>
              <a:rPr lang="nl-NL" dirty="0"/>
            </a:br>
            <a:endParaRPr lang="nl-NL" dirty="0"/>
          </a:p>
        </p:txBody>
      </p:sp>
      <p:sp>
        <p:nvSpPr>
          <p:cNvPr id="10" name="Tekstvak 9"/>
          <p:cNvSpPr txBox="1"/>
          <p:nvPr/>
        </p:nvSpPr>
        <p:spPr>
          <a:xfrm>
            <a:off x="755576" y="4706623"/>
            <a:ext cx="6048672" cy="369332"/>
          </a:xfrm>
          <a:prstGeom prst="rect">
            <a:avLst/>
          </a:prstGeom>
          <a:noFill/>
        </p:spPr>
        <p:txBody>
          <a:bodyPr wrap="square" rtlCol="0">
            <a:spAutoFit/>
          </a:bodyPr>
          <a:lstStyle/>
          <a:p>
            <a:r>
              <a:rPr lang="nl-NL" dirty="0" smtClean="0"/>
              <a:t>- </a:t>
            </a:r>
            <a:r>
              <a:rPr lang="nl-NL" dirty="0" err="1" smtClean="0"/>
              <a:t>Regard</a:t>
            </a:r>
            <a:r>
              <a:rPr lang="nl-NL" dirty="0" smtClean="0"/>
              <a:t> </a:t>
            </a:r>
            <a:r>
              <a:rPr lang="nl-NL" dirty="0" err="1" smtClean="0"/>
              <a:t>Location</a:t>
            </a:r>
            <a:r>
              <a:rPr lang="nl-NL" dirty="0" smtClean="0"/>
              <a:t> &amp; reading </a:t>
            </a:r>
            <a:r>
              <a:rPr lang="nl-NL" dirty="0" err="1" smtClean="0"/>
              <a:t>direction</a:t>
            </a:r>
            <a:endParaRPr lang="nl-NL" dirty="0"/>
          </a:p>
        </p:txBody>
      </p:sp>
      <p:sp>
        <p:nvSpPr>
          <p:cNvPr id="12" name="Tekstvak 11"/>
          <p:cNvSpPr txBox="1"/>
          <p:nvPr/>
        </p:nvSpPr>
        <p:spPr>
          <a:xfrm>
            <a:off x="770891" y="5229200"/>
            <a:ext cx="6264696" cy="369332"/>
          </a:xfrm>
          <a:prstGeom prst="rect">
            <a:avLst/>
          </a:prstGeom>
          <a:noFill/>
        </p:spPr>
        <p:txBody>
          <a:bodyPr wrap="square" rtlCol="0">
            <a:spAutoFit/>
          </a:bodyPr>
          <a:lstStyle/>
          <a:p>
            <a:r>
              <a:rPr lang="nl-NL" dirty="0" smtClean="0"/>
              <a:t>- </a:t>
            </a:r>
            <a:r>
              <a:rPr lang="nl-NL" dirty="0" err="1" smtClean="0"/>
              <a:t>Choose</a:t>
            </a:r>
            <a:r>
              <a:rPr lang="nl-NL" dirty="0" smtClean="0"/>
              <a:t> </a:t>
            </a:r>
            <a:r>
              <a:rPr lang="nl-NL" dirty="0" err="1" smtClean="0"/>
              <a:t>the</a:t>
            </a:r>
            <a:r>
              <a:rPr lang="nl-NL" dirty="0" smtClean="0"/>
              <a:t> </a:t>
            </a:r>
            <a:r>
              <a:rPr lang="nl-NL" dirty="0" err="1" smtClean="0"/>
              <a:t>appropriate</a:t>
            </a:r>
            <a:r>
              <a:rPr lang="nl-NL" dirty="0" smtClean="0"/>
              <a:t> </a:t>
            </a:r>
            <a:r>
              <a:rPr lang="nl-NL" dirty="0" err="1" smtClean="0"/>
              <a:t>graph</a:t>
            </a:r>
            <a:r>
              <a:rPr lang="nl-NL" dirty="0" smtClean="0"/>
              <a:t>/</a:t>
            </a:r>
            <a:r>
              <a:rPr lang="nl-NL" dirty="0" err="1" smtClean="0"/>
              <a:t>table</a:t>
            </a:r>
            <a:endParaRPr lang="nl-NL" dirty="0"/>
          </a:p>
        </p:txBody>
      </p:sp>
      <p:sp>
        <p:nvSpPr>
          <p:cNvPr id="14" name="Tekstvak 13"/>
          <p:cNvSpPr txBox="1"/>
          <p:nvPr/>
        </p:nvSpPr>
        <p:spPr>
          <a:xfrm>
            <a:off x="1140007" y="3282571"/>
            <a:ext cx="5760640" cy="1200329"/>
          </a:xfrm>
          <a:prstGeom prst="rect">
            <a:avLst/>
          </a:prstGeom>
          <a:noFill/>
        </p:spPr>
        <p:txBody>
          <a:bodyPr wrap="square" rtlCol="0">
            <a:spAutoFit/>
          </a:bodyPr>
          <a:lstStyle/>
          <a:p>
            <a:r>
              <a:rPr lang="nl-NL" dirty="0" smtClean="0"/>
              <a:t>-   no </a:t>
            </a:r>
            <a:r>
              <a:rPr lang="nl-NL" dirty="0" err="1"/>
              <a:t>decorative</a:t>
            </a:r>
            <a:r>
              <a:rPr lang="nl-NL" dirty="0"/>
              <a:t> </a:t>
            </a:r>
            <a:r>
              <a:rPr lang="nl-NL" dirty="0" err="1" smtClean="0"/>
              <a:t>elements</a:t>
            </a:r>
            <a:r>
              <a:rPr lang="nl-NL" dirty="0" smtClean="0"/>
              <a:t> &amp; no </a:t>
            </a:r>
            <a:r>
              <a:rPr lang="nl-NL" dirty="0" err="1"/>
              <a:t>unneeded</a:t>
            </a:r>
            <a:r>
              <a:rPr lang="nl-NL" dirty="0"/>
              <a:t> </a:t>
            </a:r>
            <a:r>
              <a:rPr lang="nl-NL" dirty="0" smtClean="0"/>
              <a:t>detail</a:t>
            </a:r>
            <a:endParaRPr lang="nl-NL" dirty="0"/>
          </a:p>
          <a:p>
            <a:r>
              <a:rPr lang="nl-NL" dirty="0" smtClean="0"/>
              <a:t>-   no </a:t>
            </a:r>
            <a:r>
              <a:rPr lang="nl-NL" dirty="0"/>
              <a:t>fat </a:t>
            </a:r>
            <a:r>
              <a:rPr lang="nl-NL" dirty="0" err="1"/>
              <a:t>lines</a:t>
            </a:r>
            <a:endParaRPr lang="nl-NL" dirty="0"/>
          </a:p>
          <a:p>
            <a:pPr marL="285750" indent="-285750">
              <a:buFontTx/>
              <a:buChar char="-"/>
            </a:pPr>
            <a:r>
              <a:rPr lang="nl-NL" dirty="0" err="1" smtClean="0"/>
              <a:t>only</a:t>
            </a:r>
            <a:r>
              <a:rPr lang="nl-NL" dirty="0" smtClean="0"/>
              <a:t> </a:t>
            </a:r>
            <a:r>
              <a:rPr lang="nl-NL" dirty="0" err="1"/>
              <a:t>add</a:t>
            </a:r>
            <a:r>
              <a:rPr lang="nl-NL" dirty="0"/>
              <a:t> </a:t>
            </a:r>
            <a:r>
              <a:rPr lang="nl-NL" dirty="0" err="1"/>
              <a:t>numbers</a:t>
            </a:r>
            <a:r>
              <a:rPr lang="nl-NL" dirty="0"/>
              <a:t> or </a:t>
            </a:r>
            <a:r>
              <a:rPr lang="nl-NL" dirty="0" err="1"/>
              <a:t>lines</a:t>
            </a:r>
            <a:r>
              <a:rPr lang="nl-NL" dirty="0"/>
              <a:t> </a:t>
            </a:r>
            <a:r>
              <a:rPr lang="nl-NL" dirty="0" err="1"/>
              <a:t>if</a:t>
            </a:r>
            <a:r>
              <a:rPr lang="nl-NL" dirty="0"/>
              <a:t> </a:t>
            </a:r>
            <a:r>
              <a:rPr lang="nl-NL" dirty="0" err="1"/>
              <a:t>they</a:t>
            </a:r>
            <a:r>
              <a:rPr lang="nl-NL" dirty="0"/>
              <a:t> </a:t>
            </a:r>
            <a:r>
              <a:rPr lang="nl-NL" dirty="0" err="1"/>
              <a:t>truely</a:t>
            </a:r>
            <a:r>
              <a:rPr lang="nl-NL" dirty="0"/>
              <a:t> </a:t>
            </a:r>
            <a:r>
              <a:rPr lang="nl-NL" dirty="0" err="1"/>
              <a:t>aid</a:t>
            </a:r>
            <a:r>
              <a:rPr lang="nl-NL" dirty="0"/>
              <a:t> </a:t>
            </a:r>
            <a:r>
              <a:rPr lang="nl-NL" dirty="0" smtClean="0"/>
              <a:t>reading</a:t>
            </a:r>
            <a:endParaRPr lang="nl-NL" dirty="0"/>
          </a:p>
          <a:p>
            <a:pPr marL="285750" indent="-285750">
              <a:buFontTx/>
              <a:buChar char="-"/>
            </a:pPr>
            <a:r>
              <a:rPr lang="nl-NL" dirty="0"/>
              <a:t>keep </a:t>
            </a:r>
            <a:r>
              <a:rPr lang="nl-NL" dirty="0" err="1"/>
              <a:t>it</a:t>
            </a:r>
            <a:r>
              <a:rPr lang="nl-NL" dirty="0"/>
              <a:t> ‘D.R.Y.’  (</a:t>
            </a:r>
            <a:r>
              <a:rPr lang="nl-NL" i="1" dirty="0" err="1"/>
              <a:t>don’t</a:t>
            </a:r>
            <a:r>
              <a:rPr lang="nl-NL" i="1" dirty="0"/>
              <a:t> </a:t>
            </a:r>
            <a:r>
              <a:rPr lang="nl-NL" i="1" dirty="0" err="1"/>
              <a:t>repeat</a:t>
            </a:r>
            <a:r>
              <a:rPr lang="nl-NL" i="1" dirty="0"/>
              <a:t> </a:t>
            </a:r>
            <a:r>
              <a:rPr lang="nl-NL" i="1" dirty="0" err="1"/>
              <a:t>yourself</a:t>
            </a:r>
            <a:r>
              <a:rPr lang="nl-NL" i="1" dirty="0" smtClean="0"/>
              <a:t>)</a:t>
            </a:r>
            <a:endParaRPr lang="nl-NL" dirty="0"/>
          </a:p>
        </p:txBody>
      </p:sp>
      <p:sp>
        <p:nvSpPr>
          <p:cNvPr id="26" name="Rechthoek 25"/>
          <p:cNvSpPr/>
          <p:nvPr/>
        </p:nvSpPr>
        <p:spPr>
          <a:xfrm>
            <a:off x="467544" y="1052736"/>
            <a:ext cx="4248472" cy="172819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7423" y="945028"/>
            <a:ext cx="4048001" cy="1943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 name="Picture 3"/>
          <p:cNvPicPr/>
          <p:nvPr/>
        </p:nvPicPr>
        <p:blipFill>
          <a:blip r:embed="rId3">
            <a:extLst>
              <a:ext uri="{28A0092B-C50C-407E-A947-70E740481C1C}">
                <a14:useLocalDpi xmlns:a14="http://schemas.microsoft.com/office/drawing/2010/main" val="0"/>
              </a:ext>
            </a:extLst>
          </a:blip>
          <a:srcRect/>
          <a:stretch>
            <a:fillRect/>
          </a:stretch>
        </p:blipFill>
        <p:spPr bwMode="auto">
          <a:xfrm>
            <a:off x="4407843" y="909409"/>
            <a:ext cx="4227830" cy="3653747"/>
          </a:xfrm>
          <a:prstGeom prst="rect">
            <a:avLst/>
          </a:prstGeom>
          <a:solidFill>
            <a:sysClr val="window" lastClr="FFFFFF"/>
          </a:solidFill>
          <a:ln>
            <a:noFill/>
          </a:ln>
          <a:effectLst/>
          <a:extLst/>
        </p:spPr>
      </p:pic>
      <p:pic>
        <p:nvPicPr>
          <p:cNvPr id="25" name="Picture 4"/>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3568" y="909409"/>
            <a:ext cx="3724275" cy="3654307"/>
          </a:xfrm>
          <a:prstGeom prst="rect">
            <a:avLst/>
          </a:prstGeom>
          <a:solidFill>
            <a:sysClr val="window" lastClr="FFFFFF"/>
          </a:solidFill>
          <a:ln>
            <a:noFill/>
          </a:ln>
          <a:effectLst/>
          <a:extLst/>
        </p:spPr>
      </p:pic>
      <p:sp>
        <p:nvSpPr>
          <p:cNvPr id="27" name="Rechthoek 26"/>
          <p:cNvSpPr/>
          <p:nvPr/>
        </p:nvSpPr>
        <p:spPr>
          <a:xfrm>
            <a:off x="611561" y="909409"/>
            <a:ext cx="8224464" cy="41665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aphicFrame>
        <p:nvGraphicFramePr>
          <p:cNvPr id="28" name="Grafiek 27"/>
          <p:cNvGraphicFramePr/>
          <p:nvPr>
            <p:extLst>
              <p:ext uri="{D42A27DB-BD31-4B8C-83A1-F6EECF244321}">
                <p14:modId xmlns:p14="http://schemas.microsoft.com/office/powerpoint/2010/main" val="1262369478"/>
              </p:ext>
            </p:extLst>
          </p:nvPr>
        </p:nvGraphicFramePr>
        <p:xfrm>
          <a:off x="899689" y="2037293"/>
          <a:ext cx="2695575" cy="256222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9" name="Grafiek 28"/>
          <p:cNvGraphicFramePr/>
          <p:nvPr>
            <p:extLst>
              <p:ext uri="{D42A27DB-BD31-4B8C-83A1-F6EECF244321}">
                <p14:modId xmlns:p14="http://schemas.microsoft.com/office/powerpoint/2010/main" val="152706286"/>
              </p:ext>
            </p:extLst>
          </p:nvPr>
        </p:nvGraphicFramePr>
        <p:xfrm>
          <a:off x="4515926" y="1972984"/>
          <a:ext cx="3240360" cy="24765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043187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xEl>
                                              <p:pRg st="0" end="0"/>
                                            </p:txEl>
                                          </p:spTgt>
                                        </p:tgtEl>
                                        <p:attrNameLst>
                                          <p:attrName>style.visibility</p:attrName>
                                        </p:attrNameLst>
                                      </p:cBhvr>
                                      <p:to>
                                        <p:strVal val="visible"/>
                                      </p:to>
                                    </p:set>
                                    <p:animEffect transition="in" filter="fade">
                                      <p:cBhvr>
                                        <p:cTn id="22" dur="500"/>
                                        <p:tgtEl>
                                          <p:spTgt spid="1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xEl>
                                              <p:pRg st="1" end="1"/>
                                            </p:txEl>
                                          </p:spTgt>
                                        </p:tgtEl>
                                        <p:attrNameLst>
                                          <p:attrName>style.visibility</p:attrName>
                                        </p:attrNameLst>
                                      </p:cBhvr>
                                      <p:to>
                                        <p:strVal val="visible"/>
                                      </p:to>
                                    </p:set>
                                    <p:animEffect transition="in" filter="fade">
                                      <p:cBhvr>
                                        <p:cTn id="27" dur="500"/>
                                        <p:tgtEl>
                                          <p:spTgt spid="1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xEl>
                                              <p:pRg st="2" end="2"/>
                                            </p:txEl>
                                          </p:spTgt>
                                        </p:tgtEl>
                                        <p:attrNameLst>
                                          <p:attrName>style.visibility</p:attrName>
                                        </p:attrNameLst>
                                      </p:cBhvr>
                                      <p:to>
                                        <p:strVal val="visible"/>
                                      </p:to>
                                    </p:set>
                                    <p:animEffect transition="in" filter="fade">
                                      <p:cBhvr>
                                        <p:cTn id="32" dur="500"/>
                                        <p:tgtEl>
                                          <p:spTgt spid="14">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xEl>
                                              <p:pRg st="3" end="3"/>
                                            </p:txEl>
                                          </p:spTgt>
                                        </p:tgtEl>
                                        <p:attrNameLst>
                                          <p:attrName>style.visibility</p:attrName>
                                        </p:attrNameLst>
                                      </p:cBhvr>
                                      <p:to>
                                        <p:strVal val="visible"/>
                                      </p:to>
                                    </p:set>
                                    <p:animEffect transition="in" filter="fade">
                                      <p:cBhvr>
                                        <p:cTn id="37" dur="500"/>
                                        <p:tgtEl>
                                          <p:spTgt spid="14">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par>
                                <p:cTn id="43" presetID="10" presetClass="entr" presetSubtype="0"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par>
                                <p:cTn id="46" presetID="10" presetClass="entr" presetSubtype="0" fill="hold"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50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fade">
                                      <p:cBhvr>
                                        <p:cTn id="6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2" grpId="0"/>
      <p:bldP spid="26" grpId="0" animBg="1"/>
      <p:bldP spid="27" grpId="0" animBg="1"/>
      <p:bldGraphic spid="28" grpId="0">
        <p:bldAsOne/>
      </p:bldGraphic>
      <p:bldGraphic spid="29"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smtClean="0"/>
              <a:t>What</a:t>
            </a:r>
            <a:r>
              <a:rPr lang="nl-NL" dirty="0" smtClean="0"/>
              <a:t> we </a:t>
            </a:r>
            <a:r>
              <a:rPr lang="nl-NL" dirty="0" err="1" smtClean="0"/>
              <a:t>didn’t</a:t>
            </a:r>
            <a:r>
              <a:rPr lang="nl-NL" dirty="0" smtClean="0"/>
              <a:t> want (</a:t>
            </a:r>
            <a:r>
              <a:rPr lang="nl-NL" dirty="0" err="1" smtClean="0"/>
              <a:t>old</a:t>
            </a:r>
            <a:r>
              <a:rPr lang="nl-NL" dirty="0" smtClean="0"/>
              <a:t> </a:t>
            </a:r>
            <a:r>
              <a:rPr lang="nl-NL" dirty="0" err="1" smtClean="0"/>
              <a:t>visuals</a:t>
            </a:r>
            <a:r>
              <a:rPr lang="nl-NL" dirty="0" smtClean="0"/>
              <a:t>)</a:t>
            </a:r>
            <a:endParaRPr lang="nl-NL" dirty="0"/>
          </a:p>
        </p:txBody>
      </p:sp>
      <p:sp>
        <p:nvSpPr>
          <p:cNvPr id="4" name="Tijdelijke aanduiding voor voettekst 3"/>
          <p:cNvSpPr>
            <a:spLocks noGrp="1"/>
          </p:cNvSpPr>
          <p:nvPr>
            <p:ph type="ftr" sz="quarter" idx="10"/>
          </p:nvPr>
        </p:nvSpPr>
        <p:spPr>
          <a:xfrm>
            <a:off x="384174" y="6303963"/>
            <a:ext cx="7644209" cy="290512"/>
          </a:xfrm>
        </p:spPr>
        <p:txBody>
          <a:bodyPr/>
          <a:lstStyle/>
          <a:p>
            <a:pPr>
              <a:defRPr/>
            </a:pPr>
            <a:r>
              <a:rPr lang="nl-NL" dirty="0" smtClean="0"/>
              <a:t>These are real </a:t>
            </a:r>
            <a:r>
              <a:rPr lang="nl-NL" dirty="0" err="1" smtClean="0"/>
              <a:t>visuals</a:t>
            </a:r>
            <a:r>
              <a:rPr lang="nl-NL" dirty="0" smtClean="0"/>
              <a:t>, </a:t>
            </a:r>
            <a:r>
              <a:rPr lang="nl-NL" dirty="0" err="1" smtClean="0"/>
              <a:t>still</a:t>
            </a:r>
            <a:r>
              <a:rPr lang="nl-NL" dirty="0" smtClean="0"/>
              <a:t> </a:t>
            </a:r>
            <a:r>
              <a:rPr lang="nl-NL" dirty="0" err="1" smtClean="0"/>
              <a:t>being</a:t>
            </a:r>
            <a:r>
              <a:rPr lang="nl-NL" dirty="0" smtClean="0"/>
              <a:t> </a:t>
            </a:r>
            <a:r>
              <a:rPr lang="nl-NL" dirty="0" err="1" smtClean="0"/>
              <a:t>used</a:t>
            </a:r>
            <a:r>
              <a:rPr lang="nl-NL" dirty="0" smtClean="0"/>
              <a:t>.. </a:t>
            </a:r>
            <a:r>
              <a:rPr lang="nl-NL" i="1" dirty="0" smtClean="0"/>
              <a:t>(</a:t>
            </a:r>
            <a:r>
              <a:rPr lang="nl-NL" i="1" dirty="0" err="1" smtClean="0"/>
              <a:t>luckily</a:t>
            </a:r>
            <a:r>
              <a:rPr lang="nl-NL" i="1" dirty="0" smtClean="0"/>
              <a:t> no </a:t>
            </a:r>
            <a:r>
              <a:rPr lang="nl-NL" i="1" dirty="0" err="1" smtClean="0"/>
              <a:t>longer</a:t>
            </a:r>
            <a:r>
              <a:rPr lang="nl-NL" i="1" dirty="0" smtClean="0"/>
              <a:t> at Digital </a:t>
            </a:r>
            <a:r>
              <a:rPr lang="nl-NL" i="1" dirty="0" err="1" smtClean="0"/>
              <a:t>though</a:t>
            </a:r>
            <a:r>
              <a:rPr lang="nl-NL" i="1" dirty="0" smtClean="0"/>
              <a:t>)</a:t>
            </a:r>
            <a:endParaRPr lang="nl-NL" i="1" dirty="0"/>
          </a:p>
        </p:txBody>
      </p:sp>
      <p:sp>
        <p:nvSpPr>
          <p:cNvPr id="5" name="Tijdelijke aanduiding voor dianummer 4"/>
          <p:cNvSpPr>
            <a:spLocks noGrp="1"/>
          </p:cNvSpPr>
          <p:nvPr>
            <p:ph type="sldNum" sz="quarter" idx="11"/>
          </p:nvPr>
        </p:nvSpPr>
        <p:spPr/>
        <p:txBody>
          <a:bodyPr/>
          <a:lstStyle/>
          <a:p>
            <a:pPr>
              <a:defRPr/>
            </a:pPr>
            <a:fld id="{3CA17A52-F1B4-4AF3-97D3-B08D712522A9}" type="slidenum">
              <a:rPr lang="nl-NL" smtClean="0"/>
              <a:pPr>
                <a:defRPr/>
              </a:pPr>
              <a:t>5</a:t>
            </a:fld>
            <a:endParaRPr lang="nl-NL"/>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052736"/>
            <a:ext cx="6501640" cy="3672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11" descr="\\prod.ka.uwv.nl\Private\Users\Home05\mhe133\Mijn Bureaublad\dashboar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0658" y="2132856"/>
            <a:ext cx="4993342" cy="33843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0" y="3933056"/>
            <a:ext cx="5925344" cy="226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0333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Screenshot </a:t>
            </a:r>
            <a:r>
              <a:rPr lang="nl-NL" dirty="0" smtClean="0"/>
              <a:t>report (excel)</a:t>
            </a:r>
            <a:endParaRPr lang="nl-NL" dirty="0"/>
          </a:p>
        </p:txBody>
      </p:sp>
      <p:sp>
        <p:nvSpPr>
          <p:cNvPr id="4" name="Tijdelijke aanduiding voor voettekst 3"/>
          <p:cNvSpPr>
            <a:spLocks noGrp="1"/>
          </p:cNvSpPr>
          <p:nvPr>
            <p:ph type="ftr" sz="quarter" idx="10"/>
          </p:nvPr>
        </p:nvSpPr>
        <p:spPr>
          <a:xfrm>
            <a:off x="384174" y="6303963"/>
            <a:ext cx="7644209" cy="290512"/>
          </a:xfrm>
        </p:spPr>
        <p:txBody>
          <a:bodyPr/>
          <a:lstStyle/>
          <a:p>
            <a:pPr>
              <a:defRPr/>
            </a:pPr>
            <a:r>
              <a:rPr lang="nl-NL" dirty="0" err="1" smtClean="0"/>
              <a:t>Example</a:t>
            </a:r>
            <a:r>
              <a:rPr lang="nl-NL" dirty="0" smtClean="0"/>
              <a:t> </a:t>
            </a:r>
            <a:r>
              <a:rPr lang="nl-NL" dirty="0" err="1" smtClean="0"/>
              <a:t>graph</a:t>
            </a:r>
            <a:r>
              <a:rPr lang="nl-NL" dirty="0" smtClean="0"/>
              <a:t> </a:t>
            </a:r>
            <a:r>
              <a:rPr lang="nl-NL" dirty="0" err="1" smtClean="0"/>
              <a:t>from</a:t>
            </a:r>
            <a:r>
              <a:rPr lang="nl-NL" dirty="0" smtClean="0"/>
              <a:t> a report (1)</a:t>
            </a:r>
            <a:endParaRPr lang="nl-NL" i="1" dirty="0"/>
          </a:p>
        </p:txBody>
      </p:sp>
      <p:sp>
        <p:nvSpPr>
          <p:cNvPr id="5" name="Tijdelijke aanduiding voor dianummer 4"/>
          <p:cNvSpPr>
            <a:spLocks noGrp="1"/>
          </p:cNvSpPr>
          <p:nvPr>
            <p:ph type="sldNum" sz="quarter" idx="11"/>
          </p:nvPr>
        </p:nvSpPr>
        <p:spPr/>
        <p:txBody>
          <a:bodyPr/>
          <a:lstStyle/>
          <a:p>
            <a:pPr>
              <a:defRPr/>
            </a:pPr>
            <a:fld id="{3CA17A52-F1B4-4AF3-97D3-B08D712522A9}" type="slidenum">
              <a:rPr lang="nl-NL" smtClean="0"/>
              <a:pPr>
                <a:defRPr/>
              </a:pPr>
              <a:t>6</a:t>
            </a:fld>
            <a:endParaRPr lang="nl-NL"/>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908720"/>
            <a:ext cx="5896719" cy="52782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65813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Screenshot </a:t>
            </a:r>
            <a:r>
              <a:rPr lang="nl-NL" dirty="0" smtClean="0"/>
              <a:t>report (excel, 2)</a:t>
            </a:r>
            <a:endParaRPr lang="nl-NL" dirty="0"/>
          </a:p>
        </p:txBody>
      </p:sp>
      <p:sp>
        <p:nvSpPr>
          <p:cNvPr id="4" name="Tijdelijke aanduiding voor voettekst 3"/>
          <p:cNvSpPr>
            <a:spLocks noGrp="1"/>
          </p:cNvSpPr>
          <p:nvPr>
            <p:ph type="ftr" sz="quarter" idx="10"/>
          </p:nvPr>
        </p:nvSpPr>
        <p:spPr>
          <a:xfrm>
            <a:off x="384174" y="6303963"/>
            <a:ext cx="7644209" cy="290512"/>
          </a:xfrm>
        </p:spPr>
        <p:txBody>
          <a:bodyPr/>
          <a:lstStyle/>
          <a:p>
            <a:pPr>
              <a:defRPr/>
            </a:pPr>
            <a:r>
              <a:rPr lang="nl-NL" dirty="0" err="1" smtClean="0"/>
              <a:t>Example</a:t>
            </a:r>
            <a:r>
              <a:rPr lang="nl-NL" dirty="0" smtClean="0"/>
              <a:t> </a:t>
            </a:r>
            <a:r>
              <a:rPr lang="nl-NL" dirty="0" err="1" smtClean="0"/>
              <a:t>graph</a:t>
            </a:r>
            <a:r>
              <a:rPr lang="nl-NL" dirty="0" smtClean="0"/>
              <a:t> </a:t>
            </a:r>
            <a:r>
              <a:rPr lang="nl-NL" dirty="0" err="1" smtClean="0"/>
              <a:t>from</a:t>
            </a:r>
            <a:r>
              <a:rPr lang="nl-NL" dirty="0" smtClean="0"/>
              <a:t> a report (2)</a:t>
            </a:r>
            <a:endParaRPr lang="nl-NL" i="1" dirty="0"/>
          </a:p>
        </p:txBody>
      </p:sp>
      <p:sp>
        <p:nvSpPr>
          <p:cNvPr id="5" name="Tijdelijke aanduiding voor dianummer 4"/>
          <p:cNvSpPr>
            <a:spLocks noGrp="1"/>
          </p:cNvSpPr>
          <p:nvPr>
            <p:ph type="sldNum" sz="quarter" idx="11"/>
          </p:nvPr>
        </p:nvSpPr>
        <p:spPr/>
        <p:txBody>
          <a:bodyPr/>
          <a:lstStyle/>
          <a:p>
            <a:pPr>
              <a:defRPr/>
            </a:pPr>
            <a:fld id="{3CA17A52-F1B4-4AF3-97D3-B08D712522A9}" type="slidenum">
              <a:rPr lang="nl-NL" smtClean="0"/>
              <a:pPr>
                <a:defRPr/>
              </a:pPr>
              <a:t>7</a:t>
            </a:fld>
            <a:endParaRPr lang="nl-NL"/>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406" y="1199960"/>
            <a:ext cx="6296409" cy="49631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56846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36" y="1700808"/>
            <a:ext cx="9270612" cy="4320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el 1"/>
          <p:cNvSpPr>
            <a:spLocks noGrp="1"/>
          </p:cNvSpPr>
          <p:nvPr>
            <p:ph type="title"/>
          </p:nvPr>
        </p:nvSpPr>
        <p:spPr/>
        <p:txBody>
          <a:bodyPr/>
          <a:lstStyle/>
          <a:p>
            <a:r>
              <a:rPr lang="nl-NL" dirty="0"/>
              <a:t>Screenshot </a:t>
            </a:r>
            <a:r>
              <a:rPr lang="nl-NL" dirty="0" err="1" smtClean="0"/>
              <a:t>provisional</a:t>
            </a:r>
            <a:r>
              <a:rPr lang="nl-NL" dirty="0" smtClean="0"/>
              <a:t> </a:t>
            </a:r>
            <a:r>
              <a:rPr lang="nl-NL" dirty="0"/>
              <a:t>dashboard </a:t>
            </a:r>
            <a:r>
              <a:rPr lang="nl-NL" dirty="0" smtClean="0"/>
              <a:t>(1)</a:t>
            </a:r>
            <a:endParaRPr lang="nl-NL" dirty="0"/>
          </a:p>
        </p:txBody>
      </p:sp>
      <p:sp>
        <p:nvSpPr>
          <p:cNvPr id="4" name="Tijdelijke aanduiding voor voettekst 3"/>
          <p:cNvSpPr>
            <a:spLocks noGrp="1"/>
          </p:cNvSpPr>
          <p:nvPr>
            <p:ph type="ftr" sz="quarter" idx="10"/>
          </p:nvPr>
        </p:nvSpPr>
        <p:spPr>
          <a:xfrm>
            <a:off x="384174" y="6303963"/>
            <a:ext cx="7644209" cy="290512"/>
          </a:xfrm>
        </p:spPr>
        <p:txBody>
          <a:bodyPr/>
          <a:lstStyle/>
          <a:p>
            <a:pPr>
              <a:defRPr/>
            </a:pPr>
            <a:r>
              <a:rPr lang="nl-NL" dirty="0" smtClean="0"/>
              <a:t>Dashboard </a:t>
            </a:r>
            <a:r>
              <a:rPr lang="nl-NL" dirty="0" err="1" smtClean="0"/>
              <a:t>overview</a:t>
            </a:r>
            <a:r>
              <a:rPr lang="nl-NL" dirty="0" smtClean="0"/>
              <a:t>  </a:t>
            </a:r>
            <a:r>
              <a:rPr lang="nl-NL" i="1" dirty="0" smtClean="0"/>
              <a:t>(red </a:t>
            </a:r>
            <a:r>
              <a:rPr lang="nl-NL" i="1" dirty="0" err="1" smtClean="0"/>
              <a:t>circles</a:t>
            </a:r>
            <a:r>
              <a:rPr lang="nl-NL" i="1" dirty="0" smtClean="0"/>
              <a:t> </a:t>
            </a:r>
            <a:r>
              <a:rPr lang="nl-NL" i="1" dirty="0" err="1" smtClean="0"/>
              <a:t>for</a:t>
            </a:r>
            <a:r>
              <a:rPr lang="nl-NL" i="1" dirty="0" smtClean="0"/>
              <a:t> </a:t>
            </a:r>
            <a:r>
              <a:rPr lang="nl-NL" i="1" dirty="0" err="1" smtClean="0"/>
              <a:t>those</a:t>
            </a:r>
            <a:r>
              <a:rPr lang="nl-NL" i="1" dirty="0" smtClean="0"/>
              <a:t> </a:t>
            </a:r>
            <a:r>
              <a:rPr lang="nl-NL" i="1" dirty="0" err="1" smtClean="0"/>
              <a:t>KPI’s</a:t>
            </a:r>
            <a:r>
              <a:rPr lang="nl-NL" i="1" dirty="0" smtClean="0"/>
              <a:t> </a:t>
            </a:r>
            <a:r>
              <a:rPr lang="nl-NL" i="1" dirty="0" err="1" smtClean="0"/>
              <a:t>that</a:t>
            </a:r>
            <a:r>
              <a:rPr lang="nl-NL" i="1" dirty="0" smtClean="0"/>
              <a:t> are </a:t>
            </a:r>
            <a:r>
              <a:rPr lang="nl-NL" i="1" dirty="0" err="1" smtClean="0"/>
              <a:t>based</a:t>
            </a:r>
            <a:r>
              <a:rPr lang="nl-NL" i="1" dirty="0" smtClean="0"/>
              <a:t> on </a:t>
            </a:r>
            <a:r>
              <a:rPr lang="nl-NL" i="1" dirty="0" err="1" smtClean="0"/>
              <a:t>usabilla</a:t>
            </a:r>
            <a:r>
              <a:rPr lang="nl-NL" i="1" dirty="0" smtClean="0"/>
              <a:t> data)</a:t>
            </a:r>
            <a:endParaRPr lang="nl-NL" i="1" dirty="0"/>
          </a:p>
        </p:txBody>
      </p:sp>
      <p:sp>
        <p:nvSpPr>
          <p:cNvPr id="5" name="Tijdelijke aanduiding voor dianummer 4"/>
          <p:cNvSpPr>
            <a:spLocks noGrp="1"/>
          </p:cNvSpPr>
          <p:nvPr>
            <p:ph type="sldNum" sz="quarter" idx="11"/>
          </p:nvPr>
        </p:nvSpPr>
        <p:spPr/>
        <p:txBody>
          <a:bodyPr/>
          <a:lstStyle/>
          <a:p>
            <a:pPr>
              <a:defRPr/>
            </a:pPr>
            <a:fld id="{3CA17A52-F1B4-4AF3-97D3-B08D712522A9}" type="slidenum">
              <a:rPr lang="nl-NL" smtClean="0"/>
              <a:pPr>
                <a:defRPr/>
              </a:pPr>
              <a:t>8</a:t>
            </a:fld>
            <a:endParaRPr lang="nl-NL"/>
          </a:p>
        </p:txBody>
      </p:sp>
      <p:sp>
        <p:nvSpPr>
          <p:cNvPr id="7" name="Ovaal 6"/>
          <p:cNvSpPr/>
          <p:nvPr/>
        </p:nvSpPr>
        <p:spPr>
          <a:xfrm>
            <a:off x="-44244" y="3501008"/>
            <a:ext cx="1800200" cy="1224136"/>
          </a:xfrm>
          <a:prstGeom prst="ellipse">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Ovaal 8"/>
          <p:cNvSpPr/>
          <p:nvPr/>
        </p:nvSpPr>
        <p:spPr>
          <a:xfrm>
            <a:off x="5872201" y="4653136"/>
            <a:ext cx="1800200" cy="1224136"/>
          </a:xfrm>
          <a:prstGeom prst="ellipse">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140160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Screenshot </a:t>
            </a:r>
            <a:r>
              <a:rPr lang="nl-NL" dirty="0" err="1" smtClean="0"/>
              <a:t>provisional</a:t>
            </a:r>
            <a:r>
              <a:rPr lang="nl-NL" dirty="0" smtClean="0"/>
              <a:t> </a:t>
            </a:r>
            <a:r>
              <a:rPr lang="nl-NL" dirty="0"/>
              <a:t>dashboard </a:t>
            </a:r>
            <a:r>
              <a:rPr lang="nl-NL" dirty="0" smtClean="0"/>
              <a:t>(2)</a:t>
            </a:r>
            <a:endParaRPr lang="nl-NL" dirty="0"/>
          </a:p>
        </p:txBody>
      </p:sp>
      <p:sp>
        <p:nvSpPr>
          <p:cNvPr id="4" name="Tijdelijke aanduiding voor voettekst 3"/>
          <p:cNvSpPr>
            <a:spLocks noGrp="1"/>
          </p:cNvSpPr>
          <p:nvPr>
            <p:ph type="ftr" sz="quarter" idx="10"/>
          </p:nvPr>
        </p:nvSpPr>
        <p:spPr/>
        <p:txBody>
          <a:bodyPr/>
          <a:lstStyle/>
          <a:p>
            <a:pPr>
              <a:defRPr/>
            </a:pPr>
            <a:r>
              <a:rPr lang="nl-NL" dirty="0" smtClean="0"/>
              <a:t>‘</a:t>
            </a:r>
            <a:r>
              <a:rPr lang="nl-NL" dirty="0" err="1" smtClean="0"/>
              <a:t>Downdrill</a:t>
            </a:r>
            <a:r>
              <a:rPr lang="nl-NL" dirty="0" smtClean="0"/>
              <a:t>’ on TCR</a:t>
            </a:r>
            <a:endParaRPr lang="nl-NL" dirty="0"/>
          </a:p>
        </p:txBody>
      </p:sp>
      <p:sp>
        <p:nvSpPr>
          <p:cNvPr id="5" name="Tijdelijke aanduiding voor dianummer 4"/>
          <p:cNvSpPr>
            <a:spLocks noGrp="1"/>
          </p:cNvSpPr>
          <p:nvPr>
            <p:ph type="sldNum" sz="quarter" idx="11"/>
          </p:nvPr>
        </p:nvSpPr>
        <p:spPr/>
        <p:txBody>
          <a:bodyPr/>
          <a:lstStyle/>
          <a:p>
            <a:pPr>
              <a:defRPr/>
            </a:pPr>
            <a:fld id="{3CA17A52-F1B4-4AF3-97D3-B08D712522A9}" type="slidenum">
              <a:rPr lang="nl-NL" smtClean="0"/>
              <a:pPr>
                <a:defRPr/>
              </a:pPr>
              <a:t>9</a:t>
            </a:fld>
            <a:endParaRPr lang="nl-NL"/>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19" y="1532961"/>
            <a:ext cx="9236601" cy="41795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25111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smtClean="0"/>
              <a:t>Screenshot </a:t>
            </a:r>
            <a:r>
              <a:rPr lang="nl-NL" dirty="0" err="1" smtClean="0"/>
              <a:t>provisional</a:t>
            </a:r>
            <a:r>
              <a:rPr lang="nl-NL" dirty="0" smtClean="0"/>
              <a:t> dashboard (3)</a:t>
            </a:r>
            <a:endParaRPr lang="nl-NL" dirty="0"/>
          </a:p>
        </p:txBody>
      </p:sp>
      <p:sp>
        <p:nvSpPr>
          <p:cNvPr id="4" name="Tijdelijke aanduiding voor voettekst 3"/>
          <p:cNvSpPr>
            <a:spLocks noGrp="1"/>
          </p:cNvSpPr>
          <p:nvPr>
            <p:ph type="ftr" sz="quarter" idx="10"/>
          </p:nvPr>
        </p:nvSpPr>
        <p:spPr/>
        <p:txBody>
          <a:bodyPr/>
          <a:lstStyle/>
          <a:p>
            <a:pPr>
              <a:defRPr/>
            </a:pPr>
            <a:r>
              <a:rPr lang="nl-NL" dirty="0"/>
              <a:t>‘</a:t>
            </a:r>
            <a:r>
              <a:rPr lang="nl-NL" dirty="0" err="1"/>
              <a:t>Downdrill</a:t>
            </a:r>
            <a:r>
              <a:rPr lang="nl-NL" dirty="0"/>
              <a:t>’ </a:t>
            </a:r>
            <a:r>
              <a:rPr lang="nl-NL" dirty="0" smtClean="0"/>
              <a:t>on KTV</a:t>
            </a:r>
            <a:endParaRPr lang="nl-NL" dirty="0"/>
          </a:p>
        </p:txBody>
      </p:sp>
      <p:sp>
        <p:nvSpPr>
          <p:cNvPr id="5" name="Tijdelijke aanduiding voor dianummer 4"/>
          <p:cNvSpPr>
            <a:spLocks noGrp="1"/>
          </p:cNvSpPr>
          <p:nvPr>
            <p:ph type="sldNum" sz="quarter" idx="11"/>
          </p:nvPr>
        </p:nvSpPr>
        <p:spPr/>
        <p:txBody>
          <a:bodyPr/>
          <a:lstStyle/>
          <a:p>
            <a:pPr>
              <a:defRPr/>
            </a:pPr>
            <a:fld id="{3CA17A52-F1B4-4AF3-97D3-B08D712522A9}" type="slidenum">
              <a:rPr lang="nl-NL" smtClean="0"/>
              <a:pPr>
                <a:defRPr/>
              </a:pPr>
              <a:t>10</a:t>
            </a:fld>
            <a:endParaRPr lang="nl-NL"/>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519" y="1457251"/>
            <a:ext cx="9361040" cy="45640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8625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z="2000" dirty="0"/>
              <a:t>Making </a:t>
            </a:r>
            <a:r>
              <a:rPr lang="nl-NL" sz="2000" dirty="0" smtClean="0"/>
              <a:t>UWV </a:t>
            </a:r>
            <a:r>
              <a:rPr lang="nl-NL" sz="2000" dirty="0" err="1"/>
              <a:t>visuals</a:t>
            </a:r>
            <a:r>
              <a:rPr lang="nl-NL" sz="2000" dirty="0"/>
              <a:t> ‘</a:t>
            </a:r>
            <a:r>
              <a:rPr lang="nl-NL" sz="2000" dirty="0" err="1"/>
              <a:t>ergonomic</a:t>
            </a:r>
            <a:r>
              <a:rPr lang="nl-NL" sz="2000" dirty="0" smtClean="0"/>
              <a:t>’ </a:t>
            </a:r>
            <a:r>
              <a:rPr lang="nl-NL" sz="2000" i="1" dirty="0" err="1"/>
              <a:t>r</a:t>
            </a:r>
            <a:r>
              <a:rPr lang="nl-NL" sz="2000" i="1" dirty="0" err="1" smtClean="0"/>
              <a:t>ecap</a:t>
            </a:r>
            <a:endParaRPr lang="nl-NL" sz="2000" i="1" dirty="0"/>
          </a:p>
        </p:txBody>
      </p:sp>
      <p:sp>
        <p:nvSpPr>
          <p:cNvPr id="4" name="Tijdelijke aanduiding voor voettekst 3"/>
          <p:cNvSpPr>
            <a:spLocks noGrp="1"/>
          </p:cNvSpPr>
          <p:nvPr>
            <p:ph type="ftr" sz="quarter" idx="10"/>
          </p:nvPr>
        </p:nvSpPr>
        <p:spPr>
          <a:xfrm>
            <a:off x="384175" y="6296302"/>
            <a:ext cx="5607050" cy="290512"/>
          </a:xfrm>
        </p:spPr>
        <p:txBody>
          <a:bodyPr/>
          <a:lstStyle/>
          <a:p>
            <a:r>
              <a:rPr lang="nl-NL" dirty="0">
                <a:latin typeface="Verdana" pitchFamily="34" charset="0"/>
                <a:ea typeface="Verdana" pitchFamily="34" charset="0"/>
                <a:cs typeface="Verdana" pitchFamily="34" charset="0"/>
              </a:rPr>
              <a:t>Presentation </a:t>
            </a:r>
            <a:r>
              <a:rPr lang="nl-NL" dirty="0" err="1">
                <a:latin typeface="Verdana" pitchFamily="34" charset="0"/>
                <a:ea typeface="Verdana" pitchFamily="34" charset="0"/>
                <a:cs typeface="Verdana" pitchFamily="34" charset="0"/>
              </a:rPr>
              <a:t>for</a:t>
            </a:r>
            <a:r>
              <a:rPr lang="nl-NL" dirty="0">
                <a:latin typeface="Verdana" pitchFamily="34" charset="0"/>
                <a:ea typeface="Verdana" pitchFamily="34" charset="0"/>
                <a:cs typeface="Verdana" pitchFamily="34" charset="0"/>
              </a:rPr>
              <a:t> Usabilla360  ‘data-</a:t>
            </a:r>
            <a:r>
              <a:rPr lang="nl-NL" dirty="0" err="1">
                <a:latin typeface="Verdana" pitchFamily="34" charset="0"/>
                <a:ea typeface="Verdana" pitchFamily="34" charset="0"/>
                <a:cs typeface="Verdana" pitchFamily="34" charset="0"/>
              </a:rPr>
              <a:t>visualization</a:t>
            </a:r>
            <a:r>
              <a:rPr lang="nl-NL" dirty="0">
                <a:latin typeface="Verdana" pitchFamily="34" charset="0"/>
                <a:ea typeface="Verdana" pitchFamily="34" charset="0"/>
                <a:cs typeface="Verdana" pitchFamily="34" charset="0"/>
              </a:rPr>
              <a:t>’</a:t>
            </a:r>
          </a:p>
        </p:txBody>
      </p:sp>
      <p:sp>
        <p:nvSpPr>
          <p:cNvPr id="5" name="Tijdelijke aanduiding voor dianummer 4"/>
          <p:cNvSpPr>
            <a:spLocks noGrp="1"/>
          </p:cNvSpPr>
          <p:nvPr>
            <p:ph type="sldNum" sz="quarter" idx="11"/>
          </p:nvPr>
        </p:nvSpPr>
        <p:spPr/>
        <p:txBody>
          <a:bodyPr/>
          <a:lstStyle/>
          <a:p>
            <a:pPr>
              <a:defRPr/>
            </a:pPr>
            <a:fld id="{3CA17A52-F1B4-4AF3-97D3-B08D712522A9}" type="slidenum">
              <a:rPr lang="nl-NL" smtClean="0"/>
              <a:pPr>
                <a:defRPr/>
              </a:pPr>
              <a:t>11</a:t>
            </a:fld>
            <a:endParaRPr lang="nl-NL"/>
          </a:p>
        </p:txBody>
      </p:sp>
      <p:sp>
        <p:nvSpPr>
          <p:cNvPr id="6" name="Tekstvak 5"/>
          <p:cNvSpPr txBox="1"/>
          <p:nvPr/>
        </p:nvSpPr>
        <p:spPr>
          <a:xfrm>
            <a:off x="467544" y="1628799"/>
            <a:ext cx="7716217" cy="2862322"/>
          </a:xfrm>
          <a:prstGeom prst="rect">
            <a:avLst/>
          </a:prstGeom>
          <a:noFill/>
        </p:spPr>
        <p:txBody>
          <a:bodyPr wrap="square" rtlCol="0">
            <a:spAutoFit/>
          </a:bodyPr>
          <a:lstStyle/>
          <a:p>
            <a:pPr lvl="0"/>
            <a:r>
              <a:rPr lang="en-US" dirty="0" smtClean="0"/>
              <a:t>Ergonomic data-visualization, recap</a:t>
            </a:r>
            <a:br>
              <a:rPr lang="en-US" dirty="0" smtClean="0"/>
            </a:br>
            <a:endParaRPr lang="en-US" i="1" dirty="0" smtClean="0"/>
          </a:p>
          <a:p>
            <a:pPr marL="285750" lvl="0" indent="-285750">
              <a:buFontTx/>
              <a:buChar char="-"/>
            </a:pPr>
            <a:r>
              <a:rPr lang="en-US" i="1" dirty="0" smtClean="0"/>
              <a:t>Color</a:t>
            </a:r>
          </a:p>
          <a:p>
            <a:pPr marL="285750" lvl="0" indent="-285750">
              <a:buFontTx/>
              <a:buChar char="-"/>
            </a:pPr>
            <a:r>
              <a:rPr lang="en-US" i="1" dirty="0" smtClean="0"/>
              <a:t>Data-ink ratio</a:t>
            </a:r>
          </a:p>
          <a:p>
            <a:pPr marL="285750" lvl="0" indent="-285750">
              <a:buFontTx/>
              <a:buChar char="-"/>
            </a:pPr>
            <a:r>
              <a:rPr lang="en-US" i="1" dirty="0" smtClean="0"/>
              <a:t>Location &amp; reading direction</a:t>
            </a:r>
          </a:p>
          <a:p>
            <a:pPr lvl="0"/>
            <a:r>
              <a:rPr lang="en-US" i="1" dirty="0" smtClean="0"/>
              <a:t>-   Choosing the right form (table/chart </a:t>
            </a:r>
            <a:r>
              <a:rPr lang="en-US" i="1" dirty="0" err="1" smtClean="0"/>
              <a:t>etc</a:t>
            </a:r>
            <a:r>
              <a:rPr lang="en-US" i="1" dirty="0" smtClean="0"/>
              <a:t>)</a:t>
            </a:r>
            <a:br>
              <a:rPr lang="en-US" i="1" dirty="0" smtClean="0"/>
            </a:br>
            <a:r>
              <a:rPr lang="en-US" i="1" dirty="0" smtClean="0"/>
              <a:t> </a:t>
            </a:r>
            <a:endParaRPr lang="en-US" i="1" dirty="0"/>
          </a:p>
          <a:p>
            <a:r>
              <a:rPr lang="en-US" i="1" dirty="0" smtClean="0"/>
              <a:t>                                                                </a:t>
            </a:r>
            <a:r>
              <a:rPr lang="en-US" sz="1400" i="1" dirty="0" smtClean="0"/>
              <a:t>Recommended </a:t>
            </a:r>
            <a:r>
              <a:rPr lang="en-US" sz="1400" i="1" dirty="0"/>
              <a:t>literature: </a:t>
            </a:r>
            <a:r>
              <a:rPr lang="en-US" sz="1400" i="1" dirty="0" err="1"/>
              <a:t>stephen</a:t>
            </a:r>
            <a:r>
              <a:rPr lang="en-US" sz="1400" i="1" dirty="0"/>
              <a:t> few</a:t>
            </a:r>
          </a:p>
          <a:p>
            <a:pPr lvl="0"/>
            <a:endParaRPr lang="en-US" i="1" dirty="0" smtClean="0"/>
          </a:p>
          <a:p>
            <a:pPr lvl="0"/>
            <a:endParaRPr lang="en-US" i="1" dirty="0"/>
          </a:p>
        </p:txBody>
      </p:sp>
    </p:spTree>
    <p:extLst>
      <p:ext uri="{BB962C8B-B14F-4D97-AF65-F5344CB8AC3E}">
        <p14:creationId xmlns:p14="http://schemas.microsoft.com/office/powerpoint/2010/main" val="3864428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lvl="0"/>
            <a:r>
              <a:rPr lang="en-US" sz="2000" dirty="0"/>
              <a:t>What is the purpose of your analysis and visualization?</a:t>
            </a:r>
          </a:p>
        </p:txBody>
      </p:sp>
      <p:sp>
        <p:nvSpPr>
          <p:cNvPr id="4" name="Tijdelijke aanduiding voor voettekst 3"/>
          <p:cNvSpPr>
            <a:spLocks noGrp="1"/>
          </p:cNvSpPr>
          <p:nvPr>
            <p:ph type="ftr" sz="quarter" idx="10"/>
          </p:nvPr>
        </p:nvSpPr>
        <p:spPr/>
        <p:txBody>
          <a:bodyPr/>
          <a:lstStyle/>
          <a:p>
            <a:r>
              <a:rPr lang="nl-NL" dirty="0">
                <a:latin typeface="Verdana" pitchFamily="34" charset="0"/>
                <a:ea typeface="Verdana" pitchFamily="34" charset="0"/>
                <a:cs typeface="Verdana" pitchFamily="34" charset="0"/>
              </a:rPr>
              <a:t>Presentation </a:t>
            </a:r>
            <a:r>
              <a:rPr lang="nl-NL" dirty="0" err="1">
                <a:latin typeface="Verdana" pitchFamily="34" charset="0"/>
                <a:ea typeface="Verdana" pitchFamily="34" charset="0"/>
                <a:cs typeface="Verdana" pitchFamily="34" charset="0"/>
              </a:rPr>
              <a:t>for</a:t>
            </a:r>
            <a:r>
              <a:rPr lang="nl-NL" dirty="0">
                <a:latin typeface="Verdana" pitchFamily="34" charset="0"/>
                <a:ea typeface="Verdana" pitchFamily="34" charset="0"/>
                <a:cs typeface="Verdana" pitchFamily="34" charset="0"/>
              </a:rPr>
              <a:t> Usabilla360  ‘data-</a:t>
            </a:r>
            <a:r>
              <a:rPr lang="nl-NL" dirty="0" err="1">
                <a:latin typeface="Verdana" pitchFamily="34" charset="0"/>
                <a:ea typeface="Verdana" pitchFamily="34" charset="0"/>
                <a:cs typeface="Verdana" pitchFamily="34" charset="0"/>
              </a:rPr>
              <a:t>visualization</a:t>
            </a:r>
            <a:r>
              <a:rPr lang="nl-NL" dirty="0">
                <a:latin typeface="Verdana" pitchFamily="34" charset="0"/>
                <a:ea typeface="Verdana" pitchFamily="34" charset="0"/>
                <a:cs typeface="Verdana" pitchFamily="34" charset="0"/>
              </a:rPr>
              <a:t>’</a:t>
            </a:r>
          </a:p>
        </p:txBody>
      </p:sp>
      <p:sp>
        <p:nvSpPr>
          <p:cNvPr id="5" name="Tijdelijke aanduiding voor dianummer 4"/>
          <p:cNvSpPr>
            <a:spLocks noGrp="1"/>
          </p:cNvSpPr>
          <p:nvPr>
            <p:ph type="sldNum" sz="quarter" idx="11"/>
          </p:nvPr>
        </p:nvSpPr>
        <p:spPr/>
        <p:txBody>
          <a:bodyPr/>
          <a:lstStyle/>
          <a:p>
            <a:pPr>
              <a:defRPr/>
            </a:pPr>
            <a:fld id="{3CA17A52-F1B4-4AF3-97D3-B08D712522A9}" type="slidenum">
              <a:rPr lang="nl-NL" smtClean="0"/>
              <a:pPr>
                <a:defRPr/>
              </a:pPr>
              <a:t>12</a:t>
            </a:fld>
            <a:endParaRPr lang="nl-NL"/>
          </a:p>
        </p:txBody>
      </p:sp>
      <p:sp>
        <p:nvSpPr>
          <p:cNvPr id="6" name="Tekstvak 5"/>
          <p:cNvSpPr txBox="1"/>
          <p:nvPr/>
        </p:nvSpPr>
        <p:spPr>
          <a:xfrm>
            <a:off x="467544" y="1628798"/>
            <a:ext cx="7716217" cy="2031325"/>
          </a:xfrm>
          <a:prstGeom prst="rect">
            <a:avLst/>
          </a:prstGeom>
          <a:noFill/>
        </p:spPr>
        <p:txBody>
          <a:bodyPr wrap="square" rtlCol="0">
            <a:spAutoFit/>
          </a:bodyPr>
          <a:lstStyle/>
          <a:p>
            <a:pPr lvl="0"/>
            <a:r>
              <a:rPr lang="en-US" dirty="0" smtClean="0"/>
              <a:t/>
            </a:r>
            <a:br>
              <a:rPr lang="en-US" dirty="0" smtClean="0"/>
            </a:br>
            <a:r>
              <a:rPr lang="en-US" i="1" dirty="0" smtClean="0"/>
              <a:t>Big picture:</a:t>
            </a:r>
            <a:br>
              <a:rPr lang="en-US" i="1" dirty="0" smtClean="0"/>
            </a:br>
            <a:r>
              <a:rPr lang="en-US" i="1" dirty="0" smtClean="0"/>
              <a:t>To transform the decision-making from intuition or opinion, to </a:t>
            </a:r>
            <a:r>
              <a:rPr lang="en-US" i="1" dirty="0"/>
              <a:t>decision-making </a:t>
            </a:r>
            <a:r>
              <a:rPr lang="en-US" i="1" dirty="0" smtClean="0"/>
              <a:t>based on actual data (among which customer feedback) by means of KPI’s.</a:t>
            </a:r>
          </a:p>
          <a:p>
            <a:pPr lvl="0"/>
            <a:r>
              <a:rPr lang="en-US" i="1" dirty="0" smtClean="0"/>
              <a:t/>
            </a:r>
            <a:br>
              <a:rPr lang="en-US" i="1" dirty="0" smtClean="0"/>
            </a:br>
            <a:endParaRPr lang="en-US" i="1" dirty="0"/>
          </a:p>
        </p:txBody>
      </p:sp>
      <p:sp>
        <p:nvSpPr>
          <p:cNvPr id="3" name="Tekstvak 2"/>
          <p:cNvSpPr txBox="1"/>
          <p:nvPr/>
        </p:nvSpPr>
        <p:spPr>
          <a:xfrm>
            <a:off x="467544" y="3573016"/>
            <a:ext cx="7632848" cy="1200329"/>
          </a:xfrm>
          <a:prstGeom prst="rect">
            <a:avLst/>
          </a:prstGeom>
          <a:noFill/>
        </p:spPr>
        <p:txBody>
          <a:bodyPr wrap="square" rtlCol="0">
            <a:spAutoFit/>
          </a:bodyPr>
          <a:lstStyle/>
          <a:p>
            <a:pPr lvl="0"/>
            <a:r>
              <a:rPr lang="en-US" i="1" dirty="0"/>
              <a:t>For now:</a:t>
            </a:r>
            <a:br>
              <a:rPr lang="en-US" i="1" dirty="0"/>
            </a:br>
            <a:r>
              <a:rPr lang="en-US" i="1" dirty="0"/>
              <a:t>Visualization –if done right- can make data more inviting and so help employees accept and use it as guiding information for decision-making.</a:t>
            </a:r>
          </a:p>
          <a:p>
            <a:endParaRPr lang="nl-NL" dirty="0"/>
          </a:p>
        </p:txBody>
      </p:sp>
    </p:spTree>
    <p:extLst>
      <p:ext uri="{BB962C8B-B14F-4D97-AF65-F5344CB8AC3E}">
        <p14:creationId xmlns:p14="http://schemas.microsoft.com/office/powerpoint/2010/main" val="3850938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lvl="0"/>
            <a:r>
              <a:rPr lang="en-US" sz="2000" dirty="0"/>
              <a:t>For whom is the analysis or report meant</a:t>
            </a:r>
            <a:r>
              <a:rPr lang="en-US" sz="2000" dirty="0" smtClean="0"/>
              <a:t>?</a:t>
            </a:r>
            <a:endParaRPr lang="nl-NL" sz="2000" dirty="0"/>
          </a:p>
        </p:txBody>
      </p:sp>
      <p:sp>
        <p:nvSpPr>
          <p:cNvPr id="4" name="Tijdelijke aanduiding voor voettekst 3"/>
          <p:cNvSpPr>
            <a:spLocks noGrp="1"/>
          </p:cNvSpPr>
          <p:nvPr>
            <p:ph type="ftr" sz="quarter" idx="10"/>
          </p:nvPr>
        </p:nvSpPr>
        <p:spPr/>
        <p:txBody>
          <a:bodyPr/>
          <a:lstStyle/>
          <a:p>
            <a:r>
              <a:rPr lang="nl-NL" dirty="0">
                <a:latin typeface="Verdana" pitchFamily="34" charset="0"/>
                <a:ea typeface="Verdana" pitchFamily="34" charset="0"/>
                <a:cs typeface="Verdana" pitchFamily="34" charset="0"/>
              </a:rPr>
              <a:t>Presentation </a:t>
            </a:r>
            <a:r>
              <a:rPr lang="nl-NL" dirty="0" err="1">
                <a:latin typeface="Verdana" pitchFamily="34" charset="0"/>
                <a:ea typeface="Verdana" pitchFamily="34" charset="0"/>
                <a:cs typeface="Verdana" pitchFamily="34" charset="0"/>
              </a:rPr>
              <a:t>for</a:t>
            </a:r>
            <a:r>
              <a:rPr lang="nl-NL" dirty="0">
                <a:latin typeface="Verdana" pitchFamily="34" charset="0"/>
                <a:ea typeface="Verdana" pitchFamily="34" charset="0"/>
                <a:cs typeface="Verdana" pitchFamily="34" charset="0"/>
              </a:rPr>
              <a:t> Usabilla360  ‘data-</a:t>
            </a:r>
            <a:r>
              <a:rPr lang="nl-NL" dirty="0" err="1">
                <a:latin typeface="Verdana" pitchFamily="34" charset="0"/>
                <a:ea typeface="Verdana" pitchFamily="34" charset="0"/>
                <a:cs typeface="Verdana" pitchFamily="34" charset="0"/>
              </a:rPr>
              <a:t>visualization</a:t>
            </a:r>
            <a:r>
              <a:rPr lang="nl-NL" dirty="0">
                <a:latin typeface="Verdana" pitchFamily="34" charset="0"/>
                <a:ea typeface="Verdana" pitchFamily="34" charset="0"/>
                <a:cs typeface="Verdana" pitchFamily="34" charset="0"/>
              </a:rPr>
              <a:t>’</a:t>
            </a:r>
          </a:p>
        </p:txBody>
      </p:sp>
      <p:sp>
        <p:nvSpPr>
          <p:cNvPr id="5" name="Tijdelijke aanduiding voor dianummer 4"/>
          <p:cNvSpPr>
            <a:spLocks noGrp="1"/>
          </p:cNvSpPr>
          <p:nvPr>
            <p:ph type="sldNum" sz="quarter" idx="11"/>
          </p:nvPr>
        </p:nvSpPr>
        <p:spPr/>
        <p:txBody>
          <a:bodyPr/>
          <a:lstStyle/>
          <a:p>
            <a:pPr>
              <a:defRPr/>
            </a:pPr>
            <a:fld id="{3CA17A52-F1B4-4AF3-97D3-B08D712522A9}" type="slidenum">
              <a:rPr lang="nl-NL" smtClean="0"/>
              <a:pPr>
                <a:defRPr/>
              </a:pPr>
              <a:t>13</a:t>
            </a:fld>
            <a:endParaRPr lang="nl-NL"/>
          </a:p>
        </p:txBody>
      </p:sp>
      <p:sp>
        <p:nvSpPr>
          <p:cNvPr id="6" name="Tekstvak 5"/>
          <p:cNvSpPr txBox="1"/>
          <p:nvPr/>
        </p:nvSpPr>
        <p:spPr>
          <a:xfrm>
            <a:off x="467544" y="1628799"/>
            <a:ext cx="7716217" cy="2862322"/>
          </a:xfrm>
          <a:prstGeom prst="rect">
            <a:avLst/>
          </a:prstGeom>
          <a:noFill/>
        </p:spPr>
        <p:txBody>
          <a:bodyPr wrap="square" rtlCol="0">
            <a:spAutoFit/>
          </a:bodyPr>
          <a:lstStyle/>
          <a:p>
            <a:pPr lvl="0"/>
            <a:r>
              <a:rPr lang="en-US" dirty="0"/>
              <a:t> </a:t>
            </a:r>
            <a:endParaRPr lang="nl-NL" dirty="0"/>
          </a:p>
          <a:p>
            <a:pPr lvl="0"/>
            <a:r>
              <a:rPr lang="en-US" dirty="0"/>
              <a:t/>
            </a:r>
            <a:br>
              <a:rPr lang="en-US" dirty="0"/>
            </a:br>
            <a:r>
              <a:rPr lang="en-US" i="1" dirty="0" smtClean="0"/>
              <a:t>For now pretty much all levels. </a:t>
            </a:r>
            <a:br>
              <a:rPr lang="en-US" i="1" dirty="0" smtClean="0"/>
            </a:br>
            <a:r>
              <a:rPr lang="en-US" i="1" dirty="0" smtClean="0"/>
              <a:t>We have started creating one base KPI Dashboard and plan on implementing filters that can easily be activated by users to select segments that match their interests.</a:t>
            </a:r>
            <a:br>
              <a:rPr lang="en-US" i="1" dirty="0" smtClean="0"/>
            </a:br>
            <a:r>
              <a:rPr lang="en-US" sz="1600" i="1" dirty="0" smtClean="0">
                <a:solidFill>
                  <a:schemeClr val="tx1">
                    <a:lumMod val="75000"/>
                    <a:lumOff val="25000"/>
                  </a:schemeClr>
                </a:solidFill>
              </a:rPr>
              <a:t>(Because of the size of UWV we believe it will be better not to have different base dashboards to keep it more maintainable and controllable)</a:t>
            </a:r>
            <a:r>
              <a:rPr lang="en-US" dirty="0" smtClean="0"/>
              <a:t/>
            </a:r>
            <a:br>
              <a:rPr lang="en-US" dirty="0" smtClean="0"/>
            </a:br>
            <a:r>
              <a:rPr lang="en-US" dirty="0" smtClean="0"/>
              <a:t/>
            </a:r>
            <a:br>
              <a:rPr lang="en-US" dirty="0" smtClean="0"/>
            </a:br>
            <a:r>
              <a:rPr lang="en-US" dirty="0" smtClean="0"/>
              <a:t> </a:t>
            </a:r>
            <a:endParaRPr lang="nl-NL" dirty="0"/>
          </a:p>
        </p:txBody>
      </p:sp>
    </p:spTree>
    <p:extLst>
      <p:ext uri="{BB962C8B-B14F-4D97-AF65-F5344CB8AC3E}">
        <p14:creationId xmlns:p14="http://schemas.microsoft.com/office/powerpoint/2010/main" val="1186406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lvl="0"/>
            <a:r>
              <a:rPr lang="en-US" sz="2000" dirty="0"/>
              <a:t>What is done with the analysis or report?</a:t>
            </a:r>
          </a:p>
        </p:txBody>
      </p:sp>
      <p:sp>
        <p:nvSpPr>
          <p:cNvPr id="4" name="Tijdelijke aanduiding voor voettekst 3"/>
          <p:cNvSpPr>
            <a:spLocks noGrp="1"/>
          </p:cNvSpPr>
          <p:nvPr>
            <p:ph type="ftr" sz="quarter" idx="10"/>
          </p:nvPr>
        </p:nvSpPr>
        <p:spPr/>
        <p:txBody>
          <a:bodyPr/>
          <a:lstStyle/>
          <a:p>
            <a:r>
              <a:rPr lang="nl-NL" dirty="0">
                <a:latin typeface="Verdana" pitchFamily="34" charset="0"/>
                <a:ea typeface="Verdana" pitchFamily="34" charset="0"/>
                <a:cs typeface="Verdana" pitchFamily="34" charset="0"/>
              </a:rPr>
              <a:t>Presentation </a:t>
            </a:r>
            <a:r>
              <a:rPr lang="nl-NL" dirty="0" err="1">
                <a:latin typeface="Verdana" pitchFamily="34" charset="0"/>
                <a:ea typeface="Verdana" pitchFamily="34" charset="0"/>
                <a:cs typeface="Verdana" pitchFamily="34" charset="0"/>
              </a:rPr>
              <a:t>for</a:t>
            </a:r>
            <a:r>
              <a:rPr lang="nl-NL" dirty="0">
                <a:latin typeface="Verdana" pitchFamily="34" charset="0"/>
                <a:ea typeface="Verdana" pitchFamily="34" charset="0"/>
                <a:cs typeface="Verdana" pitchFamily="34" charset="0"/>
              </a:rPr>
              <a:t> Usabilla360  ‘data-</a:t>
            </a:r>
            <a:r>
              <a:rPr lang="nl-NL" dirty="0" err="1">
                <a:latin typeface="Verdana" pitchFamily="34" charset="0"/>
                <a:ea typeface="Verdana" pitchFamily="34" charset="0"/>
                <a:cs typeface="Verdana" pitchFamily="34" charset="0"/>
              </a:rPr>
              <a:t>visualization</a:t>
            </a:r>
            <a:r>
              <a:rPr lang="nl-NL" dirty="0">
                <a:latin typeface="Verdana" pitchFamily="34" charset="0"/>
                <a:ea typeface="Verdana" pitchFamily="34" charset="0"/>
                <a:cs typeface="Verdana" pitchFamily="34" charset="0"/>
              </a:rPr>
              <a:t>’</a:t>
            </a:r>
          </a:p>
        </p:txBody>
      </p:sp>
      <p:sp>
        <p:nvSpPr>
          <p:cNvPr id="5" name="Tijdelijke aanduiding voor dianummer 4"/>
          <p:cNvSpPr>
            <a:spLocks noGrp="1"/>
          </p:cNvSpPr>
          <p:nvPr>
            <p:ph type="sldNum" sz="quarter" idx="11"/>
          </p:nvPr>
        </p:nvSpPr>
        <p:spPr/>
        <p:txBody>
          <a:bodyPr/>
          <a:lstStyle/>
          <a:p>
            <a:pPr>
              <a:defRPr/>
            </a:pPr>
            <a:fld id="{3CA17A52-F1B4-4AF3-97D3-B08D712522A9}" type="slidenum">
              <a:rPr lang="nl-NL" smtClean="0"/>
              <a:pPr>
                <a:defRPr/>
              </a:pPr>
              <a:t>14</a:t>
            </a:fld>
            <a:endParaRPr lang="nl-NL"/>
          </a:p>
        </p:txBody>
      </p:sp>
      <p:sp>
        <p:nvSpPr>
          <p:cNvPr id="6" name="Tekstvak 5"/>
          <p:cNvSpPr txBox="1"/>
          <p:nvPr/>
        </p:nvSpPr>
        <p:spPr>
          <a:xfrm>
            <a:off x="467544" y="1628799"/>
            <a:ext cx="7716217" cy="3416320"/>
          </a:xfrm>
          <a:prstGeom prst="rect">
            <a:avLst/>
          </a:prstGeom>
          <a:noFill/>
        </p:spPr>
        <p:txBody>
          <a:bodyPr wrap="square" rtlCol="0">
            <a:spAutoFit/>
          </a:bodyPr>
          <a:lstStyle/>
          <a:p>
            <a:pPr lvl="0"/>
            <a:r>
              <a:rPr lang="en-US" dirty="0"/>
              <a:t> </a:t>
            </a:r>
            <a:endParaRPr lang="nl-NL" dirty="0"/>
          </a:p>
          <a:p>
            <a:pPr lvl="0"/>
            <a:endParaRPr lang="en-US" dirty="0" smtClean="0"/>
          </a:p>
          <a:p>
            <a:pPr lvl="0"/>
            <a:r>
              <a:rPr lang="en-US" i="1" dirty="0" smtClean="0"/>
              <a:t>By getting management involved when forming the ‘business goals’ that would lead to the KPI’s we tried to make sure the KPI’s would be in management’s view compatible with their informal short cycle performance evaluation of e.g. parts of a customer journey but also of employee and division performance and their decision-making.</a:t>
            </a:r>
            <a:br>
              <a:rPr lang="en-US" i="1" dirty="0" smtClean="0"/>
            </a:br>
            <a:r>
              <a:rPr lang="en-US" i="1" dirty="0" smtClean="0"/>
              <a:t/>
            </a:r>
            <a:br>
              <a:rPr lang="en-US" i="1" dirty="0" smtClean="0"/>
            </a:br>
            <a:r>
              <a:rPr lang="en-US" i="1" dirty="0" smtClean="0"/>
              <a:t>For now the provisionary KPI dashboard is presented to management on a monthly basis. It is difficult to say exactly how this is being used.</a:t>
            </a:r>
            <a:br>
              <a:rPr lang="en-US" i="1" dirty="0" smtClean="0"/>
            </a:br>
            <a:endParaRPr lang="en-US" i="1" dirty="0" smtClean="0"/>
          </a:p>
          <a:p>
            <a:pPr lvl="0"/>
            <a:endParaRPr lang="nl-NL" dirty="0"/>
          </a:p>
        </p:txBody>
      </p:sp>
    </p:spTree>
    <p:extLst>
      <p:ext uri="{BB962C8B-B14F-4D97-AF65-F5344CB8AC3E}">
        <p14:creationId xmlns:p14="http://schemas.microsoft.com/office/powerpoint/2010/main" val="5405808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lvl="0"/>
            <a:r>
              <a:rPr lang="en-US" sz="2000" dirty="0"/>
              <a:t>What are the problems you encounter?</a:t>
            </a:r>
            <a:endParaRPr lang="nl-NL" sz="2000" dirty="0"/>
          </a:p>
        </p:txBody>
      </p:sp>
      <p:sp>
        <p:nvSpPr>
          <p:cNvPr id="4" name="Tijdelijke aanduiding voor voettekst 3"/>
          <p:cNvSpPr>
            <a:spLocks noGrp="1"/>
          </p:cNvSpPr>
          <p:nvPr>
            <p:ph type="ftr" sz="quarter" idx="10"/>
          </p:nvPr>
        </p:nvSpPr>
        <p:spPr/>
        <p:txBody>
          <a:bodyPr/>
          <a:lstStyle/>
          <a:p>
            <a:r>
              <a:rPr lang="nl-NL" dirty="0">
                <a:latin typeface="Verdana" pitchFamily="34" charset="0"/>
                <a:ea typeface="Verdana" pitchFamily="34" charset="0"/>
                <a:cs typeface="Verdana" pitchFamily="34" charset="0"/>
              </a:rPr>
              <a:t>Presentation </a:t>
            </a:r>
            <a:r>
              <a:rPr lang="nl-NL" dirty="0" err="1">
                <a:latin typeface="Verdana" pitchFamily="34" charset="0"/>
                <a:ea typeface="Verdana" pitchFamily="34" charset="0"/>
                <a:cs typeface="Verdana" pitchFamily="34" charset="0"/>
              </a:rPr>
              <a:t>for</a:t>
            </a:r>
            <a:r>
              <a:rPr lang="nl-NL" dirty="0">
                <a:latin typeface="Verdana" pitchFamily="34" charset="0"/>
                <a:ea typeface="Verdana" pitchFamily="34" charset="0"/>
                <a:cs typeface="Verdana" pitchFamily="34" charset="0"/>
              </a:rPr>
              <a:t> Usabilla360  ‘data-</a:t>
            </a:r>
            <a:r>
              <a:rPr lang="nl-NL" dirty="0" err="1">
                <a:latin typeface="Verdana" pitchFamily="34" charset="0"/>
                <a:ea typeface="Verdana" pitchFamily="34" charset="0"/>
                <a:cs typeface="Verdana" pitchFamily="34" charset="0"/>
              </a:rPr>
              <a:t>visualization</a:t>
            </a:r>
            <a:r>
              <a:rPr lang="nl-NL" dirty="0">
                <a:latin typeface="Verdana" pitchFamily="34" charset="0"/>
                <a:ea typeface="Verdana" pitchFamily="34" charset="0"/>
                <a:cs typeface="Verdana" pitchFamily="34" charset="0"/>
              </a:rPr>
              <a:t>’</a:t>
            </a:r>
          </a:p>
        </p:txBody>
      </p:sp>
      <p:sp>
        <p:nvSpPr>
          <p:cNvPr id="5" name="Tijdelijke aanduiding voor dianummer 4"/>
          <p:cNvSpPr>
            <a:spLocks noGrp="1"/>
          </p:cNvSpPr>
          <p:nvPr>
            <p:ph type="sldNum" sz="quarter" idx="11"/>
          </p:nvPr>
        </p:nvSpPr>
        <p:spPr/>
        <p:txBody>
          <a:bodyPr/>
          <a:lstStyle/>
          <a:p>
            <a:pPr>
              <a:defRPr/>
            </a:pPr>
            <a:fld id="{3CA17A52-F1B4-4AF3-97D3-B08D712522A9}" type="slidenum">
              <a:rPr lang="nl-NL" smtClean="0"/>
              <a:pPr>
                <a:defRPr/>
              </a:pPr>
              <a:t>15</a:t>
            </a:fld>
            <a:endParaRPr lang="nl-NL"/>
          </a:p>
        </p:txBody>
      </p:sp>
      <p:sp>
        <p:nvSpPr>
          <p:cNvPr id="6" name="Tekstvak 5"/>
          <p:cNvSpPr txBox="1"/>
          <p:nvPr/>
        </p:nvSpPr>
        <p:spPr>
          <a:xfrm>
            <a:off x="452975" y="1628799"/>
            <a:ext cx="7716217" cy="3693319"/>
          </a:xfrm>
          <a:prstGeom prst="rect">
            <a:avLst/>
          </a:prstGeom>
          <a:noFill/>
        </p:spPr>
        <p:txBody>
          <a:bodyPr wrap="square" rtlCol="0">
            <a:spAutoFit/>
          </a:bodyPr>
          <a:lstStyle/>
          <a:p>
            <a:pPr lvl="0"/>
            <a:endParaRPr lang="en-US" dirty="0" smtClean="0"/>
          </a:p>
          <a:p>
            <a:pPr lvl="0"/>
            <a:endParaRPr lang="en-US" dirty="0"/>
          </a:p>
          <a:p>
            <a:pPr marL="285750" lvl="0" indent="-285750">
              <a:buFontTx/>
              <a:buChar char="-"/>
            </a:pPr>
            <a:r>
              <a:rPr lang="en-US" i="1" dirty="0" smtClean="0"/>
              <a:t>Software acquirement</a:t>
            </a:r>
          </a:p>
          <a:p>
            <a:pPr marL="285750" lvl="0" indent="-285750">
              <a:buFontTx/>
              <a:buChar char="-"/>
            </a:pPr>
            <a:r>
              <a:rPr lang="en-US" i="1" dirty="0" smtClean="0"/>
              <a:t>Technical (combining data sources)</a:t>
            </a:r>
          </a:p>
          <a:p>
            <a:pPr marL="285750" indent="-285750">
              <a:buFontTx/>
              <a:buChar char="-"/>
            </a:pPr>
            <a:r>
              <a:rPr lang="en-US" i="1" dirty="0" smtClean="0"/>
              <a:t>Privacy/legal (</a:t>
            </a:r>
            <a:r>
              <a:rPr lang="en-US" i="1" dirty="0"/>
              <a:t>combining data sources</a:t>
            </a:r>
            <a:r>
              <a:rPr lang="en-US" i="1" dirty="0" smtClean="0"/>
              <a:t>)</a:t>
            </a:r>
          </a:p>
          <a:p>
            <a:pPr marL="285750" indent="-285750">
              <a:buFontTx/>
              <a:buChar char="-"/>
            </a:pPr>
            <a:r>
              <a:rPr lang="en-US" i="1" dirty="0" smtClean="0"/>
              <a:t>Analytical (reducing complexity to a single scale (</a:t>
            </a:r>
            <a:r>
              <a:rPr lang="en-US" i="1" dirty="0" err="1" smtClean="0"/>
              <a:t>kpi</a:t>
            </a:r>
            <a:r>
              <a:rPr lang="en-US" i="1" dirty="0" smtClean="0"/>
              <a:t>) not always easy)</a:t>
            </a:r>
          </a:p>
          <a:p>
            <a:pPr marL="285750" indent="-285750">
              <a:buFontTx/>
              <a:buChar char="-"/>
            </a:pPr>
            <a:r>
              <a:rPr lang="en-US" i="1" dirty="0" smtClean="0"/>
              <a:t>Workload</a:t>
            </a:r>
          </a:p>
          <a:p>
            <a:pPr marL="285750" indent="-285750">
              <a:buFontTx/>
              <a:buChar char="-"/>
            </a:pPr>
            <a:r>
              <a:rPr lang="en-US" i="1" dirty="0" smtClean="0"/>
              <a:t>Different levels of understanding throughout the organization</a:t>
            </a:r>
            <a:endParaRPr lang="en-US" i="1" dirty="0"/>
          </a:p>
          <a:p>
            <a:pPr marL="285750" lvl="0" indent="-285750">
              <a:buFontTx/>
              <a:buChar char="-"/>
            </a:pPr>
            <a:endParaRPr lang="en-US" dirty="0" smtClean="0"/>
          </a:p>
          <a:p>
            <a:pPr marL="285750" lvl="0" indent="-285750">
              <a:buFontTx/>
              <a:buChar char="-"/>
            </a:pPr>
            <a:endParaRPr lang="en-US" dirty="0"/>
          </a:p>
          <a:p>
            <a:pPr marL="285750" lvl="0" indent="-285750">
              <a:buFontTx/>
              <a:buChar char="-"/>
            </a:pPr>
            <a:endParaRPr lang="en-US" dirty="0" smtClean="0"/>
          </a:p>
          <a:p>
            <a:pPr lvl="0"/>
            <a:r>
              <a:rPr lang="en-US" dirty="0" smtClean="0"/>
              <a:t>                                                                </a:t>
            </a:r>
          </a:p>
          <a:p>
            <a:pPr lvl="0"/>
            <a:endParaRPr lang="nl-NL" dirty="0"/>
          </a:p>
        </p:txBody>
      </p:sp>
    </p:spTree>
    <p:extLst>
      <p:ext uri="{BB962C8B-B14F-4D97-AF65-F5344CB8AC3E}">
        <p14:creationId xmlns:p14="http://schemas.microsoft.com/office/powerpoint/2010/main" val="3645358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lvl="0"/>
            <a:r>
              <a:rPr lang="en-US" sz="2000" dirty="0" smtClean="0"/>
              <a:t>Questions?</a:t>
            </a:r>
            <a:endParaRPr lang="nl-NL" sz="2000" dirty="0"/>
          </a:p>
        </p:txBody>
      </p:sp>
      <p:sp>
        <p:nvSpPr>
          <p:cNvPr id="4" name="Tijdelijke aanduiding voor voettekst 3"/>
          <p:cNvSpPr>
            <a:spLocks noGrp="1"/>
          </p:cNvSpPr>
          <p:nvPr>
            <p:ph type="ftr" sz="quarter" idx="10"/>
          </p:nvPr>
        </p:nvSpPr>
        <p:spPr/>
        <p:txBody>
          <a:bodyPr/>
          <a:lstStyle/>
          <a:p>
            <a:r>
              <a:rPr lang="nl-NL" dirty="0">
                <a:latin typeface="Verdana" pitchFamily="34" charset="0"/>
                <a:ea typeface="Verdana" pitchFamily="34" charset="0"/>
                <a:cs typeface="Verdana" pitchFamily="34" charset="0"/>
              </a:rPr>
              <a:t>Presentation </a:t>
            </a:r>
            <a:r>
              <a:rPr lang="nl-NL" dirty="0" err="1">
                <a:latin typeface="Verdana" pitchFamily="34" charset="0"/>
                <a:ea typeface="Verdana" pitchFamily="34" charset="0"/>
                <a:cs typeface="Verdana" pitchFamily="34" charset="0"/>
              </a:rPr>
              <a:t>for</a:t>
            </a:r>
            <a:r>
              <a:rPr lang="nl-NL" dirty="0">
                <a:latin typeface="Verdana" pitchFamily="34" charset="0"/>
                <a:ea typeface="Verdana" pitchFamily="34" charset="0"/>
                <a:cs typeface="Verdana" pitchFamily="34" charset="0"/>
              </a:rPr>
              <a:t> Usabilla360  ‘data-</a:t>
            </a:r>
            <a:r>
              <a:rPr lang="nl-NL" dirty="0" err="1">
                <a:latin typeface="Verdana" pitchFamily="34" charset="0"/>
                <a:ea typeface="Verdana" pitchFamily="34" charset="0"/>
                <a:cs typeface="Verdana" pitchFamily="34" charset="0"/>
              </a:rPr>
              <a:t>visualization</a:t>
            </a:r>
            <a:r>
              <a:rPr lang="nl-NL" dirty="0">
                <a:latin typeface="Verdana" pitchFamily="34" charset="0"/>
                <a:ea typeface="Verdana" pitchFamily="34" charset="0"/>
                <a:cs typeface="Verdana" pitchFamily="34" charset="0"/>
              </a:rPr>
              <a:t>’</a:t>
            </a:r>
          </a:p>
        </p:txBody>
      </p:sp>
      <p:sp>
        <p:nvSpPr>
          <p:cNvPr id="5" name="Tijdelijke aanduiding voor dianummer 4"/>
          <p:cNvSpPr>
            <a:spLocks noGrp="1"/>
          </p:cNvSpPr>
          <p:nvPr>
            <p:ph type="sldNum" sz="quarter" idx="11"/>
          </p:nvPr>
        </p:nvSpPr>
        <p:spPr/>
        <p:txBody>
          <a:bodyPr/>
          <a:lstStyle/>
          <a:p>
            <a:pPr>
              <a:defRPr/>
            </a:pPr>
            <a:fld id="{3CA17A52-F1B4-4AF3-97D3-B08D712522A9}" type="slidenum">
              <a:rPr lang="nl-NL" smtClean="0"/>
              <a:pPr>
                <a:defRPr/>
              </a:pPr>
              <a:t>16</a:t>
            </a:fld>
            <a:endParaRPr lang="nl-NL"/>
          </a:p>
        </p:txBody>
      </p:sp>
      <p:sp>
        <p:nvSpPr>
          <p:cNvPr id="6" name="Tekstvak 5"/>
          <p:cNvSpPr txBox="1"/>
          <p:nvPr/>
        </p:nvSpPr>
        <p:spPr>
          <a:xfrm>
            <a:off x="3131840" y="2780928"/>
            <a:ext cx="2516088" cy="2031325"/>
          </a:xfrm>
          <a:prstGeom prst="rect">
            <a:avLst/>
          </a:prstGeom>
          <a:noFill/>
        </p:spPr>
        <p:txBody>
          <a:bodyPr wrap="square" rtlCol="0">
            <a:spAutoFit/>
          </a:bodyPr>
          <a:lstStyle/>
          <a:p>
            <a:pPr lvl="0"/>
            <a:endParaRPr lang="en-US" dirty="0" smtClean="0"/>
          </a:p>
          <a:p>
            <a:pPr lvl="0"/>
            <a:r>
              <a:rPr lang="en-US" i="1" dirty="0" smtClean="0"/>
              <a:t>Questions? </a:t>
            </a:r>
            <a:endParaRPr lang="en-US" i="1" dirty="0"/>
          </a:p>
          <a:p>
            <a:pPr marL="285750" lvl="0" indent="-285750">
              <a:buFontTx/>
              <a:buChar char="-"/>
            </a:pPr>
            <a:endParaRPr lang="en-US" dirty="0" smtClean="0"/>
          </a:p>
          <a:p>
            <a:pPr marL="285750" lvl="0" indent="-285750">
              <a:buFontTx/>
              <a:buChar char="-"/>
            </a:pPr>
            <a:endParaRPr lang="en-US" dirty="0"/>
          </a:p>
          <a:p>
            <a:pPr marL="285750" lvl="0" indent="-285750">
              <a:buFontTx/>
              <a:buChar char="-"/>
            </a:pPr>
            <a:endParaRPr lang="en-US" dirty="0" smtClean="0"/>
          </a:p>
          <a:p>
            <a:pPr lvl="0"/>
            <a:r>
              <a:rPr lang="en-US" dirty="0" smtClean="0"/>
              <a:t>                                                                </a:t>
            </a:r>
          </a:p>
          <a:p>
            <a:pPr lvl="0"/>
            <a:endParaRPr lang="nl-NL" dirty="0"/>
          </a:p>
        </p:txBody>
      </p:sp>
    </p:spTree>
    <p:extLst>
      <p:ext uri="{BB962C8B-B14F-4D97-AF65-F5344CB8AC3E}">
        <p14:creationId xmlns:p14="http://schemas.microsoft.com/office/powerpoint/2010/main" val="73452491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GUID" val="58df1b78-7009-4cc2-8764-720e74dc4828"/>
</p:tagLst>
</file>

<file path=ppt/theme/theme1.xml><?xml version="1.0" encoding="utf-8"?>
<a:theme xmlns:a="http://schemas.openxmlformats.org/drawingml/2006/main" name="Presentatie 2014-04-14">
  <a:themeElements>
    <a:clrScheme name="">
      <a:dk1>
        <a:srgbClr val="231F20"/>
      </a:dk1>
      <a:lt1>
        <a:srgbClr val="F5F5F9"/>
      </a:lt1>
      <a:dk2>
        <a:srgbClr val="FF6600"/>
      </a:dk2>
      <a:lt2>
        <a:srgbClr val="0092CF"/>
      </a:lt2>
      <a:accent1>
        <a:srgbClr val="000078"/>
      </a:accent1>
      <a:accent2>
        <a:srgbClr val="0099FF"/>
      </a:accent2>
      <a:accent3>
        <a:srgbClr val="F9F9FB"/>
      </a:accent3>
      <a:accent4>
        <a:srgbClr val="1C191A"/>
      </a:accent4>
      <a:accent5>
        <a:srgbClr val="AAAABE"/>
      </a:accent5>
      <a:accent6>
        <a:srgbClr val="008AE7"/>
      </a:accent6>
      <a:hlink>
        <a:srgbClr val="3300CC"/>
      </a:hlink>
      <a:folHlink>
        <a:srgbClr val="CCFF00"/>
      </a:folHlink>
    </a:clrScheme>
    <a:fontScheme name="Office-thema">
      <a:majorFont>
        <a:latin typeface="Verdana"/>
        <a:ea typeface=""/>
        <a:cs typeface=""/>
      </a:majorFont>
      <a:minorFont>
        <a:latin typeface="Verdana"/>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them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them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them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them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them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them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thema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them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them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them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them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them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ffice-thema 13">
        <a:dk1>
          <a:srgbClr val="000000"/>
        </a:dk1>
        <a:lt1>
          <a:srgbClr val="F5F5F9"/>
        </a:lt1>
        <a:dk2>
          <a:srgbClr val="F36F21"/>
        </a:dk2>
        <a:lt2>
          <a:srgbClr val="0092CF"/>
        </a:lt2>
        <a:accent1>
          <a:srgbClr val="002A5C"/>
        </a:accent1>
        <a:accent2>
          <a:srgbClr val="0092CF"/>
        </a:accent2>
        <a:accent3>
          <a:srgbClr val="F9F9FB"/>
        </a:accent3>
        <a:accent4>
          <a:srgbClr val="000000"/>
        </a:accent4>
        <a:accent5>
          <a:srgbClr val="AAACB5"/>
        </a:accent5>
        <a:accent6>
          <a:srgbClr val="0084BB"/>
        </a:accent6>
        <a:hlink>
          <a:srgbClr val="0054A4"/>
        </a:hlink>
        <a:folHlink>
          <a:srgbClr val="C1D82F"/>
        </a:folHlink>
      </a:clrScheme>
      <a:clrMap bg1="lt1" tx1="dk1" bg2="lt2" tx2="dk2" accent1="accent1" accent2="accent2" accent3="accent3" accent4="accent4" accent5="accent5" accent6="accent6" hlink="hlink" folHlink="folHlink"/>
    </a:extraClrScheme>
    <a:extraClrScheme>
      <a:clrScheme name="Office-thema 14">
        <a:dk1>
          <a:srgbClr val="231F20"/>
        </a:dk1>
        <a:lt1>
          <a:srgbClr val="F5F5F9"/>
        </a:lt1>
        <a:dk2>
          <a:srgbClr val="F36F21"/>
        </a:dk2>
        <a:lt2>
          <a:srgbClr val="0092CF"/>
        </a:lt2>
        <a:accent1>
          <a:srgbClr val="002A5C"/>
        </a:accent1>
        <a:accent2>
          <a:srgbClr val="0092CF"/>
        </a:accent2>
        <a:accent3>
          <a:srgbClr val="F9F9FB"/>
        </a:accent3>
        <a:accent4>
          <a:srgbClr val="1C191A"/>
        </a:accent4>
        <a:accent5>
          <a:srgbClr val="AAACB5"/>
        </a:accent5>
        <a:accent6>
          <a:srgbClr val="0084BB"/>
        </a:accent6>
        <a:hlink>
          <a:srgbClr val="0054A4"/>
        </a:hlink>
        <a:folHlink>
          <a:srgbClr val="C1D82F"/>
        </a:folHlink>
      </a:clrScheme>
      <a:clrMap bg1="lt1" tx1="dk1" bg2="lt2" tx2="dk2" accent1="accent1" accent2="accent2" accent3="accent3" accent4="accent4" accent5="accent5" accent6="accent6" hlink="hlink" folHlink="folHlink"/>
    </a:extraClrScheme>
    <a:extraClrScheme>
      <a:clrScheme name="Office-thema 15">
        <a:dk1>
          <a:srgbClr val="231F20"/>
        </a:dk1>
        <a:lt1>
          <a:srgbClr val="F5F5F9"/>
        </a:lt1>
        <a:dk2>
          <a:srgbClr val="F36F21"/>
        </a:dk2>
        <a:lt2>
          <a:srgbClr val="0092CF"/>
        </a:lt2>
        <a:accent1>
          <a:srgbClr val="000066"/>
        </a:accent1>
        <a:accent2>
          <a:srgbClr val="0092CF"/>
        </a:accent2>
        <a:accent3>
          <a:srgbClr val="F9F9FB"/>
        </a:accent3>
        <a:accent4>
          <a:srgbClr val="1C191A"/>
        </a:accent4>
        <a:accent5>
          <a:srgbClr val="AAAAB8"/>
        </a:accent5>
        <a:accent6>
          <a:srgbClr val="0084BB"/>
        </a:accent6>
        <a:hlink>
          <a:srgbClr val="0054A4"/>
        </a:hlink>
        <a:folHlink>
          <a:srgbClr val="C1D82F"/>
        </a:folHlink>
      </a:clrScheme>
      <a:clrMap bg1="lt1" tx1="dk1" bg2="lt2" tx2="dk2" accent1="accent1" accent2="accent2" accent3="accent3" accent4="accent4" accent5="accent5" accent6="accent6" hlink="hlink" folHlink="folHlink"/>
    </a:extraClrScheme>
    <a:extraClrScheme>
      <a:clrScheme name="Office-thema 16">
        <a:dk1>
          <a:srgbClr val="231F20"/>
        </a:dk1>
        <a:lt1>
          <a:srgbClr val="F5F5F9"/>
        </a:lt1>
        <a:dk2>
          <a:srgbClr val="FF6600"/>
        </a:dk2>
        <a:lt2>
          <a:srgbClr val="0092CF"/>
        </a:lt2>
        <a:accent1>
          <a:srgbClr val="000066"/>
        </a:accent1>
        <a:accent2>
          <a:srgbClr val="0099FF"/>
        </a:accent2>
        <a:accent3>
          <a:srgbClr val="F9F9FB"/>
        </a:accent3>
        <a:accent4>
          <a:srgbClr val="1C191A"/>
        </a:accent4>
        <a:accent5>
          <a:srgbClr val="AAAAB8"/>
        </a:accent5>
        <a:accent6>
          <a:srgbClr val="008AE7"/>
        </a:accent6>
        <a:hlink>
          <a:srgbClr val="3300CC"/>
        </a:hlink>
        <a:folHlink>
          <a:srgbClr val="CCFF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th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h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26F56CC1E636A49B186D91F43445F71" ma:contentTypeVersion="0" ma:contentTypeDescription="Een nieuw document maken." ma:contentTypeScope="" ma:versionID="800f4bee82b9f04aac30d77dbf1e5cda">
  <xsd:schema xmlns:xsd="http://www.w3.org/2001/XMLSchema" xmlns:p="http://schemas.microsoft.com/office/2006/metadata/properties" targetNamespace="http://schemas.microsoft.com/office/2006/metadata/properties" ma:root="true" ma:fieldsID="b118b0825d757084c8d1e1ffd33f200c">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ma:readOnly="tru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15F17986-ED4E-4DA4-8DE8-3175A9E803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B3BC6989-B8A4-4E01-9E9C-5EE967E5EEB9}">
  <ds:schemaRefs>
    <ds:schemaRef ds:uri="http://schemas.microsoft.com/sharepoint/v3/contenttype/forms"/>
  </ds:schemaRefs>
</ds:datastoreItem>
</file>

<file path=customXml/itemProps3.xml><?xml version="1.0" encoding="utf-8"?>
<ds:datastoreItem xmlns:ds="http://schemas.openxmlformats.org/officeDocument/2006/customXml" ds:itemID="{BE0093B4-B083-48F1-ACF2-20C2C7D2EC6B}">
  <ds:schemaRefs>
    <ds:schemaRef ds:uri="http://schemas.microsoft.com/office/2006/documentManagement/types"/>
    <ds:schemaRef ds:uri="http://schemas.microsoft.com/office/2006/metadata/properties"/>
    <ds:schemaRef ds:uri="http://schemas.openxmlformats.org/package/2006/metadata/core-properties"/>
    <ds:schemaRef ds:uri="http://purl.org/dc/terms/"/>
    <ds:schemaRef ds:uri="http://purl.org/dc/elements/1.1/"/>
    <ds:schemaRef ds:uri="http://purl.org/dc/dcmityp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Presentatie 2014-04-14</Template>
  <TotalTime>1596</TotalTime>
  <Words>463</Words>
  <Application>Microsoft Office PowerPoint</Application>
  <PresentationFormat>Diavoorstelling (4:3)</PresentationFormat>
  <Paragraphs>98</Paragraphs>
  <Slides>16</Slides>
  <Notes>0</Notes>
  <HiddenSlides>0</HiddenSlides>
  <MMClips>0</MMClips>
  <ScaleCrop>false</ScaleCrop>
  <HeadingPairs>
    <vt:vector size="4" baseType="variant">
      <vt:variant>
        <vt:lpstr>Thema</vt:lpstr>
      </vt:variant>
      <vt:variant>
        <vt:i4>1</vt:i4>
      </vt:variant>
      <vt:variant>
        <vt:lpstr>Diatitels</vt:lpstr>
      </vt:variant>
      <vt:variant>
        <vt:i4>16</vt:i4>
      </vt:variant>
    </vt:vector>
  </HeadingPairs>
  <TitlesOfParts>
    <vt:vector size="17" baseType="lpstr">
      <vt:lpstr>Presentatie 2014-04-14</vt:lpstr>
      <vt:lpstr>PowerPoint-presentatie</vt:lpstr>
      <vt:lpstr>(Usabilla) Data Visualization at UWV</vt:lpstr>
      <vt:lpstr>What data do you analyze?</vt:lpstr>
      <vt:lpstr>Making UWV visuals ‘ergonomic’</vt:lpstr>
      <vt:lpstr>What we didn’t want (old visuals)</vt:lpstr>
      <vt:lpstr>Screenshot report (excel)</vt:lpstr>
      <vt:lpstr>Screenshot report (excel, 2)</vt:lpstr>
      <vt:lpstr>Screenshot provisional dashboard (1)</vt:lpstr>
      <vt:lpstr>Screenshot provisional dashboard (2)</vt:lpstr>
      <vt:lpstr>Screenshot provisional dashboard (3)</vt:lpstr>
      <vt:lpstr>Making UWV visuals ‘ergonomic’ recap</vt:lpstr>
      <vt:lpstr>What is the purpose of your analysis and visualization?</vt:lpstr>
      <vt:lpstr>For whom is the analysis or report meant?</vt:lpstr>
      <vt:lpstr>What is done with the analysis or report?</vt:lpstr>
      <vt:lpstr>What are the problems you encounter?</vt:lpstr>
      <vt:lpstr>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 1</dc:title>
  <dc:creator>andré Louwerse</dc:creator>
  <cp:lastModifiedBy>Peutz, Steven (S.B.)</cp:lastModifiedBy>
  <cp:revision>115</cp:revision>
  <dcterms:created xsi:type="dcterms:W3CDTF">2014-04-09T17:35:51Z</dcterms:created>
  <dcterms:modified xsi:type="dcterms:W3CDTF">2017-01-10T16:38:54Z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0x010100D26F56CC1E636A49B186D91F43445F71</vt:lpwstr>
  </property>
</Properties>
</file>